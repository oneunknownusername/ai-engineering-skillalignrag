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1"/>
  </p:notesMasterIdLst>
  <p:sldIdLst>
    <p:sldId id="257" r:id="rId2"/>
    <p:sldId id="264" r:id="rId3"/>
    <p:sldId id="258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</p:sldIdLst>
  <p:sldSz cx="18288000" cy="10287000"/>
  <p:notesSz cx="6858000" cy="9144000"/>
  <p:embeddedFontLst>
    <p:embeddedFont>
      <p:font typeface="Cascadia Code" panose="020B0609020000020004" pitchFamily="49" charset="0"/>
      <p:regular r:id="rId62"/>
      <p:bold r:id="rId63"/>
      <p:italic r:id="rId64"/>
      <p:boldItalic r:id="rId65"/>
    </p:embeddedFont>
    <p:embeddedFont>
      <p:font typeface="Codec Pro" panose="020B0604020202020204" charset="0"/>
      <p:regular r:id="rId66"/>
    </p:embeddedFont>
    <p:embeddedFont>
      <p:font typeface="Codec Pro Bold" panose="020B0604020202020204" charset="0"/>
      <p:regular r:id="rId67"/>
    </p:embeddedFont>
    <p:embeddedFont>
      <p:font typeface="Codec Pro Ultra-Bold" panose="020B0604020202020204" charset="0"/>
      <p:regular r:id="rId68"/>
    </p:embeddedFont>
    <p:embeddedFont>
      <p:font typeface="Exo 2 Bold" panose="020B0604020202020204" charset="0"/>
      <p:regular r:id="rId69"/>
    </p:embeddedFont>
    <p:embeddedFont>
      <p:font typeface="HK Modular" panose="020B0604020202020204" charset="0"/>
      <p:regular r:id="rId70"/>
    </p:embeddedFont>
    <p:embeddedFont>
      <p:font typeface="Montserrat" panose="00000500000000000000" pitchFamily="2" charset="0"/>
      <p:regular r:id="rId71"/>
      <p:bold r:id="rId72"/>
      <p:italic r:id="rId73"/>
      <p:boldItalic r:id="rId74"/>
    </p:embeddedFont>
    <p:embeddedFont>
      <p:font typeface="Narkisim" panose="020E0502050101010101" pitchFamily="34" charset="-79"/>
      <p:regular r:id="rId75"/>
    </p:embeddedFont>
    <p:embeddedFont>
      <p:font typeface="Open Sans Bold" panose="020B0806030504020204" pitchFamily="34" charset="0"/>
      <p:regular r:id="rId76"/>
      <p:bold r:id="rId77"/>
    </p:embeddedFont>
    <p:embeddedFont>
      <p:font typeface="Organic" charset="0"/>
      <p:regular r:id="rId78"/>
    </p:embeddedFont>
    <p:embeddedFont>
      <p:font typeface="Pattanakarn SemiCondensed Bold" panose="020B0604020202020204" charset="-34"/>
      <p:regular r:id="rId79"/>
    </p:embeddedFont>
    <p:embeddedFont>
      <p:font typeface="Poppins" panose="00000500000000000000" pitchFamily="2" charset="0"/>
      <p:regular r:id="rId80"/>
      <p:bold r:id="rId81"/>
      <p:italic r:id="rId82"/>
      <p:boldItalic r:id="rId83"/>
    </p:embeddedFont>
    <p:embeddedFont>
      <p:font typeface="Poppins Bold" panose="00000800000000000000" pitchFamily="2" charset="0"/>
      <p:regular r:id="rId84"/>
      <p:bold r:id="rId85"/>
    </p:embeddedFont>
    <p:embeddedFont>
      <p:font typeface="Tomorrow" panose="020B0604020202020204" charset="0"/>
      <p:regular r:id="rId8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835" autoAdjust="0"/>
  </p:normalViewPr>
  <p:slideViewPr>
    <p:cSldViewPr>
      <p:cViewPr varScale="1">
        <p:scale>
          <a:sx n="64" d="100"/>
          <a:sy n="64" d="100"/>
        </p:scale>
        <p:origin x="11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font" Target="fonts/font23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font" Target="fonts/font22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Relationship Id="rId87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82" Type="http://schemas.openxmlformats.org/officeDocument/2006/relationships/font" Target="fonts/font2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B9B97-8A25-49F2-8AC8-2AC95B9C0042}" type="datetimeFigureOut">
              <a:rPr lang="en-MY" smtClean="0"/>
              <a:t>20/8/2025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BAC45-E16F-49BB-98B3-75F8F285A3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577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Maqasid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Syariah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boleh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difahami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</a:p>
          <a:p>
            <a:pPr fontAlgn="ctr"/>
            <a:endParaRPr lang="en-MY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Syariat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Mengetahui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sebalik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setiap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syarak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Hikmah di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sebalik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kenapa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sesuatu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ditetapkan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Kemaslahatan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Mencari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kebaikan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manfaat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masyarakat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pelaksanaan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syarak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BAC45-E16F-49BB-98B3-75F8F285A3FC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3877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1. Tiada </a:t>
            </a:r>
            <a:r>
              <a:rPr lang="en-MY" b="1" dirty="0" err="1"/>
              <a:t>empati</a:t>
            </a:r>
            <a:endParaRPr lang="en-MY" dirty="0"/>
          </a:p>
          <a:p>
            <a:r>
              <a:rPr lang="en-MY" dirty="0"/>
              <a:t>Chatbot </a:t>
            </a:r>
            <a:r>
              <a:rPr lang="en-MY" dirty="0" err="1"/>
              <a:t>tidak</a:t>
            </a:r>
            <a:r>
              <a:rPr lang="en-MY" dirty="0"/>
              <a:t> </a:t>
            </a:r>
            <a:r>
              <a:rPr lang="en-MY" dirty="0" err="1"/>
              <a:t>mempunyai</a:t>
            </a:r>
            <a:r>
              <a:rPr lang="en-MY" dirty="0"/>
              <a:t> </a:t>
            </a:r>
            <a:r>
              <a:rPr lang="en-MY" dirty="0" err="1"/>
              <a:t>emosi</a:t>
            </a:r>
            <a:r>
              <a:rPr lang="en-MY" dirty="0"/>
              <a:t> </a:t>
            </a:r>
            <a:r>
              <a:rPr lang="en-MY" dirty="0" err="1"/>
              <a:t>sebenar</a:t>
            </a:r>
            <a:r>
              <a:rPr lang="en-MY" dirty="0"/>
              <a:t>, </a:t>
            </a:r>
            <a:r>
              <a:rPr lang="en-MY" dirty="0" err="1"/>
              <a:t>hanya</a:t>
            </a:r>
            <a:r>
              <a:rPr lang="en-MY" dirty="0"/>
              <a:t> </a:t>
            </a:r>
            <a:r>
              <a:rPr lang="en-MY" dirty="0" err="1"/>
              <a:t>meniru</a:t>
            </a:r>
            <a:r>
              <a:rPr lang="en-MY" dirty="0"/>
              <a:t> </a:t>
            </a:r>
            <a:r>
              <a:rPr lang="en-MY" dirty="0" err="1"/>
              <a:t>bahasa</a:t>
            </a:r>
            <a:r>
              <a:rPr lang="en-MY" dirty="0"/>
              <a:t> </a:t>
            </a:r>
            <a:r>
              <a:rPr lang="en-MY" dirty="0" err="1"/>
              <a:t>empati</a:t>
            </a:r>
            <a:r>
              <a:rPr lang="en-MY" dirty="0"/>
              <a:t>.</a:t>
            </a:r>
          </a:p>
          <a:p>
            <a:r>
              <a:rPr lang="en-MY" dirty="0"/>
              <a:t>Dalam </a:t>
            </a:r>
            <a:r>
              <a:rPr lang="en-MY" dirty="0" err="1"/>
              <a:t>situasi</a:t>
            </a:r>
            <a:r>
              <a:rPr lang="en-MY" dirty="0"/>
              <a:t> </a:t>
            </a:r>
            <a:r>
              <a:rPr lang="en-MY" dirty="0" err="1"/>
              <a:t>krisis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keinginan</a:t>
            </a:r>
            <a:r>
              <a:rPr lang="en-MY" dirty="0"/>
              <a:t> </a:t>
            </a:r>
            <a:r>
              <a:rPr lang="en-MY" dirty="0" err="1"/>
              <a:t>bunuh</a:t>
            </a:r>
            <a:r>
              <a:rPr lang="en-MY" dirty="0"/>
              <a:t> </a:t>
            </a:r>
            <a:r>
              <a:rPr lang="en-MY" dirty="0" err="1"/>
              <a:t>diri</a:t>
            </a:r>
            <a:r>
              <a:rPr lang="en-MY" dirty="0"/>
              <a:t>, </a:t>
            </a:r>
            <a:r>
              <a:rPr lang="en-MY" dirty="0" err="1"/>
              <a:t>empati</a:t>
            </a:r>
            <a:r>
              <a:rPr lang="en-MY" dirty="0"/>
              <a:t> </a:t>
            </a:r>
            <a:r>
              <a:rPr lang="en-MY" dirty="0" err="1"/>
              <a:t>manusia</a:t>
            </a:r>
            <a:r>
              <a:rPr lang="en-MY" dirty="0"/>
              <a:t> sangat </a:t>
            </a:r>
            <a:r>
              <a:rPr lang="en-MY" dirty="0" err="1"/>
              <a:t>penting</a:t>
            </a:r>
            <a:r>
              <a:rPr lang="en-MY" dirty="0"/>
              <a:t> — AI </a:t>
            </a:r>
            <a:r>
              <a:rPr lang="en-MY" dirty="0" err="1"/>
              <a:t>mungkin</a:t>
            </a:r>
            <a:r>
              <a:rPr lang="en-MY" dirty="0"/>
              <a:t> </a:t>
            </a:r>
            <a:r>
              <a:rPr lang="en-MY" dirty="0" err="1"/>
              <a:t>gagal</a:t>
            </a:r>
            <a:r>
              <a:rPr lang="en-MY" dirty="0"/>
              <a:t> </a:t>
            </a:r>
            <a:r>
              <a:rPr lang="en-MY" dirty="0" err="1"/>
              <a:t>membaca</a:t>
            </a:r>
            <a:r>
              <a:rPr lang="en-MY" dirty="0"/>
              <a:t> </a:t>
            </a:r>
            <a:r>
              <a:rPr lang="en-MY" i="1" dirty="0"/>
              <a:t>nuance</a:t>
            </a:r>
            <a:r>
              <a:rPr lang="en-MY" dirty="0"/>
              <a:t> </a:t>
            </a:r>
            <a:r>
              <a:rPr lang="en-MY" dirty="0" err="1"/>
              <a:t>emosi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memberi</a:t>
            </a:r>
            <a:r>
              <a:rPr lang="en-MY" dirty="0"/>
              <a:t> </a:t>
            </a:r>
            <a:r>
              <a:rPr lang="en-MY" dirty="0" err="1"/>
              <a:t>respons</a:t>
            </a:r>
            <a:r>
              <a:rPr lang="en-MY" dirty="0"/>
              <a:t> yang </a:t>
            </a:r>
            <a:r>
              <a:rPr lang="en-MY" dirty="0" err="1"/>
              <a:t>sesuai</a:t>
            </a:r>
            <a:r>
              <a:rPr lang="en-MY" dirty="0"/>
              <a:t>.</a:t>
            </a:r>
          </a:p>
          <a:p>
            <a:r>
              <a:rPr lang="en-MY" dirty="0" err="1"/>
              <a:t>Contoh</a:t>
            </a:r>
            <a:r>
              <a:rPr lang="en-MY" dirty="0"/>
              <a:t>: </a:t>
            </a:r>
            <a:r>
              <a:rPr lang="en-MY" dirty="0" err="1"/>
              <a:t>Pengguna</a:t>
            </a:r>
            <a:r>
              <a:rPr lang="en-MY" dirty="0"/>
              <a:t> </a:t>
            </a:r>
            <a:r>
              <a:rPr lang="en-MY" dirty="0" err="1"/>
              <a:t>menaip</a:t>
            </a:r>
            <a:r>
              <a:rPr lang="en-MY" dirty="0"/>
              <a:t> “Saya rasa nak </a:t>
            </a:r>
            <a:r>
              <a:rPr lang="en-MY" dirty="0" err="1"/>
              <a:t>bunuh</a:t>
            </a:r>
            <a:r>
              <a:rPr lang="en-MY" dirty="0"/>
              <a:t> </a:t>
            </a:r>
            <a:r>
              <a:rPr lang="en-MY" dirty="0" err="1"/>
              <a:t>diri</a:t>
            </a:r>
            <a:r>
              <a:rPr lang="en-MY" dirty="0"/>
              <a:t>,” </a:t>
            </a:r>
            <a:r>
              <a:rPr lang="en-MY" dirty="0" err="1"/>
              <a:t>tetapi</a:t>
            </a:r>
            <a:r>
              <a:rPr lang="en-MY" dirty="0"/>
              <a:t> chatbot </a:t>
            </a:r>
            <a:r>
              <a:rPr lang="en-MY" dirty="0" err="1"/>
              <a:t>hanya</a:t>
            </a:r>
            <a:r>
              <a:rPr lang="en-MY" dirty="0"/>
              <a:t> </a:t>
            </a:r>
            <a:r>
              <a:rPr lang="en-MY" dirty="0" err="1"/>
              <a:t>membalas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</a:t>
            </a:r>
            <a:r>
              <a:rPr lang="en-MY" dirty="0" err="1"/>
              <a:t>generik</a:t>
            </a:r>
            <a:r>
              <a:rPr lang="en-MY" dirty="0"/>
              <a:t>, </a:t>
            </a:r>
            <a:r>
              <a:rPr lang="en-MY" dirty="0" err="1"/>
              <a:t>seperti</a:t>
            </a:r>
            <a:r>
              <a:rPr lang="en-MY" dirty="0"/>
              <a:t> “Itu </a:t>
            </a:r>
            <a:r>
              <a:rPr lang="en-MY" dirty="0" err="1"/>
              <a:t>keputusan</a:t>
            </a:r>
            <a:r>
              <a:rPr lang="en-MY" dirty="0"/>
              <a:t> </a:t>
            </a:r>
            <a:r>
              <a:rPr lang="en-MY" dirty="0" err="1"/>
              <a:t>anda</a:t>
            </a:r>
            <a:r>
              <a:rPr lang="en-MY" dirty="0"/>
              <a:t>,” </a:t>
            </a:r>
            <a:r>
              <a:rPr lang="en-MY" dirty="0" err="1"/>
              <a:t>atau</a:t>
            </a:r>
            <a:r>
              <a:rPr lang="en-MY" dirty="0"/>
              <a:t> “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saya</a:t>
            </a:r>
            <a:r>
              <a:rPr lang="en-MY" dirty="0"/>
              <a:t> </a:t>
            </a:r>
            <a:r>
              <a:rPr lang="en-MY" dirty="0" err="1"/>
              <a:t>bantu</a:t>
            </a:r>
            <a:r>
              <a:rPr lang="en-MY" dirty="0"/>
              <a:t> </a:t>
            </a:r>
            <a:r>
              <a:rPr lang="en-MY" dirty="0" err="1"/>
              <a:t>dengan</a:t>
            </a:r>
            <a:r>
              <a:rPr lang="en-MY" dirty="0"/>
              <a:t> tip </a:t>
            </a:r>
            <a:r>
              <a:rPr lang="en-MY" dirty="0" err="1"/>
              <a:t>tidur</a:t>
            </a:r>
            <a:r>
              <a:rPr lang="en-MY" dirty="0"/>
              <a:t> </a:t>
            </a:r>
            <a:r>
              <a:rPr lang="en-MY" dirty="0" err="1"/>
              <a:t>nyenyak</a:t>
            </a:r>
            <a:r>
              <a:rPr lang="en-MY" dirty="0"/>
              <a:t>?” — yang </a:t>
            </a:r>
            <a:r>
              <a:rPr lang="en-MY" dirty="0" err="1"/>
              <a:t>tidak</a:t>
            </a:r>
            <a:r>
              <a:rPr lang="en-MY" dirty="0"/>
              <a:t> </a:t>
            </a:r>
            <a:r>
              <a:rPr lang="en-MY" dirty="0" err="1"/>
              <a:t>relevan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sensitif</a:t>
            </a:r>
            <a:r>
              <a:rPr lang="en-MY" dirty="0"/>
              <a:t>.</a:t>
            </a:r>
          </a:p>
          <a:p>
            <a:endParaRPr lang="en-MY" dirty="0"/>
          </a:p>
          <a:p>
            <a:r>
              <a:rPr lang="en-MY" b="1" dirty="0"/>
              <a:t>2. </a:t>
            </a:r>
            <a:r>
              <a:rPr lang="en-MY" b="1" dirty="0" err="1"/>
              <a:t>Salahguna</a:t>
            </a:r>
            <a:r>
              <a:rPr lang="en-MY" b="1" dirty="0"/>
              <a:t> AI </a:t>
            </a:r>
            <a:r>
              <a:rPr lang="en-MY" b="1" dirty="0" err="1"/>
              <a:t>kesihatan</a:t>
            </a:r>
            <a:endParaRPr lang="en-MY" dirty="0"/>
          </a:p>
          <a:p>
            <a:r>
              <a:rPr lang="en-MY" dirty="0"/>
              <a:t>Chatbot </a:t>
            </a:r>
            <a:r>
              <a:rPr lang="en-MY" dirty="0" err="1"/>
              <a:t>kesihatan</a:t>
            </a:r>
            <a:r>
              <a:rPr lang="en-MY" dirty="0"/>
              <a:t> </a:t>
            </a:r>
            <a:r>
              <a:rPr lang="en-MY" dirty="0" err="1"/>
              <a:t>direka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memberi</a:t>
            </a:r>
            <a:r>
              <a:rPr lang="en-MY" dirty="0"/>
              <a:t> </a:t>
            </a:r>
            <a:r>
              <a:rPr lang="en-MY" dirty="0" err="1"/>
              <a:t>panduan</a:t>
            </a:r>
            <a:r>
              <a:rPr lang="en-MY" dirty="0"/>
              <a:t> </a:t>
            </a:r>
            <a:r>
              <a:rPr lang="en-MY" dirty="0" err="1"/>
              <a:t>umum</a:t>
            </a:r>
            <a:r>
              <a:rPr lang="en-MY" dirty="0"/>
              <a:t>, </a:t>
            </a:r>
            <a:r>
              <a:rPr lang="en-MY" dirty="0" err="1"/>
              <a:t>tetapi</a:t>
            </a:r>
            <a:r>
              <a:rPr lang="en-MY" dirty="0"/>
              <a:t> </a:t>
            </a:r>
            <a:r>
              <a:rPr lang="en-MY" dirty="0" err="1"/>
              <a:t>jika</a:t>
            </a:r>
            <a:r>
              <a:rPr lang="en-MY" dirty="0"/>
              <a:t> </a:t>
            </a:r>
            <a:r>
              <a:rPr lang="en-MY" dirty="0" err="1"/>
              <a:t>digunakan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kes</a:t>
            </a:r>
            <a:r>
              <a:rPr lang="en-MY" dirty="0"/>
              <a:t> </a:t>
            </a:r>
            <a:r>
              <a:rPr lang="en-MY" dirty="0" err="1"/>
              <a:t>kecemasan</a:t>
            </a:r>
            <a:r>
              <a:rPr lang="en-MY" dirty="0"/>
              <a:t> </a:t>
            </a:r>
            <a:r>
              <a:rPr lang="en-MY" dirty="0" err="1"/>
              <a:t>psikologi</a:t>
            </a:r>
            <a:r>
              <a:rPr lang="en-MY" dirty="0"/>
              <a:t>, </a:t>
            </a:r>
            <a:r>
              <a:rPr lang="en-MY" dirty="0" err="1"/>
              <a:t>ia</a:t>
            </a:r>
            <a:r>
              <a:rPr lang="en-MY" dirty="0"/>
              <a:t>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memberi</a:t>
            </a:r>
            <a:r>
              <a:rPr lang="en-MY" dirty="0"/>
              <a:t> </a:t>
            </a:r>
            <a:r>
              <a:rPr lang="en-MY" dirty="0" err="1"/>
              <a:t>nasihat</a:t>
            </a:r>
            <a:r>
              <a:rPr lang="en-MY" dirty="0"/>
              <a:t> salah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tidak</a:t>
            </a:r>
            <a:r>
              <a:rPr lang="en-MY" dirty="0"/>
              <a:t> </a:t>
            </a:r>
            <a:r>
              <a:rPr lang="en-MY" dirty="0" err="1"/>
              <a:t>selamat</a:t>
            </a:r>
            <a:r>
              <a:rPr lang="en-MY" dirty="0"/>
              <a:t>.</a:t>
            </a:r>
          </a:p>
          <a:p>
            <a:r>
              <a:rPr lang="en-MY" dirty="0"/>
              <a:t>Ada </a:t>
            </a:r>
            <a:r>
              <a:rPr lang="en-MY" dirty="0" err="1"/>
              <a:t>kes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pada 2023 di mana </a:t>
            </a:r>
            <a:r>
              <a:rPr lang="en-MY" i="1" dirty="0"/>
              <a:t>mental health chatbot</a:t>
            </a:r>
            <a:r>
              <a:rPr lang="en-MY" dirty="0"/>
              <a:t> </a:t>
            </a:r>
            <a:r>
              <a:rPr lang="en-MY" b="1" dirty="0"/>
              <a:t>Tessa</a:t>
            </a:r>
            <a:r>
              <a:rPr lang="en-MY" dirty="0"/>
              <a:t> (</a:t>
            </a:r>
            <a:r>
              <a:rPr lang="en-MY" dirty="0" err="1"/>
              <a:t>digunakan</a:t>
            </a:r>
            <a:r>
              <a:rPr lang="en-MY" dirty="0"/>
              <a:t> oleh badan </a:t>
            </a:r>
            <a:r>
              <a:rPr lang="en-MY" dirty="0" err="1"/>
              <a:t>kesihatan</a:t>
            </a:r>
            <a:r>
              <a:rPr lang="en-MY" dirty="0"/>
              <a:t> mental </a:t>
            </a:r>
            <a:r>
              <a:rPr lang="en-MY" dirty="0" err="1"/>
              <a:t>remaja</a:t>
            </a:r>
            <a:r>
              <a:rPr lang="en-MY" dirty="0"/>
              <a:t> di AS) </a:t>
            </a:r>
            <a:r>
              <a:rPr lang="en-MY" dirty="0" err="1"/>
              <a:t>memberi</a:t>
            </a:r>
            <a:r>
              <a:rPr lang="en-MY" dirty="0"/>
              <a:t> tip </a:t>
            </a:r>
            <a:r>
              <a:rPr lang="en-MY" dirty="0" err="1"/>
              <a:t>berbahaya</a:t>
            </a:r>
            <a:r>
              <a:rPr lang="en-MY" dirty="0"/>
              <a:t> </a:t>
            </a:r>
            <a:r>
              <a:rPr lang="en-MY" dirty="0" err="1"/>
              <a:t>tentang</a:t>
            </a:r>
            <a:r>
              <a:rPr lang="en-MY" dirty="0"/>
              <a:t> diet </a:t>
            </a:r>
            <a:r>
              <a:rPr lang="en-MY" dirty="0" err="1"/>
              <a:t>ekstrem</a:t>
            </a:r>
            <a:r>
              <a:rPr lang="en-MY" dirty="0"/>
              <a:t> </a:t>
            </a:r>
            <a:r>
              <a:rPr lang="en-MY" dirty="0" err="1"/>
              <a:t>kepada</a:t>
            </a:r>
            <a:r>
              <a:rPr lang="en-MY" dirty="0"/>
              <a:t> </a:t>
            </a:r>
            <a:r>
              <a:rPr lang="en-MY" dirty="0" err="1"/>
              <a:t>pengguna</a:t>
            </a:r>
            <a:r>
              <a:rPr lang="en-MY" dirty="0"/>
              <a:t> </a:t>
            </a:r>
            <a:r>
              <a:rPr lang="en-MY" dirty="0" err="1"/>
              <a:t>dengan</a:t>
            </a:r>
            <a:r>
              <a:rPr lang="en-MY" dirty="0"/>
              <a:t> </a:t>
            </a:r>
            <a:r>
              <a:rPr lang="en-MY" dirty="0" err="1"/>
              <a:t>gangguan</a:t>
            </a:r>
            <a:r>
              <a:rPr lang="en-MY" dirty="0"/>
              <a:t> </a:t>
            </a:r>
            <a:r>
              <a:rPr lang="en-MY" dirty="0" err="1"/>
              <a:t>makan</a:t>
            </a:r>
            <a:r>
              <a:rPr lang="en-MY" dirty="0"/>
              <a:t> — </a:t>
            </a:r>
            <a:r>
              <a:rPr lang="en-MY" dirty="0" err="1"/>
              <a:t>walaupun</a:t>
            </a:r>
            <a:r>
              <a:rPr lang="en-MY" dirty="0"/>
              <a:t> </a:t>
            </a:r>
            <a:r>
              <a:rPr lang="en-MY" dirty="0" err="1"/>
              <a:t>sepatutnya</a:t>
            </a:r>
            <a:r>
              <a:rPr lang="en-MY" dirty="0"/>
              <a:t> </a:t>
            </a:r>
            <a:r>
              <a:rPr lang="en-MY" dirty="0" err="1"/>
              <a:t>membantu</a:t>
            </a:r>
            <a:r>
              <a:rPr lang="en-MY" dirty="0"/>
              <a:t> </a:t>
            </a:r>
            <a:r>
              <a:rPr lang="en-MY" dirty="0" err="1"/>
              <a:t>pemulihan</a:t>
            </a:r>
            <a:r>
              <a:rPr lang="en-MY" dirty="0"/>
              <a:t>.</a:t>
            </a:r>
          </a:p>
          <a:p>
            <a:r>
              <a:rPr lang="en-MY" dirty="0" err="1"/>
              <a:t>Masalah</a:t>
            </a:r>
            <a:r>
              <a:rPr lang="en-MY" dirty="0"/>
              <a:t> </a:t>
            </a:r>
            <a:r>
              <a:rPr lang="en-MY" dirty="0" err="1"/>
              <a:t>berlaku</a:t>
            </a:r>
            <a:r>
              <a:rPr lang="en-MY" dirty="0"/>
              <a:t> kerana AI </a:t>
            </a:r>
            <a:r>
              <a:rPr lang="en-MY" dirty="0" err="1"/>
              <a:t>tidak</a:t>
            </a:r>
            <a:r>
              <a:rPr lang="en-MY" dirty="0"/>
              <a:t> </a:t>
            </a:r>
            <a:r>
              <a:rPr lang="en-MY" dirty="0" err="1"/>
              <a:t>dikawal</a:t>
            </a:r>
            <a:r>
              <a:rPr lang="en-MY" dirty="0"/>
              <a:t> </a:t>
            </a:r>
            <a:r>
              <a:rPr lang="en-MY" dirty="0" err="1"/>
              <a:t>sepenuhnya</a:t>
            </a:r>
            <a:r>
              <a:rPr lang="en-MY" dirty="0"/>
              <a:t> dan </a:t>
            </a:r>
            <a:r>
              <a:rPr lang="en-MY" dirty="0" err="1"/>
              <a:t>tiada</a:t>
            </a:r>
            <a:r>
              <a:rPr lang="en-MY" dirty="0"/>
              <a:t> </a:t>
            </a:r>
            <a:r>
              <a:rPr lang="en-MY" dirty="0" err="1"/>
              <a:t>pengesahan</a:t>
            </a:r>
            <a:r>
              <a:rPr lang="en-MY" dirty="0"/>
              <a:t> </a:t>
            </a:r>
            <a:r>
              <a:rPr lang="en-MY" dirty="0" err="1"/>
              <a:t>manusia</a:t>
            </a:r>
            <a:r>
              <a:rPr lang="en-MY" dirty="0"/>
              <a:t> </a:t>
            </a:r>
            <a:r>
              <a:rPr lang="en-MY" dirty="0" err="1"/>
              <a:t>sebelum</a:t>
            </a:r>
            <a:r>
              <a:rPr lang="en-MY" dirty="0"/>
              <a:t> </a:t>
            </a:r>
            <a:r>
              <a:rPr lang="en-MY" dirty="0" err="1"/>
              <a:t>respons</a:t>
            </a:r>
            <a:r>
              <a:rPr lang="en-MY" dirty="0"/>
              <a:t> </a:t>
            </a:r>
            <a:r>
              <a:rPr lang="en-MY" dirty="0" err="1"/>
              <a:t>diberikan</a:t>
            </a:r>
            <a:r>
              <a:rPr lang="en-MY" dirty="0"/>
              <a:t>.</a:t>
            </a:r>
          </a:p>
          <a:p>
            <a:endParaRPr lang="en-MY" dirty="0"/>
          </a:p>
          <a:p>
            <a:r>
              <a:rPr lang="en-MY" b="1" dirty="0"/>
              <a:t>3. </a:t>
            </a:r>
            <a:r>
              <a:rPr lang="en-MY" b="1" dirty="0" err="1"/>
              <a:t>Risiko</a:t>
            </a:r>
            <a:r>
              <a:rPr lang="en-MY" b="1" dirty="0"/>
              <a:t> </a:t>
            </a:r>
            <a:r>
              <a:rPr lang="en-MY" b="1" dirty="0" err="1"/>
              <a:t>psikologi</a:t>
            </a:r>
            <a:r>
              <a:rPr lang="en-MY" b="1" dirty="0"/>
              <a:t> </a:t>
            </a:r>
            <a:r>
              <a:rPr lang="en-MY" b="1" dirty="0" err="1"/>
              <a:t>serius</a:t>
            </a:r>
            <a:endParaRPr lang="en-MY" dirty="0"/>
          </a:p>
          <a:p>
            <a:r>
              <a:rPr lang="en-MY" dirty="0" err="1"/>
              <a:t>Respons</a:t>
            </a:r>
            <a:r>
              <a:rPr lang="en-MY" dirty="0"/>
              <a:t> </a:t>
            </a:r>
            <a:r>
              <a:rPr lang="en-MY" dirty="0" err="1"/>
              <a:t>negatif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saranan</a:t>
            </a:r>
            <a:r>
              <a:rPr lang="en-MY" dirty="0"/>
              <a:t> yang salah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memperburuk</a:t>
            </a:r>
            <a:r>
              <a:rPr lang="en-MY" dirty="0"/>
              <a:t> </a:t>
            </a:r>
            <a:r>
              <a:rPr lang="en-MY" dirty="0" err="1"/>
              <a:t>keadaan</a:t>
            </a:r>
            <a:r>
              <a:rPr lang="en-MY" dirty="0"/>
              <a:t> </a:t>
            </a:r>
            <a:r>
              <a:rPr lang="en-MY" dirty="0" err="1"/>
              <a:t>emosi</a:t>
            </a:r>
            <a:r>
              <a:rPr lang="en-MY" dirty="0"/>
              <a:t> </a:t>
            </a:r>
            <a:r>
              <a:rPr lang="en-MY" dirty="0" err="1"/>
              <a:t>pengguna</a:t>
            </a:r>
            <a:r>
              <a:rPr lang="en-MY" dirty="0"/>
              <a:t>.</a:t>
            </a:r>
          </a:p>
          <a:p>
            <a:r>
              <a:rPr lang="en-MY" dirty="0" err="1"/>
              <a:t>Contoh</a:t>
            </a:r>
            <a:r>
              <a:rPr lang="en-MY" dirty="0"/>
              <a:t> </a:t>
            </a:r>
            <a:r>
              <a:rPr lang="en-MY" dirty="0" err="1"/>
              <a:t>tragis</a:t>
            </a:r>
            <a:r>
              <a:rPr lang="en-MY" dirty="0"/>
              <a:t> yang </a:t>
            </a:r>
            <a:r>
              <a:rPr lang="en-MY" dirty="0" err="1"/>
              <a:t>pernah</a:t>
            </a:r>
            <a:r>
              <a:rPr lang="en-MY" dirty="0"/>
              <a:t> </a:t>
            </a:r>
            <a:r>
              <a:rPr lang="en-MY" dirty="0" err="1"/>
              <a:t>dilaporkan</a:t>
            </a:r>
            <a:r>
              <a:rPr lang="en-MY" dirty="0"/>
              <a:t> di Belgium (2023): </a:t>
            </a:r>
            <a:r>
              <a:rPr lang="en-MY" dirty="0" err="1"/>
              <a:t>seorang</a:t>
            </a:r>
            <a:r>
              <a:rPr lang="en-MY" dirty="0"/>
              <a:t> </a:t>
            </a:r>
            <a:r>
              <a:rPr lang="en-MY" dirty="0" err="1"/>
              <a:t>lelaki</a:t>
            </a:r>
            <a:r>
              <a:rPr lang="en-MY" dirty="0"/>
              <a:t> </a:t>
            </a:r>
            <a:r>
              <a:rPr lang="en-MY" dirty="0" err="1"/>
              <a:t>berbual</a:t>
            </a:r>
            <a:r>
              <a:rPr lang="en-MY" dirty="0"/>
              <a:t> </a:t>
            </a:r>
            <a:r>
              <a:rPr lang="en-MY" dirty="0" err="1"/>
              <a:t>dengan</a:t>
            </a:r>
            <a:r>
              <a:rPr lang="en-MY" dirty="0"/>
              <a:t> chatbot AI </a:t>
            </a:r>
            <a:r>
              <a:rPr lang="en-MY" dirty="0" err="1"/>
              <a:t>selama</a:t>
            </a:r>
            <a:r>
              <a:rPr lang="en-MY" dirty="0"/>
              <a:t> </a:t>
            </a:r>
            <a:r>
              <a:rPr lang="en-MY" dirty="0" err="1"/>
              <a:t>beberapa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 </a:t>
            </a:r>
            <a:r>
              <a:rPr lang="en-MY" dirty="0" err="1"/>
              <a:t>tentang</a:t>
            </a:r>
            <a:r>
              <a:rPr lang="en-MY" dirty="0"/>
              <a:t> </a:t>
            </a:r>
            <a:r>
              <a:rPr lang="en-MY" dirty="0" err="1"/>
              <a:t>kebimbangan</a:t>
            </a:r>
            <a:r>
              <a:rPr lang="en-MY" dirty="0"/>
              <a:t> </a:t>
            </a:r>
            <a:r>
              <a:rPr lang="en-MY" dirty="0" err="1"/>
              <a:t>alam</a:t>
            </a:r>
            <a:r>
              <a:rPr lang="en-MY" dirty="0"/>
              <a:t> </a:t>
            </a:r>
            <a:r>
              <a:rPr lang="en-MY" dirty="0" err="1"/>
              <a:t>sekitar</a:t>
            </a:r>
            <a:r>
              <a:rPr lang="en-MY" dirty="0"/>
              <a:t>, dan </a:t>
            </a:r>
            <a:r>
              <a:rPr lang="en-MY" dirty="0" err="1"/>
              <a:t>akhirnya</a:t>
            </a:r>
            <a:r>
              <a:rPr lang="en-MY" dirty="0"/>
              <a:t> </a:t>
            </a:r>
            <a:r>
              <a:rPr lang="en-MY" dirty="0" err="1"/>
              <a:t>mengambil</a:t>
            </a:r>
            <a:r>
              <a:rPr lang="en-MY" dirty="0"/>
              <a:t> </a:t>
            </a:r>
            <a:r>
              <a:rPr lang="en-MY" dirty="0" err="1"/>
              <a:t>nyawanya</a:t>
            </a:r>
            <a:r>
              <a:rPr lang="en-MY" dirty="0"/>
              <a:t> </a:t>
            </a:r>
            <a:r>
              <a:rPr lang="en-MY" dirty="0" err="1"/>
              <a:t>sendiri</a:t>
            </a:r>
            <a:r>
              <a:rPr lang="en-MY" dirty="0"/>
              <a:t> </a:t>
            </a:r>
            <a:r>
              <a:rPr lang="en-MY" dirty="0" err="1"/>
              <a:t>selepas</a:t>
            </a:r>
            <a:r>
              <a:rPr lang="en-MY" dirty="0"/>
              <a:t> chatbot </a:t>
            </a:r>
            <a:r>
              <a:rPr lang="en-MY" dirty="0" err="1"/>
              <a:t>memberi</a:t>
            </a:r>
            <a:r>
              <a:rPr lang="en-MY" dirty="0"/>
              <a:t> </a:t>
            </a:r>
            <a:r>
              <a:rPr lang="en-MY" dirty="0" err="1"/>
              <a:t>respons</a:t>
            </a:r>
            <a:r>
              <a:rPr lang="en-MY" dirty="0"/>
              <a:t> yang </a:t>
            </a:r>
            <a:r>
              <a:rPr lang="en-MY" dirty="0" err="1"/>
              <a:t>dianggap</a:t>
            </a:r>
            <a:r>
              <a:rPr lang="en-MY" dirty="0"/>
              <a:t> </a:t>
            </a:r>
            <a:r>
              <a:rPr lang="en-MY" dirty="0" err="1"/>
              <a:t>menggalakkan</a:t>
            </a:r>
            <a:r>
              <a:rPr lang="en-MY" dirty="0"/>
              <a:t> </a:t>
            </a:r>
            <a:r>
              <a:rPr lang="en-MY" dirty="0" err="1"/>
              <a:t>tindakannya</a:t>
            </a:r>
            <a:r>
              <a:rPr lang="en-MY" dirty="0"/>
              <a:t>.</a:t>
            </a:r>
          </a:p>
          <a:p>
            <a:r>
              <a:rPr lang="en-MY" dirty="0"/>
              <a:t>Ini </a:t>
            </a:r>
            <a:r>
              <a:rPr lang="en-MY" dirty="0" err="1"/>
              <a:t>menunjukkan</a:t>
            </a:r>
            <a:r>
              <a:rPr lang="en-MY" dirty="0"/>
              <a:t> </a:t>
            </a:r>
            <a:r>
              <a:rPr lang="en-MY" dirty="0" err="1"/>
              <a:t>bahawa</a:t>
            </a:r>
            <a:r>
              <a:rPr lang="en-MY" dirty="0"/>
              <a:t> </a:t>
            </a:r>
            <a:r>
              <a:rPr lang="en-MY" dirty="0" err="1"/>
              <a:t>tanpa</a:t>
            </a:r>
            <a:r>
              <a:rPr lang="en-MY" dirty="0"/>
              <a:t> </a:t>
            </a:r>
            <a:r>
              <a:rPr lang="en-MY" dirty="0" err="1"/>
              <a:t>kawalan</a:t>
            </a:r>
            <a:r>
              <a:rPr lang="en-MY" dirty="0"/>
              <a:t> dan </a:t>
            </a:r>
            <a:r>
              <a:rPr lang="en-MY" dirty="0" err="1"/>
              <a:t>pengawasan</a:t>
            </a:r>
            <a:r>
              <a:rPr lang="en-MY" dirty="0"/>
              <a:t> </a:t>
            </a:r>
            <a:r>
              <a:rPr lang="en-MY" dirty="0" err="1"/>
              <a:t>manusia</a:t>
            </a:r>
            <a:r>
              <a:rPr lang="en-MY" dirty="0"/>
              <a:t>, AI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menjadi</a:t>
            </a:r>
            <a:r>
              <a:rPr lang="en-MY" dirty="0"/>
              <a:t> </a:t>
            </a:r>
            <a:r>
              <a:rPr lang="en-MY" dirty="0" err="1"/>
              <a:t>faktor</a:t>
            </a:r>
            <a:r>
              <a:rPr lang="en-MY" dirty="0"/>
              <a:t> yang </a:t>
            </a:r>
            <a:r>
              <a:rPr lang="en-MY" dirty="0" err="1"/>
              <a:t>memburukkan</a:t>
            </a:r>
            <a:r>
              <a:rPr lang="en-MY" dirty="0"/>
              <a:t> </a:t>
            </a:r>
            <a:r>
              <a:rPr lang="en-MY" dirty="0" err="1"/>
              <a:t>risiko</a:t>
            </a:r>
            <a:r>
              <a:rPr lang="en-MY" dirty="0"/>
              <a:t> </a:t>
            </a:r>
            <a:r>
              <a:rPr lang="en-MY" dirty="0" err="1"/>
              <a:t>bunuh</a:t>
            </a:r>
            <a:r>
              <a:rPr lang="en-MY" dirty="0"/>
              <a:t> </a:t>
            </a:r>
            <a:r>
              <a:rPr lang="en-MY" dirty="0" err="1"/>
              <a:t>diri</a:t>
            </a:r>
            <a:r>
              <a:rPr lang="en-MY" dirty="0"/>
              <a:t>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BAC45-E16F-49BB-98B3-75F8F285A3FC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765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1. </a:t>
            </a:r>
            <a:r>
              <a:rPr lang="en-MY" b="1" dirty="0" err="1"/>
              <a:t>Kehilangan</a:t>
            </a:r>
            <a:r>
              <a:rPr lang="en-MY" b="1" dirty="0"/>
              <a:t> </a:t>
            </a:r>
            <a:r>
              <a:rPr lang="en-MY" b="1" dirty="0" err="1"/>
              <a:t>privasi</a:t>
            </a:r>
            <a:endParaRPr lang="en-MY" dirty="0"/>
          </a:p>
          <a:p>
            <a:r>
              <a:rPr lang="en-MY" dirty="0"/>
              <a:t>AI </a:t>
            </a:r>
            <a:r>
              <a:rPr lang="en-MY" dirty="0" err="1"/>
              <a:t>memantau</a:t>
            </a:r>
            <a:r>
              <a:rPr lang="en-MY" dirty="0"/>
              <a:t> </a:t>
            </a:r>
            <a:r>
              <a:rPr lang="en-MY" dirty="0" err="1"/>
              <a:t>hampir</a:t>
            </a:r>
            <a:r>
              <a:rPr lang="en-MY" dirty="0"/>
              <a:t> </a:t>
            </a:r>
            <a:r>
              <a:rPr lang="en-MY" dirty="0" err="1"/>
              <a:t>semua</a:t>
            </a:r>
            <a:r>
              <a:rPr lang="en-MY" dirty="0"/>
              <a:t> </a:t>
            </a:r>
            <a:r>
              <a:rPr lang="en-MY" dirty="0" err="1"/>
              <a:t>aktiviti</a:t>
            </a:r>
            <a:r>
              <a:rPr lang="en-MY" dirty="0"/>
              <a:t> rakyat: </a:t>
            </a:r>
            <a:r>
              <a:rPr lang="en-MY" dirty="0" err="1"/>
              <a:t>transaksi</a:t>
            </a:r>
            <a:r>
              <a:rPr lang="en-MY" dirty="0"/>
              <a:t> </a:t>
            </a:r>
            <a:r>
              <a:rPr lang="en-MY" dirty="0" err="1"/>
              <a:t>kewangan</a:t>
            </a:r>
            <a:r>
              <a:rPr lang="en-MY" dirty="0"/>
              <a:t>, </a:t>
            </a:r>
            <a:r>
              <a:rPr lang="en-MY" dirty="0" err="1"/>
              <a:t>carian</a:t>
            </a:r>
            <a:r>
              <a:rPr lang="en-MY" dirty="0"/>
              <a:t> internet, </a:t>
            </a:r>
            <a:r>
              <a:rPr lang="en-MY" dirty="0" err="1"/>
              <a:t>komen</a:t>
            </a:r>
            <a:r>
              <a:rPr lang="en-MY" dirty="0"/>
              <a:t> media </a:t>
            </a:r>
            <a:r>
              <a:rPr lang="en-MY" dirty="0" err="1"/>
              <a:t>sosial</a:t>
            </a:r>
            <a:r>
              <a:rPr lang="en-MY" dirty="0"/>
              <a:t>, </a:t>
            </a:r>
            <a:r>
              <a:rPr lang="en-MY" dirty="0" err="1"/>
              <a:t>lokasi</a:t>
            </a:r>
            <a:r>
              <a:rPr lang="en-MY" dirty="0"/>
              <a:t> GPS, dan </a:t>
            </a:r>
            <a:r>
              <a:rPr lang="en-MY" dirty="0" err="1"/>
              <a:t>interaksi</a:t>
            </a:r>
            <a:r>
              <a:rPr lang="en-MY" dirty="0"/>
              <a:t> digital.</a:t>
            </a:r>
          </a:p>
          <a:p>
            <a:r>
              <a:rPr lang="en-MY" dirty="0"/>
              <a:t>Data </a:t>
            </a:r>
            <a:r>
              <a:rPr lang="en-MY" dirty="0" err="1"/>
              <a:t>peribadi</a:t>
            </a:r>
            <a:r>
              <a:rPr lang="en-MY" dirty="0"/>
              <a:t> </a:t>
            </a:r>
            <a:r>
              <a:rPr lang="en-MY" dirty="0" err="1"/>
              <a:t>digunakan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membina</a:t>
            </a:r>
            <a:r>
              <a:rPr lang="en-MY" dirty="0"/>
              <a:t> </a:t>
            </a:r>
            <a:r>
              <a:rPr lang="en-MY" dirty="0" err="1"/>
              <a:t>profil</a:t>
            </a:r>
            <a:r>
              <a:rPr lang="en-MY" dirty="0"/>
              <a:t> </a:t>
            </a:r>
            <a:r>
              <a:rPr lang="en-MY" dirty="0" err="1"/>
              <a:t>tingkah</a:t>
            </a:r>
            <a:r>
              <a:rPr lang="en-MY" dirty="0"/>
              <a:t> </a:t>
            </a:r>
            <a:r>
              <a:rPr lang="en-MY" dirty="0" err="1"/>
              <a:t>laku</a:t>
            </a:r>
            <a:r>
              <a:rPr lang="en-MY" dirty="0"/>
              <a:t> </a:t>
            </a:r>
            <a:r>
              <a:rPr lang="en-MY" dirty="0" err="1"/>
              <a:t>tanpa</a:t>
            </a:r>
            <a:r>
              <a:rPr lang="en-MY" dirty="0"/>
              <a:t> </a:t>
            </a:r>
            <a:r>
              <a:rPr lang="en-MY" dirty="0" err="1"/>
              <a:t>persetujuan</a:t>
            </a:r>
            <a:r>
              <a:rPr lang="en-MY" dirty="0"/>
              <a:t> </a:t>
            </a:r>
            <a:r>
              <a:rPr lang="en-MY" dirty="0" err="1"/>
              <a:t>jelas</a:t>
            </a:r>
            <a:r>
              <a:rPr lang="en-MY" dirty="0"/>
              <a:t>.</a:t>
            </a:r>
          </a:p>
          <a:p>
            <a:r>
              <a:rPr lang="en-MY" dirty="0" err="1"/>
              <a:t>Contoh</a:t>
            </a:r>
            <a:r>
              <a:rPr lang="en-MY" dirty="0"/>
              <a:t>: Hanya kerana </a:t>
            </a:r>
            <a:r>
              <a:rPr lang="en-MY" dirty="0" err="1"/>
              <a:t>seseorang</a:t>
            </a:r>
            <a:r>
              <a:rPr lang="en-MY" dirty="0"/>
              <a:t> </a:t>
            </a:r>
            <a:r>
              <a:rPr lang="en-MY" dirty="0" err="1"/>
              <a:t>menyukai</a:t>
            </a:r>
            <a:r>
              <a:rPr lang="en-MY" dirty="0"/>
              <a:t> posting yang </a:t>
            </a:r>
            <a:r>
              <a:rPr lang="en-MY" dirty="0" err="1"/>
              <a:t>dianggap</a:t>
            </a:r>
            <a:r>
              <a:rPr lang="en-MY" dirty="0"/>
              <a:t> “</a:t>
            </a:r>
            <a:r>
              <a:rPr lang="en-MY" dirty="0" err="1"/>
              <a:t>tidak</a:t>
            </a:r>
            <a:r>
              <a:rPr lang="en-MY" dirty="0"/>
              <a:t> </a:t>
            </a:r>
            <a:r>
              <a:rPr lang="en-MY" dirty="0" err="1"/>
              <a:t>patuh</a:t>
            </a:r>
            <a:r>
              <a:rPr lang="en-MY" dirty="0"/>
              <a:t>” oleh </a:t>
            </a:r>
            <a:r>
              <a:rPr lang="en-MY" dirty="0" err="1"/>
              <a:t>kerajaan</a:t>
            </a:r>
            <a:r>
              <a:rPr lang="en-MY" dirty="0"/>
              <a:t>, </a:t>
            </a:r>
            <a:r>
              <a:rPr lang="en-MY" dirty="0" err="1"/>
              <a:t>ia</a:t>
            </a:r>
            <a:r>
              <a:rPr lang="en-MY" dirty="0"/>
              <a:t>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menjejaskan</a:t>
            </a:r>
            <a:r>
              <a:rPr lang="en-MY" dirty="0"/>
              <a:t> </a:t>
            </a:r>
            <a:r>
              <a:rPr lang="en-MY" dirty="0" err="1"/>
              <a:t>skor</a:t>
            </a:r>
            <a:r>
              <a:rPr lang="en-MY" dirty="0"/>
              <a:t> </a:t>
            </a:r>
            <a:r>
              <a:rPr lang="en-MY" dirty="0" err="1"/>
              <a:t>sosial</a:t>
            </a:r>
            <a:r>
              <a:rPr lang="en-MY" dirty="0"/>
              <a:t> </a:t>
            </a:r>
            <a:r>
              <a:rPr lang="en-MY" dirty="0" err="1"/>
              <a:t>mereka</a:t>
            </a:r>
            <a:r>
              <a:rPr lang="en-MY" dirty="0"/>
              <a:t>.</a:t>
            </a:r>
          </a:p>
          <a:p>
            <a:r>
              <a:rPr lang="en-MY" b="1" dirty="0"/>
              <a:t>2. </a:t>
            </a:r>
            <a:r>
              <a:rPr lang="en-MY" b="1" dirty="0" err="1"/>
              <a:t>Sekatan</a:t>
            </a:r>
            <a:r>
              <a:rPr lang="en-MY" b="1" dirty="0"/>
              <a:t> </a:t>
            </a:r>
            <a:r>
              <a:rPr lang="en-MY" b="1" dirty="0" err="1"/>
              <a:t>kebebasan</a:t>
            </a:r>
            <a:endParaRPr lang="en-MY" dirty="0"/>
          </a:p>
          <a:p>
            <a:r>
              <a:rPr lang="en-MY" dirty="0"/>
              <a:t>Skor </a:t>
            </a:r>
            <a:r>
              <a:rPr lang="en-MY" dirty="0" err="1"/>
              <a:t>sosial</a:t>
            </a:r>
            <a:r>
              <a:rPr lang="en-MY" dirty="0"/>
              <a:t> yang </a:t>
            </a:r>
            <a:r>
              <a:rPr lang="en-MY" dirty="0" err="1"/>
              <a:t>rendah</a:t>
            </a:r>
            <a:r>
              <a:rPr lang="en-MY" dirty="0"/>
              <a:t>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menghadkan</a:t>
            </a:r>
            <a:r>
              <a:rPr lang="en-MY" dirty="0"/>
              <a:t> </a:t>
            </a:r>
            <a:r>
              <a:rPr lang="en-MY" dirty="0" err="1"/>
              <a:t>hak</a:t>
            </a:r>
            <a:r>
              <a:rPr lang="en-MY" dirty="0"/>
              <a:t> </a:t>
            </a:r>
            <a:r>
              <a:rPr lang="en-MY" dirty="0" err="1"/>
              <a:t>individu</a:t>
            </a:r>
            <a:r>
              <a:rPr lang="en-MY" dirty="0"/>
              <a:t> —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larangan</a:t>
            </a:r>
            <a:r>
              <a:rPr lang="en-MY" dirty="0"/>
              <a:t> </a:t>
            </a:r>
            <a:r>
              <a:rPr lang="en-MY" dirty="0" err="1"/>
              <a:t>membeli</a:t>
            </a:r>
            <a:r>
              <a:rPr lang="en-MY" dirty="0"/>
              <a:t> </a:t>
            </a:r>
            <a:r>
              <a:rPr lang="en-MY" dirty="0" err="1"/>
              <a:t>tiket</a:t>
            </a:r>
            <a:r>
              <a:rPr lang="en-MY" dirty="0"/>
              <a:t> </a:t>
            </a:r>
            <a:r>
              <a:rPr lang="en-MY" dirty="0" err="1"/>
              <a:t>kapal</a:t>
            </a:r>
            <a:r>
              <a:rPr lang="en-MY" dirty="0"/>
              <a:t> terbang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kereta</a:t>
            </a:r>
            <a:r>
              <a:rPr lang="en-MY" dirty="0"/>
              <a:t> </a:t>
            </a:r>
            <a:r>
              <a:rPr lang="en-MY" dirty="0" err="1"/>
              <a:t>api</a:t>
            </a:r>
            <a:r>
              <a:rPr lang="en-MY" dirty="0"/>
              <a:t>, </a:t>
            </a:r>
            <a:r>
              <a:rPr lang="en-MY" dirty="0" err="1"/>
              <a:t>kesukaran</a:t>
            </a:r>
            <a:r>
              <a:rPr lang="en-MY" dirty="0"/>
              <a:t> </a:t>
            </a:r>
            <a:r>
              <a:rPr lang="en-MY" dirty="0" err="1"/>
              <a:t>mendapat</a:t>
            </a:r>
            <a:r>
              <a:rPr lang="en-MY" dirty="0"/>
              <a:t> </a:t>
            </a:r>
            <a:r>
              <a:rPr lang="en-MY" dirty="0" err="1"/>
              <a:t>pinjaman</a:t>
            </a:r>
            <a:r>
              <a:rPr lang="en-MY" dirty="0"/>
              <a:t>,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penolakan</a:t>
            </a:r>
            <a:r>
              <a:rPr lang="en-MY" dirty="0"/>
              <a:t> </a:t>
            </a:r>
            <a:r>
              <a:rPr lang="en-MY" dirty="0" err="1"/>
              <a:t>pekerjaan</a:t>
            </a:r>
            <a:r>
              <a:rPr lang="en-MY" dirty="0"/>
              <a:t>.</a:t>
            </a:r>
          </a:p>
          <a:p>
            <a:r>
              <a:rPr lang="en-MY" dirty="0"/>
              <a:t>AI </a:t>
            </a:r>
            <a:r>
              <a:rPr lang="en-MY" dirty="0" err="1"/>
              <a:t>menapis</a:t>
            </a:r>
            <a:r>
              <a:rPr lang="en-MY" dirty="0"/>
              <a:t> </a:t>
            </a:r>
            <a:r>
              <a:rPr lang="en-MY" dirty="0" err="1"/>
              <a:t>peluang</a:t>
            </a:r>
            <a:r>
              <a:rPr lang="en-MY" dirty="0"/>
              <a:t> </a:t>
            </a:r>
            <a:r>
              <a:rPr lang="en-MY" dirty="0" err="1"/>
              <a:t>berdasarkan</a:t>
            </a:r>
            <a:r>
              <a:rPr lang="en-MY" dirty="0"/>
              <a:t> </a:t>
            </a:r>
            <a:r>
              <a:rPr lang="en-MY" dirty="0" err="1"/>
              <a:t>skor</a:t>
            </a:r>
            <a:r>
              <a:rPr lang="en-MY" dirty="0"/>
              <a:t>, </a:t>
            </a:r>
            <a:r>
              <a:rPr lang="en-MY" dirty="0" err="1"/>
              <a:t>bukan</a:t>
            </a:r>
            <a:r>
              <a:rPr lang="en-MY" dirty="0"/>
              <a:t> merit </a:t>
            </a:r>
            <a:r>
              <a:rPr lang="en-MY" dirty="0" err="1"/>
              <a:t>sebenar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kelayakan</a:t>
            </a:r>
            <a:r>
              <a:rPr lang="en-MY" dirty="0"/>
              <a:t>.</a:t>
            </a:r>
          </a:p>
          <a:p>
            <a:r>
              <a:rPr lang="en-MY" dirty="0" err="1"/>
              <a:t>Akibatnya</a:t>
            </a:r>
            <a:r>
              <a:rPr lang="en-MY" dirty="0"/>
              <a:t>, orang </a:t>
            </a:r>
            <a:r>
              <a:rPr lang="en-MY" dirty="0" err="1"/>
              <a:t>mungkin</a:t>
            </a:r>
            <a:r>
              <a:rPr lang="en-MY" dirty="0"/>
              <a:t> </a:t>
            </a:r>
            <a:r>
              <a:rPr lang="en-MY" dirty="0" err="1"/>
              <a:t>takut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menyuarakan</a:t>
            </a:r>
            <a:r>
              <a:rPr lang="en-MY" dirty="0"/>
              <a:t> </a:t>
            </a:r>
            <a:r>
              <a:rPr lang="en-MY" dirty="0" err="1"/>
              <a:t>pendapat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terlibat</a:t>
            </a:r>
            <a:r>
              <a:rPr lang="en-MY" dirty="0"/>
              <a:t> </a:t>
            </a:r>
            <a:r>
              <a:rPr lang="en-MY" dirty="0" err="1"/>
              <a:t>dalam</a:t>
            </a:r>
            <a:r>
              <a:rPr lang="en-MY" dirty="0"/>
              <a:t> </a:t>
            </a:r>
            <a:r>
              <a:rPr lang="en-MY" dirty="0" err="1"/>
              <a:t>aktiviti</a:t>
            </a:r>
            <a:r>
              <a:rPr lang="en-MY" dirty="0"/>
              <a:t> yang </a:t>
            </a:r>
            <a:r>
              <a:rPr lang="en-MY" dirty="0" err="1"/>
              <a:t>sah</a:t>
            </a:r>
            <a:r>
              <a:rPr lang="en-MY" dirty="0"/>
              <a:t> </a:t>
            </a:r>
            <a:r>
              <a:rPr lang="en-MY" dirty="0" err="1"/>
              <a:t>tapi</a:t>
            </a:r>
            <a:r>
              <a:rPr lang="en-MY" dirty="0"/>
              <a:t> </a:t>
            </a:r>
            <a:r>
              <a:rPr lang="en-MY" dirty="0" err="1"/>
              <a:t>dianggap</a:t>
            </a:r>
            <a:r>
              <a:rPr lang="en-MY" dirty="0"/>
              <a:t> “</a:t>
            </a:r>
            <a:r>
              <a:rPr lang="en-MY" dirty="0" err="1"/>
              <a:t>berisiko</a:t>
            </a:r>
            <a:r>
              <a:rPr lang="en-MY" dirty="0"/>
              <a:t>”.</a:t>
            </a:r>
          </a:p>
          <a:p>
            <a:r>
              <a:rPr lang="en-MY" b="1" dirty="0"/>
              <a:t>3. </a:t>
            </a:r>
            <a:r>
              <a:rPr lang="en-MY" b="1" dirty="0" err="1"/>
              <a:t>Kawalan</a:t>
            </a:r>
            <a:r>
              <a:rPr lang="en-MY" b="1" dirty="0"/>
              <a:t> </a:t>
            </a:r>
            <a:r>
              <a:rPr lang="en-MY" b="1" dirty="0" err="1"/>
              <a:t>berlebihan</a:t>
            </a:r>
            <a:r>
              <a:rPr lang="en-MY" b="1" dirty="0"/>
              <a:t> </a:t>
            </a:r>
            <a:r>
              <a:rPr lang="en-MY" b="1" dirty="0" err="1"/>
              <a:t>terhadap</a:t>
            </a:r>
            <a:r>
              <a:rPr lang="en-MY" b="1" dirty="0"/>
              <a:t> </a:t>
            </a:r>
            <a:r>
              <a:rPr lang="en-MY" b="1" dirty="0" err="1"/>
              <a:t>manusia</a:t>
            </a:r>
            <a:endParaRPr lang="en-MY" dirty="0"/>
          </a:p>
          <a:p>
            <a:r>
              <a:rPr lang="en-MY" dirty="0"/>
              <a:t>AI </a:t>
            </a:r>
            <a:r>
              <a:rPr lang="en-MY" dirty="0" err="1"/>
              <a:t>digunakan</a:t>
            </a:r>
            <a:r>
              <a:rPr lang="en-MY" dirty="0"/>
              <a:t> </a:t>
            </a:r>
            <a:r>
              <a:rPr lang="en-MY" dirty="0" err="1"/>
              <a:t>sebagai</a:t>
            </a:r>
            <a:r>
              <a:rPr lang="en-MY" dirty="0"/>
              <a:t> </a:t>
            </a:r>
            <a:r>
              <a:rPr lang="en-MY" dirty="0" err="1"/>
              <a:t>alat</a:t>
            </a:r>
            <a:r>
              <a:rPr lang="en-MY" dirty="0"/>
              <a:t> </a:t>
            </a:r>
            <a:r>
              <a:rPr lang="en-MY" dirty="0" err="1"/>
              <a:t>kawalan</a:t>
            </a:r>
            <a:r>
              <a:rPr lang="en-MY" dirty="0"/>
              <a:t> </a:t>
            </a:r>
            <a:r>
              <a:rPr lang="en-MY" dirty="0" err="1"/>
              <a:t>tingkah</a:t>
            </a:r>
            <a:r>
              <a:rPr lang="en-MY" dirty="0"/>
              <a:t> </a:t>
            </a:r>
            <a:r>
              <a:rPr lang="en-MY" dirty="0" err="1"/>
              <a:t>laku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</a:t>
            </a:r>
            <a:r>
              <a:rPr lang="en-MY" dirty="0" err="1"/>
              <a:t>besar-besaran</a:t>
            </a:r>
            <a:r>
              <a:rPr lang="en-MY" dirty="0"/>
              <a:t>.</a:t>
            </a:r>
          </a:p>
          <a:p>
            <a:r>
              <a:rPr lang="en-MY" dirty="0" err="1"/>
              <a:t>Ia</a:t>
            </a:r>
            <a:r>
              <a:rPr lang="en-MY" dirty="0"/>
              <a:t> </a:t>
            </a:r>
            <a:r>
              <a:rPr lang="en-MY" dirty="0" err="1"/>
              <a:t>mewujudkan</a:t>
            </a:r>
            <a:r>
              <a:rPr lang="en-MY" dirty="0"/>
              <a:t> </a:t>
            </a:r>
            <a:r>
              <a:rPr lang="en-MY" dirty="0" err="1"/>
              <a:t>suasana</a:t>
            </a:r>
            <a:r>
              <a:rPr lang="en-MY" dirty="0"/>
              <a:t> “</a:t>
            </a:r>
            <a:r>
              <a:rPr lang="en-MY" dirty="0" err="1"/>
              <a:t>pengawasan</a:t>
            </a:r>
            <a:r>
              <a:rPr lang="en-MY" dirty="0"/>
              <a:t> </a:t>
            </a:r>
            <a:r>
              <a:rPr lang="en-MY" dirty="0" err="1"/>
              <a:t>berterusan</a:t>
            </a:r>
            <a:r>
              <a:rPr lang="en-MY" dirty="0"/>
              <a:t>” (</a:t>
            </a:r>
            <a:r>
              <a:rPr lang="en-MY" i="1" dirty="0"/>
              <a:t>perpetual surveillance</a:t>
            </a:r>
            <a:r>
              <a:rPr lang="en-MY" dirty="0"/>
              <a:t>), di mana </a:t>
            </a:r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tindakan</a:t>
            </a:r>
            <a:r>
              <a:rPr lang="en-MY" dirty="0"/>
              <a:t> </a:t>
            </a:r>
            <a:r>
              <a:rPr lang="en-MY" dirty="0" err="1"/>
              <a:t>dinilai</a:t>
            </a:r>
            <a:r>
              <a:rPr lang="en-MY" dirty="0"/>
              <a:t>.</a:t>
            </a:r>
          </a:p>
          <a:p>
            <a:r>
              <a:rPr lang="en-MY" dirty="0"/>
              <a:t>Lama-</a:t>
            </a:r>
            <a:r>
              <a:rPr lang="en-MY" dirty="0" err="1"/>
              <a:t>kelamaan</a:t>
            </a:r>
            <a:r>
              <a:rPr lang="en-MY" dirty="0"/>
              <a:t>, </a:t>
            </a:r>
            <a:r>
              <a:rPr lang="en-MY" dirty="0" err="1"/>
              <a:t>ini</a:t>
            </a:r>
            <a:r>
              <a:rPr lang="en-MY" dirty="0"/>
              <a:t> </a:t>
            </a:r>
            <a:r>
              <a:rPr lang="en-MY" dirty="0" err="1"/>
              <a:t>boleh</a:t>
            </a:r>
            <a:r>
              <a:rPr lang="en-MY" dirty="0"/>
              <a:t> </a:t>
            </a:r>
            <a:r>
              <a:rPr lang="en-MY" dirty="0" err="1"/>
              <a:t>membentuk</a:t>
            </a:r>
            <a:r>
              <a:rPr lang="en-MY" dirty="0"/>
              <a:t> </a:t>
            </a:r>
            <a:r>
              <a:rPr lang="en-MY" dirty="0" err="1"/>
              <a:t>masyarakat</a:t>
            </a:r>
            <a:r>
              <a:rPr lang="en-MY" dirty="0"/>
              <a:t> yang </a:t>
            </a:r>
            <a:r>
              <a:rPr lang="en-MY" dirty="0" err="1"/>
              <a:t>terlalu</a:t>
            </a:r>
            <a:r>
              <a:rPr lang="en-MY" dirty="0"/>
              <a:t> </a:t>
            </a:r>
            <a:r>
              <a:rPr lang="en-MY" dirty="0" err="1"/>
              <a:t>patuh</a:t>
            </a:r>
            <a:r>
              <a:rPr lang="en-MY" dirty="0"/>
              <a:t> kerana </a:t>
            </a:r>
            <a:r>
              <a:rPr lang="en-MY" dirty="0" err="1"/>
              <a:t>takut</a:t>
            </a:r>
            <a:r>
              <a:rPr lang="en-MY" dirty="0"/>
              <a:t> </a:t>
            </a:r>
            <a:r>
              <a:rPr lang="en-MY" dirty="0" err="1"/>
              <a:t>penalti</a:t>
            </a:r>
            <a:r>
              <a:rPr lang="en-MY" dirty="0"/>
              <a:t>, </a:t>
            </a:r>
            <a:r>
              <a:rPr lang="en-MY" dirty="0" err="1"/>
              <a:t>sekaligus</a:t>
            </a:r>
            <a:r>
              <a:rPr lang="en-MY" dirty="0"/>
              <a:t> </a:t>
            </a:r>
            <a:r>
              <a:rPr lang="en-MY" dirty="0" err="1"/>
              <a:t>mengurangkan</a:t>
            </a:r>
            <a:r>
              <a:rPr lang="en-MY" dirty="0"/>
              <a:t> </a:t>
            </a:r>
            <a:r>
              <a:rPr lang="en-MY" dirty="0" err="1"/>
              <a:t>kreativiti</a:t>
            </a:r>
            <a:r>
              <a:rPr lang="en-MY" dirty="0"/>
              <a:t> dan </a:t>
            </a:r>
            <a:r>
              <a:rPr lang="en-MY" dirty="0" err="1"/>
              <a:t>kebebasan</a:t>
            </a:r>
            <a:r>
              <a:rPr lang="en-MY" dirty="0"/>
              <a:t> </a:t>
            </a:r>
            <a:r>
              <a:rPr lang="en-MY" dirty="0" err="1"/>
              <a:t>berfikir</a:t>
            </a:r>
            <a:r>
              <a:rPr lang="en-MY" dirty="0"/>
              <a:t>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BAC45-E16F-49BB-98B3-75F8F285A3FC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557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BAC45-E16F-49BB-98B3-75F8F285A3FC}" type="slidenum">
              <a:rPr lang="en-MY" smtClean="0"/>
              <a:t>44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3326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i="1" dirty="0" err="1"/>
              <a:t>Maqasid</a:t>
            </a:r>
            <a:r>
              <a:rPr lang="en-MY" i="1" dirty="0"/>
              <a:t> </a:t>
            </a:r>
            <a:r>
              <a:rPr lang="en-MY" i="1" dirty="0" err="1"/>
              <a:t>shariaah</a:t>
            </a:r>
            <a:r>
              <a:rPr lang="en-MY" i="1" dirty="0"/>
              <a:t>: </a:t>
            </a:r>
            <a:r>
              <a:rPr lang="en-MY" i="1" dirty="0" err="1"/>
              <a:t>tujuan-tujuan</a:t>
            </a:r>
            <a:r>
              <a:rPr lang="en-MY" i="1" dirty="0"/>
              <a:t> </a:t>
            </a:r>
            <a:r>
              <a:rPr lang="en-MY" i="1" dirty="0" err="1"/>
              <a:t>utama</a:t>
            </a:r>
            <a:r>
              <a:rPr lang="en-MY" i="1" dirty="0"/>
              <a:t> dan hikmah</a:t>
            </a:r>
            <a:r>
              <a:rPr lang="en-MY" dirty="0"/>
              <a:t> di </a:t>
            </a:r>
            <a:r>
              <a:rPr lang="en-MY" dirty="0" err="1"/>
              <a:t>sebalik</a:t>
            </a:r>
            <a:r>
              <a:rPr lang="en-MY" dirty="0"/>
              <a:t> </a:t>
            </a:r>
            <a:r>
              <a:rPr lang="en-MY" dirty="0" err="1"/>
              <a:t>pensyariatan</a:t>
            </a:r>
            <a:r>
              <a:rPr lang="en-MY" dirty="0"/>
              <a:t> </a:t>
            </a:r>
            <a:r>
              <a:rPr lang="en-MY" dirty="0" err="1"/>
              <a:t>hukum</a:t>
            </a:r>
            <a:r>
              <a:rPr lang="en-MY" dirty="0"/>
              <a:t> Islam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BAC45-E16F-49BB-98B3-75F8F285A3FC}" type="slidenum">
              <a:rPr lang="en-MY" smtClean="0"/>
              <a:t>55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811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11" Type="http://schemas.openxmlformats.org/officeDocument/2006/relationships/image" Target="../media/image22.pn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hyperlink" Target="https://youtu.be/rxtwW4kzpYg?si=eg2KAgbtcc-2l7xM" TargetMode="External"/><Relationship Id="rId7" Type="http://schemas.openxmlformats.org/officeDocument/2006/relationships/image" Target="../media/image46.svg"/><Relationship Id="rId2" Type="http://schemas.openxmlformats.org/officeDocument/2006/relationships/slideLayout" Target="../slideLayouts/slideLayout7.xml"/><Relationship Id="rId1" Type="http://schemas.openxmlformats.org/officeDocument/2006/relationships/video" Target="https://youtu.be/gLoI9hAX9dw?si=3faIyPexUWFx24HN" TargetMode="Externa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7" Type="http://schemas.openxmlformats.org/officeDocument/2006/relationships/image" Target="../media/image54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1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jpeg"/><Relationship Id="rId4" Type="http://schemas.openxmlformats.org/officeDocument/2006/relationships/image" Target="../media/image5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jpe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gif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81.svg"/><Relationship Id="rId7" Type="http://schemas.openxmlformats.org/officeDocument/2006/relationships/image" Target="../media/image83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68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47.png"/><Relationship Id="rId4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jpeg"/><Relationship Id="rId4" Type="http://schemas.openxmlformats.org/officeDocument/2006/relationships/image" Target="../media/image9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sv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svg"/><Relationship Id="rId4" Type="http://schemas.openxmlformats.org/officeDocument/2006/relationships/image" Target="../media/image10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jpeg"/><Relationship Id="rId4" Type="http://schemas.openxmlformats.org/officeDocument/2006/relationships/image" Target="../media/image8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12.sv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98.png"/><Relationship Id="rId4" Type="http://schemas.openxmlformats.org/officeDocument/2006/relationships/image" Target="../media/image97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jpeg"/><Relationship Id="rId4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292727"/>
            <a:ext cx="18030636" cy="6523812"/>
          </a:xfrm>
          <a:custGeom>
            <a:avLst/>
            <a:gdLst/>
            <a:ahLst/>
            <a:cxnLst/>
            <a:rect l="l" t="t" r="r" b="b"/>
            <a:pathLst>
              <a:path w="18030636" h="6523812">
                <a:moveTo>
                  <a:pt x="0" y="0"/>
                </a:moveTo>
                <a:lnTo>
                  <a:pt x="18030636" y="0"/>
                </a:lnTo>
                <a:lnTo>
                  <a:pt x="18030636" y="6523812"/>
                </a:lnTo>
                <a:lnTo>
                  <a:pt x="0" y="6523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000" y="0"/>
            <a:ext cx="9144000" cy="10287000"/>
            <a:chOff x="0" y="0"/>
            <a:chExt cx="5370413" cy="6041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6"/>
          <p:cNvGrpSpPr/>
          <p:nvPr/>
        </p:nvGrpSpPr>
        <p:grpSpPr>
          <a:xfrm rot="-2500242">
            <a:off x="13100397" y="-2294649"/>
            <a:ext cx="844601" cy="14383169"/>
            <a:chOff x="0" y="0"/>
            <a:chExt cx="222446" cy="3788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446" cy="3788160"/>
            </a:xfrm>
            <a:custGeom>
              <a:avLst/>
              <a:gdLst/>
              <a:ahLst/>
              <a:cxnLst/>
              <a:rect l="l" t="t" r="r" b="b"/>
              <a:pathLst>
                <a:path w="222446" h="3788160">
                  <a:moveTo>
                    <a:pt x="0" y="0"/>
                  </a:moveTo>
                  <a:lnTo>
                    <a:pt x="222446" y="0"/>
                  </a:lnTo>
                  <a:lnTo>
                    <a:pt x="222446" y="3788160"/>
                  </a:lnTo>
                  <a:lnTo>
                    <a:pt x="0" y="3788160"/>
                  </a:lnTo>
                  <a:close/>
                </a:path>
              </a:pathLst>
            </a:custGeom>
            <a:gradFill rotWithShape="1">
              <a:gsLst>
                <a:gs pos="0">
                  <a:srgbClr val="009CDF">
                    <a:alpha val="100000"/>
                  </a:srgbClr>
                </a:gs>
                <a:gs pos="100000">
                  <a:srgbClr val="004AAC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2446" cy="3797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3162300"/>
            <a:ext cx="9383756" cy="62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30"/>
              </a:lnSpc>
            </a:pPr>
            <a:r>
              <a:rPr lang="en-US" sz="3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Pelajar</a:t>
            </a:r>
            <a:r>
              <a:rPr lang="en-US" sz="3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akan</a:t>
            </a:r>
            <a:r>
              <a:rPr lang="en-US" sz="3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dapat</a:t>
            </a:r>
            <a:r>
              <a:rPr lang="en-US" sz="3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3543" y="981075"/>
            <a:ext cx="8380457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6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2: BAB ADAB</a:t>
            </a:r>
          </a:p>
          <a:p>
            <a:pPr algn="l">
              <a:lnSpc>
                <a:spcPts val="7604"/>
              </a:lnSpc>
            </a:pPr>
            <a:endParaRPr lang="en-US" sz="64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63543" y="4617342"/>
            <a:ext cx="1335896" cy="1230802"/>
            <a:chOff x="0" y="0"/>
            <a:chExt cx="1781195" cy="164107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21656" y="4545828"/>
            <a:ext cx="4074482" cy="141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Mengenali maksud dan nilai adab dalam konteks teknologi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1656" y="6315535"/>
            <a:ext cx="3836357" cy="141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Bezakan antara tindakan beretika dan hanya efisien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89234" y="4719805"/>
            <a:ext cx="4199576" cy="94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Menganalisis dilema moral dalam AI moden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79709" y="6315535"/>
            <a:ext cx="5161846" cy="141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Menyuarakan pandangan seimbang antara inovasi dan nilai manusia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66685" y="6391735"/>
            <a:ext cx="1335896" cy="1230802"/>
            <a:chOff x="0" y="0"/>
            <a:chExt cx="1781195" cy="164107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24738" y="4617342"/>
            <a:ext cx="1335896" cy="1230802"/>
            <a:chOff x="0" y="0"/>
            <a:chExt cx="1781195" cy="164107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24738" y="6391735"/>
            <a:ext cx="1335896" cy="1230802"/>
            <a:chOff x="0" y="0"/>
            <a:chExt cx="1781195" cy="164107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2847432" y="-3676562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 rot="-2862000">
            <a:off x="1740633" y="1703509"/>
            <a:ext cx="2403184" cy="12572306"/>
            <a:chOff x="0" y="0"/>
            <a:chExt cx="632937" cy="33112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2937" cy="3311225"/>
            </a:xfrm>
            <a:custGeom>
              <a:avLst/>
              <a:gdLst/>
              <a:ahLst/>
              <a:cxnLst/>
              <a:rect l="l" t="t" r="r" b="b"/>
              <a:pathLst>
                <a:path w="632937" h="3311225">
                  <a:moveTo>
                    <a:pt x="0" y="0"/>
                  </a:moveTo>
                  <a:lnTo>
                    <a:pt x="632937" y="0"/>
                  </a:lnTo>
                  <a:lnTo>
                    <a:pt x="632937" y="3311225"/>
                  </a:lnTo>
                  <a:lnTo>
                    <a:pt x="0" y="3311225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2937" cy="334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862000">
            <a:off x="-494139" y="-2266073"/>
            <a:ext cx="2307298" cy="8209292"/>
            <a:chOff x="0" y="0"/>
            <a:chExt cx="607683" cy="2162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683" cy="2162118"/>
            </a:xfrm>
            <a:custGeom>
              <a:avLst/>
              <a:gdLst/>
              <a:ahLst/>
              <a:cxnLst/>
              <a:rect l="l" t="t" r="r" b="b"/>
              <a:pathLst>
                <a:path w="607683" h="2162118">
                  <a:moveTo>
                    <a:pt x="0" y="0"/>
                  </a:moveTo>
                  <a:lnTo>
                    <a:pt x="607683" y="0"/>
                  </a:lnTo>
                  <a:lnTo>
                    <a:pt x="607683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7683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862000">
            <a:off x="2243936" y="-3123111"/>
            <a:ext cx="593345" cy="8209292"/>
            <a:chOff x="0" y="0"/>
            <a:chExt cx="156272" cy="21621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-1764817" y="1028700"/>
            <a:ext cx="8229600" cy="82296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3C7A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1548572" y="1244945"/>
            <a:ext cx="7797110" cy="7797110"/>
          </a:xfrm>
          <a:custGeom>
            <a:avLst/>
            <a:gdLst/>
            <a:ahLst/>
            <a:cxnLst/>
            <a:rect l="l" t="t" r="r" b="b"/>
            <a:pathLst>
              <a:path w="7797110" h="7797110">
                <a:moveTo>
                  <a:pt x="7797110" y="0"/>
                </a:moveTo>
                <a:lnTo>
                  <a:pt x="0" y="0"/>
                </a:lnTo>
                <a:lnTo>
                  <a:pt x="0" y="7797110"/>
                </a:lnTo>
                <a:lnTo>
                  <a:pt x="7797110" y="7797110"/>
                </a:lnTo>
                <a:lnTo>
                  <a:pt x="77971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8" name="Group 18"/>
          <p:cNvGrpSpPr/>
          <p:nvPr/>
        </p:nvGrpSpPr>
        <p:grpSpPr>
          <a:xfrm>
            <a:off x="6936532" y="952165"/>
            <a:ext cx="11214001" cy="1783386"/>
            <a:chOff x="0" y="0"/>
            <a:chExt cx="14952002" cy="237784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23825"/>
              <a:ext cx="14952002" cy="1396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19"/>
                </a:lnSpc>
              </a:pPr>
              <a:r>
                <a:rPr lang="en-US" sz="6300" b="1">
                  <a:solidFill>
                    <a:srgbClr val="FFFF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NILAI ADAB DALAM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81483"/>
              <a:ext cx="14952002" cy="1396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19"/>
                </a:lnSpc>
              </a:pPr>
              <a:r>
                <a:rPr lang="en-US" sz="6300" b="1">
                  <a:solidFill>
                    <a:srgbClr val="69D6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PEMBANGUNAN 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36532" y="3336254"/>
            <a:ext cx="10715840" cy="4955811"/>
            <a:chOff x="0" y="0"/>
            <a:chExt cx="14287787" cy="660774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4287787" cy="1590907"/>
              <a:chOff x="0" y="0"/>
              <a:chExt cx="5912659" cy="65835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912659" cy="658359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658359">
                    <a:moveTo>
                      <a:pt x="5709459" y="0"/>
                    </a:moveTo>
                    <a:cubicBezTo>
                      <a:pt x="5821683" y="0"/>
                      <a:pt x="5912659" y="147379"/>
                      <a:pt x="5912659" y="329179"/>
                    </a:cubicBezTo>
                    <a:cubicBezTo>
                      <a:pt x="5912659" y="510980"/>
                      <a:pt x="5821683" y="658359"/>
                      <a:pt x="5709459" y="658359"/>
                    </a:cubicBezTo>
                    <a:lnTo>
                      <a:pt x="203200" y="658359"/>
                    </a:lnTo>
                    <a:cubicBezTo>
                      <a:pt x="90976" y="658359"/>
                      <a:pt x="0" y="510980"/>
                      <a:pt x="0" y="329179"/>
                    </a:cubicBezTo>
                    <a:cubicBezTo>
                      <a:pt x="0" y="147379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5912659" cy="6964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1810831"/>
              <a:ext cx="14287787" cy="1697486"/>
              <a:chOff x="0" y="0"/>
              <a:chExt cx="5912659" cy="70246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912659" cy="702464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702464">
                    <a:moveTo>
                      <a:pt x="5709459" y="0"/>
                    </a:moveTo>
                    <a:cubicBezTo>
                      <a:pt x="5821683" y="0"/>
                      <a:pt x="5912659" y="157252"/>
                      <a:pt x="5912659" y="351232"/>
                    </a:cubicBezTo>
                    <a:cubicBezTo>
                      <a:pt x="5912659" y="545212"/>
                      <a:pt x="5821683" y="702464"/>
                      <a:pt x="5709459" y="702464"/>
                    </a:cubicBezTo>
                    <a:lnTo>
                      <a:pt x="203200" y="702464"/>
                    </a:lnTo>
                    <a:cubicBezTo>
                      <a:pt x="90976" y="702464"/>
                      <a:pt x="0" y="545212"/>
                      <a:pt x="0" y="351232"/>
                    </a:cubicBezTo>
                    <a:cubicBezTo>
                      <a:pt x="0" y="15725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5912659" cy="740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3760609"/>
              <a:ext cx="14287787" cy="1115427"/>
              <a:chOff x="0" y="0"/>
              <a:chExt cx="5912659" cy="46159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912659" cy="461593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461593">
                    <a:moveTo>
                      <a:pt x="5709459" y="0"/>
                    </a:moveTo>
                    <a:cubicBezTo>
                      <a:pt x="5821683" y="0"/>
                      <a:pt x="5912659" y="103331"/>
                      <a:pt x="5912659" y="230796"/>
                    </a:cubicBezTo>
                    <a:cubicBezTo>
                      <a:pt x="5912659" y="358262"/>
                      <a:pt x="5821683" y="461593"/>
                      <a:pt x="5709459" y="461593"/>
                    </a:cubicBezTo>
                    <a:lnTo>
                      <a:pt x="203200" y="461593"/>
                    </a:lnTo>
                    <a:cubicBezTo>
                      <a:pt x="90976" y="461593"/>
                      <a:pt x="0" y="358262"/>
                      <a:pt x="0" y="230796"/>
                    </a:cubicBezTo>
                    <a:cubicBezTo>
                      <a:pt x="0" y="10333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5912659" cy="49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5125549"/>
              <a:ext cx="14287787" cy="1482199"/>
              <a:chOff x="0" y="0"/>
              <a:chExt cx="5912659" cy="61337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912659" cy="613373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613373">
                    <a:moveTo>
                      <a:pt x="5709459" y="0"/>
                    </a:moveTo>
                    <a:cubicBezTo>
                      <a:pt x="5821683" y="0"/>
                      <a:pt x="5912659" y="137308"/>
                      <a:pt x="5912659" y="306686"/>
                    </a:cubicBezTo>
                    <a:cubicBezTo>
                      <a:pt x="5912659" y="476064"/>
                      <a:pt x="5821683" y="613373"/>
                      <a:pt x="5709459" y="613373"/>
                    </a:cubicBezTo>
                    <a:lnTo>
                      <a:pt x="203200" y="613373"/>
                    </a:lnTo>
                    <a:cubicBezTo>
                      <a:pt x="90976" y="613373"/>
                      <a:pt x="0" y="476064"/>
                      <a:pt x="0" y="306686"/>
                    </a:cubicBezTo>
                    <a:cubicBezTo>
                      <a:pt x="0" y="13730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5912659" cy="6514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658408" y="85937"/>
              <a:ext cx="12970970" cy="131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6"/>
                </a:lnSpc>
                <a:spcBef>
                  <a:spcPct val="0"/>
                </a:spcBef>
              </a:pPr>
              <a:r>
                <a:rPr lang="en-US" sz="276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AKHLAK DAN INTEGRITI SEBAGAI TERAS PEMBANGUNAN TEKNOLOGI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4979" y="1947454"/>
              <a:ext cx="12970970" cy="131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6"/>
                </a:lnSpc>
                <a:spcBef>
                  <a:spcPct val="0"/>
                </a:spcBef>
              </a:pPr>
              <a:r>
                <a:rPr lang="en-US" sz="2761" b="1" dirty="0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NILAI MAQASID SYARIAH: MENJAGA NYAWA, AKAL, HARTA, KETURUNAN, AGAMA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408" y="3955658"/>
              <a:ext cx="12970970" cy="662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6"/>
                </a:lnSpc>
                <a:spcBef>
                  <a:spcPct val="0"/>
                </a:spcBef>
              </a:pPr>
              <a:r>
                <a:rPr lang="en-US" sz="276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MANUSIA MENGAWAL TEKNOLOGI, BUKAN DIKAWAL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408" y="5187116"/>
              <a:ext cx="12970970" cy="131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6"/>
                </a:lnSpc>
                <a:spcBef>
                  <a:spcPct val="0"/>
                </a:spcBef>
              </a:pPr>
              <a:r>
                <a:rPr lang="en-US" sz="2761" b="1" dirty="0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PERANAN BUDAYA DAN NORMA TEMPATAN DALAM REKA BENTUK SISTEM PINTAR</a:t>
              </a:r>
            </a:p>
          </p:txBody>
        </p:sp>
      </p:grpSp>
      <p:sp>
        <p:nvSpPr>
          <p:cNvPr id="39" name="Freeform 32">
            <a:extLst>
              <a:ext uri="{FF2B5EF4-FFF2-40B4-BE49-F238E27FC236}">
                <a16:creationId xmlns:a16="http://schemas.microsoft.com/office/drawing/2014/main" id="{BF3B3A47-2D9A-10F0-C4BD-442D1213CDD3}"/>
              </a:ext>
            </a:extLst>
          </p:cNvPr>
          <p:cNvSpPr/>
          <p:nvPr/>
        </p:nvSpPr>
        <p:spPr>
          <a:xfrm>
            <a:off x="1524000" y="8602525"/>
            <a:ext cx="16241834" cy="1570175"/>
          </a:xfrm>
          <a:custGeom>
            <a:avLst/>
            <a:gdLst/>
            <a:ahLst/>
            <a:cxnLst/>
            <a:rect l="l" t="t" r="r" b="b"/>
            <a:pathLst>
              <a:path w="5912659" h="613373">
                <a:moveTo>
                  <a:pt x="5709459" y="0"/>
                </a:moveTo>
                <a:cubicBezTo>
                  <a:pt x="5821683" y="0"/>
                  <a:pt x="5912659" y="137308"/>
                  <a:pt x="5912659" y="306686"/>
                </a:cubicBezTo>
                <a:cubicBezTo>
                  <a:pt x="5912659" y="476064"/>
                  <a:pt x="5821683" y="613373"/>
                  <a:pt x="5709459" y="613373"/>
                </a:cubicBezTo>
                <a:lnTo>
                  <a:pt x="203200" y="613373"/>
                </a:lnTo>
                <a:cubicBezTo>
                  <a:pt x="90976" y="613373"/>
                  <a:pt x="0" y="476064"/>
                  <a:pt x="0" y="306686"/>
                </a:cubicBezTo>
                <a:cubicBezTo>
                  <a:pt x="0" y="137308"/>
                  <a:pt x="90976" y="0"/>
                  <a:pt x="203200" y="0"/>
                </a:cubicBezTo>
                <a:close/>
              </a:path>
            </a:pathLst>
          </a:custGeom>
          <a:solidFill>
            <a:schemeClr val="tx2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91BA0943-282A-6A83-9C7C-C0FBC873DBF0}"/>
              </a:ext>
            </a:extLst>
          </p:cNvPr>
          <p:cNvSpPr txBox="1"/>
          <p:nvPr/>
        </p:nvSpPr>
        <p:spPr>
          <a:xfrm>
            <a:off x="2527104" y="8648700"/>
            <a:ext cx="14744924" cy="1431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Codec Pro Ultra-Bold"/>
              </a:rPr>
              <a:t>In the Islamic context, adab goes beyond just manners — it refers to a comprehensive code of behavior covering: Respect for others, humility responsibility, acting with justice and kindness, observing proper conduct in worship, learning, and daily life 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65583348-F4F2-F5E7-A1E8-6F444FA89432}"/>
              </a:ext>
            </a:extLst>
          </p:cNvPr>
          <p:cNvSpPr/>
          <p:nvPr/>
        </p:nvSpPr>
        <p:spPr>
          <a:xfrm>
            <a:off x="-533400" y="2476500"/>
            <a:ext cx="5715000" cy="518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/>
              <a:t>ADAB</a:t>
            </a:r>
            <a:endParaRPr lang="en-MY" sz="5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8183" y="1242799"/>
            <a:ext cx="1229163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DEFINISI 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98183" y="2403259"/>
            <a:ext cx="1229163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&amp; ADAB</a:t>
            </a:r>
          </a:p>
        </p:txBody>
      </p:sp>
      <p:sp>
        <p:nvSpPr>
          <p:cNvPr id="4" name="Freeform 4"/>
          <p:cNvSpPr/>
          <p:nvPr/>
        </p:nvSpPr>
        <p:spPr>
          <a:xfrm rot="-6895540" flipH="1" flipV="1">
            <a:off x="16249887" y="-2195362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 rot="6894000" flipV="1">
            <a:off x="-5285944" y="-2195362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1209259" y="4540561"/>
            <a:ext cx="7770172" cy="3713405"/>
            <a:chOff x="0" y="0"/>
            <a:chExt cx="954239" cy="4560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4240" cy="456036"/>
            </a:xfrm>
            <a:custGeom>
              <a:avLst/>
              <a:gdLst/>
              <a:ahLst/>
              <a:cxnLst/>
              <a:rect l="l" t="t" r="r" b="b"/>
              <a:pathLst>
                <a:path w="954240" h="456036">
                  <a:moveTo>
                    <a:pt x="66756" y="0"/>
                  </a:moveTo>
                  <a:lnTo>
                    <a:pt x="887483" y="0"/>
                  </a:lnTo>
                  <a:cubicBezTo>
                    <a:pt x="924352" y="0"/>
                    <a:pt x="954240" y="29888"/>
                    <a:pt x="954240" y="66756"/>
                  </a:cubicBezTo>
                  <a:lnTo>
                    <a:pt x="954240" y="389280"/>
                  </a:lnTo>
                  <a:cubicBezTo>
                    <a:pt x="954240" y="426148"/>
                    <a:pt x="924352" y="456036"/>
                    <a:pt x="887483" y="456036"/>
                  </a:cubicBezTo>
                  <a:lnTo>
                    <a:pt x="66756" y="456036"/>
                  </a:lnTo>
                  <a:cubicBezTo>
                    <a:pt x="29888" y="456036"/>
                    <a:pt x="0" y="426148"/>
                    <a:pt x="0" y="389280"/>
                  </a:cubicBezTo>
                  <a:lnTo>
                    <a:pt x="0" y="66756"/>
                  </a:lnTo>
                  <a:cubicBezTo>
                    <a:pt x="0" y="29888"/>
                    <a:pt x="29888" y="0"/>
                    <a:pt x="667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4239" cy="494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69687" y="4540561"/>
            <a:ext cx="7770172" cy="3713405"/>
            <a:chOff x="0" y="0"/>
            <a:chExt cx="954239" cy="4560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4240" cy="456036"/>
            </a:xfrm>
            <a:custGeom>
              <a:avLst/>
              <a:gdLst/>
              <a:ahLst/>
              <a:cxnLst/>
              <a:rect l="l" t="t" r="r" b="b"/>
              <a:pathLst>
                <a:path w="954240" h="456036">
                  <a:moveTo>
                    <a:pt x="66756" y="0"/>
                  </a:moveTo>
                  <a:lnTo>
                    <a:pt x="887483" y="0"/>
                  </a:lnTo>
                  <a:cubicBezTo>
                    <a:pt x="924352" y="0"/>
                    <a:pt x="954240" y="29888"/>
                    <a:pt x="954240" y="66756"/>
                  </a:cubicBezTo>
                  <a:lnTo>
                    <a:pt x="954240" y="389280"/>
                  </a:lnTo>
                  <a:cubicBezTo>
                    <a:pt x="954240" y="426148"/>
                    <a:pt x="924352" y="456036"/>
                    <a:pt x="887483" y="456036"/>
                  </a:cubicBezTo>
                  <a:lnTo>
                    <a:pt x="66756" y="456036"/>
                  </a:lnTo>
                  <a:cubicBezTo>
                    <a:pt x="29888" y="456036"/>
                    <a:pt x="0" y="426148"/>
                    <a:pt x="0" y="389280"/>
                  </a:cubicBezTo>
                  <a:lnTo>
                    <a:pt x="0" y="66756"/>
                  </a:lnTo>
                  <a:cubicBezTo>
                    <a:pt x="0" y="29888"/>
                    <a:pt x="29888" y="0"/>
                    <a:pt x="667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54239" cy="494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49849" y="5728636"/>
            <a:ext cx="6618460" cy="222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Sistem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atau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mesin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yang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meniru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kecerdasan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manusia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untuk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melakukan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tugas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seperti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memahami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bahasa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membuat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keputusan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dan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mengenal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pasti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pola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5543" y="5903469"/>
            <a:ext cx="6618460" cy="178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Nilai dan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tingkah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laku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yang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mencerminkan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kesopanan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keilmuan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tanggungjawab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dan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akhlak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dalam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berinteraksi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—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dengan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manusia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dan </a:t>
            </a:r>
            <a:r>
              <a:rPr lang="en-US" sz="2501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teknologi</a:t>
            </a:r>
            <a:r>
              <a:rPr lang="en-US" sz="2501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85115" y="4896666"/>
            <a:ext cx="6618460" cy="674808"/>
            <a:chOff x="0" y="0"/>
            <a:chExt cx="398594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85940" cy="406400"/>
            </a:xfrm>
            <a:custGeom>
              <a:avLst/>
              <a:gdLst/>
              <a:ahLst/>
              <a:cxnLst/>
              <a:rect l="l" t="t" r="r" b="b"/>
              <a:pathLst>
                <a:path w="3985940" h="406400">
                  <a:moveTo>
                    <a:pt x="3782740" y="0"/>
                  </a:moveTo>
                  <a:cubicBezTo>
                    <a:pt x="3894964" y="0"/>
                    <a:pt x="3985940" y="90976"/>
                    <a:pt x="3985940" y="203200"/>
                  </a:cubicBezTo>
                  <a:cubicBezTo>
                    <a:pt x="3985940" y="315424"/>
                    <a:pt x="3894964" y="406400"/>
                    <a:pt x="37827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98594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45543" y="4896666"/>
            <a:ext cx="6618460" cy="674808"/>
            <a:chOff x="0" y="0"/>
            <a:chExt cx="398594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85940" cy="406400"/>
            </a:xfrm>
            <a:custGeom>
              <a:avLst/>
              <a:gdLst/>
              <a:ahLst/>
              <a:cxnLst/>
              <a:rect l="l" t="t" r="r" b="b"/>
              <a:pathLst>
                <a:path w="3985940" h="406400">
                  <a:moveTo>
                    <a:pt x="3782740" y="0"/>
                  </a:moveTo>
                  <a:cubicBezTo>
                    <a:pt x="3894964" y="0"/>
                    <a:pt x="3985940" y="90976"/>
                    <a:pt x="3985940" y="203200"/>
                  </a:cubicBezTo>
                  <a:cubicBezTo>
                    <a:pt x="3985940" y="315424"/>
                    <a:pt x="3894964" y="406400"/>
                    <a:pt x="37827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98594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90106" y="4985254"/>
            <a:ext cx="6008477" cy="47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KECERDASAN BUATAN (AI)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50534" y="4985254"/>
            <a:ext cx="6008477" cy="47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ADAB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979430" y="6397263"/>
            <a:ext cx="690257" cy="0"/>
          </a:xfrm>
          <a:prstGeom prst="line">
            <a:avLst/>
          </a:prstGeom>
          <a:ln w="38100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23" name="Freeform 23"/>
          <p:cNvSpPr/>
          <p:nvPr/>
        </p:nvSpPr>
        <p:spPr>
          <a:xfrm>
            <a:off x="4791188" y="7480213"/>
            <a:ext cx="3930501" cy="568285"/>
          </a:xfrm>
          <a:custGeom>
            <a:avLst/>
            <a:gdLst/>
            <a:ahLst/>
            <a:cxnLst/>
            <a:rect l="l" t="t" r="r" b="b"/>
            <a:pathLst>
              <a:path w="3930501" h="568285">
                <a:moveTo>
                  <a:pt x="0" y="0"/>
                </a:moveTo>
                <a:lnTo>
                  <a:pt x="3930501" y="0"/>
                </a:lnTo>
                <a:lnTo>
                  <a:pt x="3930501" y="568285"/>
                </a:lnTo>
                <a:lnTo>
                  <a:pt x="0" y="568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45770" y="0"/>
            <a:ext cx="12842230" cy="2555428"/>
            <a:chOff x="0" y="0"/>
            <a:chExt cx="17122974" cy="340723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34712" b="38756"/>
            <a:stretch>
              <a:fillRect/>
            </a:stretch>
          </p:blipFill>
          <p:spPr>
            <a:xfrm>
              <a:off x="0" y="0"/>
              <a:ext cx="17122974" cy="340723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914400" y="647700"/>
            <a:ext cx="8888231" cy="8673968"/>
          </a:xfrm>
          <a:custGeom>
            <a:avLst/>
            <a:gdLst/>
            <a:ahLst/>
            <a:cxnLst/>
            <a:rect l="l" t="t" r="r" b="b"/>
            <a:pathLst>
              <a:path w="8888231" h="8673968">
                <a:moveTo>
                  <a:pt x="0" y="0"/>
                </a:moveTo>
                <a:lnTo>
                  <a:pt x="8888231" y="0"/>
                </a:lnTo>
                <a:lnTo>
                  <a:pt x="8888231" y="8673968"/>
                </a:lnTo>
                <a:lnTo>
                  <a:pt x="0" y="8673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5" b="-1235"/>
            </a:stretch>
          </a:blipFill>
        </p:spPr>
        <p:txBody>
          <a:bodyPr/>
          <a:lstStyle/>
          <a:p>
            <a:endParaRPr lang="en-MY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066522" y="4411571"/>
            <a:ext cx="3822345" cy="38415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29469" flipV="1">
            <a:off x="4463838" y="2638992"/>
            <a:ext cx="18821161" cy="8116626"/>
          </a:xfrm>
          <a:custGeom>
            <a:avLst/>
            <a:gdLst/>
            <a:ahLst/>
            <a:cxnLst/>
            <a:rect l="l" t="t" r="r" b="b"/>
            <a:pathLst>
              <a:path w="18821161" h="8116626">
                <a:moveTo>
                  <a:pt x="0" y="8116626"/>
                </a:moveTo>
                <a:lnTo>
                  <a:pt x="18821161" y="8116626"/>
                </a:lnTo>
                <a:lnTo>
                  <a:pt x="18821161" y="0"/>
                </a:lnTo>
                <a:lnTo>
                  <a:pt x="0" y="0"/>
                </a:lnTo>
                <a:lnTo>
                  <a:pt x="0" y="81166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6134243" y="1218105"/>
            <a:ext cx="9202703" cy="181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6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Transformasi Industri dengan AI 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6113306" y="1028700"/>
            <a:ext cx="1145994" cy="1145994"/>
          </a:xfrm>
          <a:custGeom>
            <a:avLst/>
            <a:gdLst/>
            <a:ahLst/>
            <a:cxnLst/>
            <a:rect l="l" t="t" r="r" b="b"/>
            <a:pathLst>
              <a:path w="1145994" h="1145994">
                <a:moveTo>
                  <a:pt x="1145994" y="1145994"/>
                </a:moveTo>
                <a:lnTo>
                  <a:pt x="0" y="1145994"/>
                </a:lnTo>
                <a:lnTo>
                  <a:pt x="0" y="0"/>
                </a:lnTo>
                <a:lnTo>
                  <a:pt x="1145994" y="0"/>
                </a:lnTo>
                <a:lnTo>
                  <a:pt x="1145994" y="11459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-375041" y="0"/>
            <a:ext cx="5820646" cy="10287000"/>
            <a:chOff x="0" y="0"/>
            <a:chExt cx="7760862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rcRect l="47579" r="14651"/>
            <a:stretch>
              <a:fillRect/>
            </a:stretch>
          </p:blipFill>
          <p:spPr>
            <a:xfrm flipH="1">
              <a:off x="0" y="0"/>
              <a:ext cx="7760862" cy="13716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227813" y="3960189"/>
            <a:ext cx="6601121" cy="2239374"/>
            <a:chOff x="0" y="0"/>
            <a:chExt cx="1738567" cy="5897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8567" cy="589794"/>
            </a:xfrm>
            <a:custGeom>
              <a:avLst/>
              <a:gdLst/>
              <a:ahLst/>
              <a:cxnLst/>
              <a:rect l="l" t="t" r="r" b="b"/>
              <a:pathLst>
                <a:path w="1738567" h="589794">
                  <a:moveTo>
                    <a:pt x="0" y="0"/>
                  </a:moveTo>
                  <a:lnTo>
                    <a:pt x="1738567" y="0"/>
                  </a:lnTo>
                  <a:lnTo>
                    <a:pt x="1738567" y="589794"/>
                  </a:lnTo>
                  <a:lnTo>
                    <a:pt x="0" y="589794"/>
                  </a:lnTo>
                  <a:close/>
                </a:path>
              </a:pathLst>
            </a:custGeom>
            <a:gradFill rotWithShape="1">
              <a:gsLst>
                <a:gs pos="0">
                  <a:srgbClr val="5347D9">
                    <a:alpha val="100000"/>
                  </a:srgbClr>
                </a:gs>
                <a:gs pos="100000">
                  <a:srgbClr val="5347D9">
                    <a:alpha val="485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738567" cy="656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21230" y="3960189"/>
            <a:ext cx="6534288" cy="2239374"/>
            <a:chOff x="0" y="0"/>
            <a:chExt cx="1720965" cy="5897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0965" cy="589794"/>
            </a:xfrm>
            <a:custGeom>
              <a:avLst/>
              <a:gdLst/>
              <a:ahLst/>
              <a:cxnLst/>
              <a:rect l="l" t="t" r="r" b="b"/>
              <a:pathLst>
                <a:path w="1720965" h="589794">
                  <a:moveTo>
                    <a:pt x="0" y="0"/>
                  </a:moveTo>
                  <a:lnTo>
                    <a:pt x="1720965" y="0"/>
                  </a:lnTo>
                  <a:lnTo>
                    <a:pt x="1720965" y="589794"/>
                  </a:lnTo>
                  <a:lnTo>
                    <a:pt x="0" y="589794"/>
                  </a:lnTo>
                  <a:close/>
                </a:path>
              </a:pathLst>
            </a:custGeom>
            <a:gradFill rotWithShape="1">
              <a:gsLst>
                <a:gs pos="0">
                  <a:srgbClr val="5347D9">
                    <a:alpha val="100000"/>
                  </a:srgbClr>
                </a:gs>
                <a:gs pos="100000">
                  <a:srgbClr val="5347D9">
                    <a:alpha val="485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720965" cy="656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27813" y="6697305"/>
            <a:ext cx="6601121" cy="2239374"/>
            <a:chOff x="0" y="0"/>
            <a:chExt cx="1738567" cy="589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8567" cy="589794"/>
            </a:xfrm>
            <a:custGeom>
              <a:avLst/>
              <a:gdLst/>
              <a:ahLst/>
              <a:cxnLst/>
              <a:rect l="l" t="t" r="r" b="b"/>
              <a:pathLst>
                <a:path w="1738567" h="589794">
                  <a:moveTo>
                    <a:pt x="0" y="0"/>
                  </a:moveTo>
                  <a:lnTo>
                    <a:pt x="1738567" y="0"/>
                  </a:lnTo>
                  <a:lnTo>
                    <a:pt x="1738567" y="589794"/>
                  </a:lnTo>
                  <a:lnTo>
                    <a:pt x="0" y="589794"/>
                  </a:lnTo>
                  <a:close/>
                </a:path>
              </a:pathLst>
            </a:custGeom>
            <a:gradFill rotWithShape="1">
              <a:gsLst>
                <a:gs pos="0">
                  <a:srgbClr val="5347D9">
                    <a:alpha val="100000"/>
                  </a:srgbClr>
                </a:gs>
                <a:gs pos="100000">
                  <a:srgbClr val="5347D9">
                    <a:alpha val="485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738567" cy="656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21230" y="6697305"/>
            <a:ext cx="6534288" cy="2239374"/>
            <a:chOff x="0" y="0"/>
            <a:chExt cx="1720965" cy="5897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20965" cy="589794"/>
            </a:xfrm>
            <a:custGeom>
              <a:avLst/>
              <a:gdLst/>
              <a:ahLst/>
              <a:cxnLst/>
              <a:rect l="l" t="t" r="r" b="b"/>
              <a:pathLst>
                <a:path w="1720965" h="589794">
                  <a:moveTo>
                    <a:pt x="0" y="0"/>
                  </a:moveTo>
                  <a:lnTo>
                    <a:pt x="1720965" y="0"/>
                  </a:lnTo>
                  <a:lnTo>
                    <a:pt x="1720965" y="589794"/>
                  </a:lnTo>
                  <a:lnTo>
                    <a:pt x="0" y="589794"/>
                  </a:lnTo>
                  <a:close/>
                </a:path>
              </a:pathLst>
            </a:custGeom>
            <a:gradFill rotWithShape="1">
              <a:gsLst>
                <a:gs pos="0">
                  <a:srgbClr val="5347D9">
                    <a:alpha val="100000"/>
                  </a:srgbClr>
                </a:gs>
                <a:gs pos="100000">
                  <a:srgbClr val="5347D9">
                    <a:alpha val="485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720965" cy="656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799259" y="4287239"/>
            <a:ext cx="647700" cy="501968"/>
          </a:xfrm>
          <a:custGeom>
            <a:avLst/>
            <a:gdLst/>
            <a:ahLst/>
            <a:cxnLst/>
            <a:rect l="l" t="t" r="r" b="b"/>
            <a:pathLst>
              <a:path w="647700" h="501968">
                <a:moveTo>
                  <a:pt x="0" y="0"/>
                </a:moveTo>
                <a:lnTo>
                  <a:pt x="647700" y="0"/>
                </a:lnTo>
                <a:lnTo>
                  <a:pt x="647700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0"/>
          <p:cNvSpPr/>
          <p:nvPr/>
        </p:nvSpPr>
        <p:spPr>
          <a:xfrm>
            <a:off x="15925800" y="4214373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1" name="Freeform 21"/>
          <p:cNvSpPr/>
          <p:nvPr/>
        </p:nvSpPr>
        <p:spPr>
          <a:xfrm>
            <a:off x="8799259" y="6952503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2" name="Freeform 22"/>
          <p:cNvSpPr/>
          <p:nvPr/>
        </p:nvSpPr>
        <p:spPr>
          <a:xfrm>
            <a:off x="15925800" y="6996223"/>
            <a:ext cx="647700" cy="560261"/>
          </a:xfrm>
          <a:custGeom>
            <a:avLst/>
            <a:gdLst/>
            <a:ahLst/>
            <a:cxnLst/>
            <a:rect l="l" t="t" r="r" b="b"/>
            <a:pathLst>
              <a:path w="647700" h="560261">
                <a:moveTo>
                  <a:pt x="0" y="0"/>
                </a:moveTo>
                <a:lnTo>
                  <a:pt x="647700" y="0"/>
                </a:lnTo>
                <a:lnTo>
                  <a:pt x="64770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3" name="TextBox 23"/>
          <p:cNvSpPr txBox="1"/>
          <p:nvPr/>
        </p:nvSpPr>
        <p:spPr>
          <a:xfrm>
            <a:off x="10758039" y="5024314"/>
            <a:ext cx="4896089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Pengesanan penipuan, pengurusan risiko, cadangan pelaburan automatik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51457" y="5024314"/>
            <a:ext cx="47655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Diagnosa penyakit secara automatik, ramalan kesihatan, chatbot perubatan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58039" y="7761430"/>
            <a:ext cx="4896089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Cadangan produk pintar, chatbot pelanggan, analisis tingkah laku pembeli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51457" y="7761430"/>
            <a:ext cx="47655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GPS pintar, perancangan laluan optimum, kenderaan pandu sendiri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58039" y="4483928"/>
            <a:ext cx="2042574" cy="426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Kewangan</a:t>
            </a:r>
            <a:endParaRPr lang="en-US" sz="25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751457" y="4483928"/>
            <a:ext cx="2166443" cy="426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Kesihatan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58038" y="7221044"/>
            <a:ext cx="2500761" cy="426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Peruncitan</a:t>
            </a:r>
            <a:endParaRPr lang="en-US" sz="25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751457" y="7221044"/>
            <a:ext cx="4575507" cy="426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Logistik &amp; </a:t>
            </a:r>
            <a:r>
              <a:rPr lang="en-US" sz="25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Pengangkutan</a:t>
            </a:r>
            <a:endParaRPr lang="en-US" sz="25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2659132" y="3532426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7" y="0"/>
                </a:lnTo>
                <a:lnTo>
                  <a:pt x="6140127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32" name="Freeform 32"/>
          <p:cNvSpPr/>
          <p:nvPr/>
        </p:nvSpPr>
        <p:spPr>
          <a:xfrm>
            <a:off x="9755518" y="3532426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7" y="0"/>
                </a:lnTo>
                <a:lnTo>
                  <a:pt x="6140127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33" name="Freeform 33"/>
          <p:cNvSpPr/>
          <p:nvPr/>
        </p:nvSpPr>
        <p:spPr>
          <a:xfrm>
            <a:off x="11228057" y="8471994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6" y="0"/>
                </a:lnTo>
                <a:lnTo>
                  <a:pt x="6140126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4" name="Freeform 34"/>
          <p:cNvSpPr/>
          <p:nvPr/>
        </p:nvSpPr>
        <p:spPr>
          <a:xfrm>
            <a:off x="4087686" y="8471994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7" y="0"/>
                </a:lnTo>
                <a:lnTo>
                  <a:pt x="6140127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990600" y="266700"/>
            <a:ext cx="16840200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Integrasi </a:t>
            </a:r>
            <a:r>
              <a:rPr lang="en-US" sz="5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Pandangan</a:t>
            </a:r>
            <a:r>
              <a:rPr lang="en-US" sz="5600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 Ulama </a:t>
            </a:r>
            <a:r>
              <a:rPr lang="en-US" sz="5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islam</a:t>
            </a:r>
            <a:r>
              <a:rPr lang="en-US" sz="5600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5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(Islamic scholar)</a:t>
            </a:r>
            <a:r>
              <a:rPr lang="en-US" sz="5600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5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dalam</a:t>
            </a:r>
            <a:r>
              <a:rPr lang="en-US" sz="5600" dirty="0">
                <a:solidFill>
                  <a:schemeClr val="accent5">
                    <a:lumMod val="20000"/>
                    <a:lumOff val="80000"/>
                  </a:schemeClr>
                </a:solidFill>
                <a:latin typeface="Organic"/>
                <a:ea typeface="Organic"/>
                <a:cs typeface="Organic"/>
                <a:sym typeface="Organic"/>
              </a:rPr>
              <a:t> Adab &amp; AI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430003" y="2203132"/>
            <a:ext cx="6810104" cy="1887558"/>
            <a:chOff x="0" y="-85725"/>
            <a:chExt cx="7910202" cy="1783391"/>
          </a:xfrm>
        </p:grpSpPr>
        <p:sp>
          <p:nvSpPr>
            <p:cNvPr id="5" name="TextBox 5"/>
            <p:cNvSpPr txBox="1"/>
            <p:nvPr/>
          </p:nvSpPr>
          <p:spPr>
            <a:xfrm>
              <a:off x="0" y="875635"/>
              <a:ext cx="7910202" cy="822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Dr. Zulkifli Al-Bakri: Adab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mendahului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ilmu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–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teknologi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mesti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disandarkan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pada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akhlak</a:t>
              </a:r>
              <a:endParaRPr lang="en-US" sz="2499" dirty="0">
                <a:solidFill>
                  <a:srgbClr val="FFFFFF"/>
                </a:solidFill>
                <a:latin typeface="Narkisim" panose="020F0502020204030204" pitchFamily="34" charset="-79"/>
                <a:ea typeface="Organic"/>
                <a:cs typeface="Narkisim" panose="020F0502020204030204" pitchFamily="34" charset="-79"/>
                <a:sym typeface="Organic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221131" cy="603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0003" y="7118622"/>
            <a:ext cx="6810104" cy="1887558"/>
            <a:chOff x="0" y="-85725"/>
            <a:chExt cx="7910202" cy="1783391"/>
          </a:xfrm>
        </p:grpSpPr>
        <p:sp>
          <p:nvSpPr>
            <p:cNvPr id="8" name="TextBox 8"/>
            <p:cNvSpPr txBox="1"/>
            <p:nvPr/>
          </p:nvSpPr>
          <p:spPr>
            <a:xfrm>
              <a:off x="0" y="875635"/>
              <a:ext cx="7910202" cy="822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Syeikh Wahbah al-Zuhayli: Khalifah perlu pastikan keadilan dan amanah teknologi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221131" cy="603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03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30003" y="4480703"/>
            <a:ext cx="6810104" cy="1887558"/>
            <a:chOff x="0" y="-85725"/>
            <a:chExt cx="7910202" cy="178339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75635"/>
              <a:ext cx="7910202" cy="822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Maqasid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Syariah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sebagai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prinsip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reka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bentuk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AI: jaga agama,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nyawa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,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akal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,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harta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,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keturunan</a:t>
              </a:r>
              <a:endParaRPr lang="en-US" sz="2499" dirty="0">
                <a:solidFill>
                  <a:srgbClr val="FFFFFF"/>
                </a:solidFill>
                <a:latin typeface="Narkisim" panose="020F0502020204030204" pitchFamily="34" charset="-79"/>
                <a:ea typeface="Organic"/>
                <a:cs typeface="Narkisim" panose="020F0502020204030204" pitchFamily="34" charset="-79"/>
                <a:sym typeface="Organic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221131" cy="603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02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rot="2060066">
            <a:off x="-462567" y="6475842"/>
            <a:ext cx="1589414" cy="2758201"/>
          </a:xfrm>
          <a:custGeom>
            <a:avLst/>
            <a:gdLst/>
            <a:ahLst/>
            <a:cxnLst/>
            <a:rect l="l" t="t" r="r" b="b"/>
            <a:pathLst>
              <a:path w="1589414" h="2758201">
                <a:moveTo>
                  <a:pt x="0" y="0"/>
                </a:moveTo>
                <a:lnTo>
                  <a:pt x="1589414" y="0"/>
                </a:lnTo>
                <a:lnTo>
                  <a:pt x="1589414" y="2758201"/>
                </a:lnTo>
                <a:lnTo>
                  <a:pt x="0" y="2758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Freeform 14"/>
          <p:cNvSpPr/>
          <p:nvPr/>
        </p:nvSpPr>
        <p:spPr>
          <a:xfrm rot="-5244104">
            <a:off x="15904201" y="1075348"/>
            <a:ext cx="2031517" cy="2039164"/>
          </a:xfrm>
          <a:custGeom>
            <a:avLst/>
            <a:gdLst/>
            <a:ahLst/>
            <a:cxnLst/>
            <a:rect l="l" t="t" r="r" b="b"/>
            <a:pathLst>
              <a:path w="2031517" h="2039164">
                <a:moveTo>
                  <a:pt x="0" y="0"/>
                </a:moveTo>
                <a:lnTo>
                  <a:pt x="2031517" y="0"/>
                </a:lnTo>
                <a:lnTo>
                  <a:pt x="2031517" y="2039164"/>
                </a:lnTo>
                <a:lnTo>
                  <a:pt x="0" y="203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5" name="Group 15"/>
          <p:cNvGrpSpPr/>
          <p:nvPr/>
        </p:nvGrpSpPr>
        <p:grpSpPr>
          <a:xfrm>
            <a:off x="9906000" y="3771900"/>
            <a:ext cx="7467600" cy="1784446"/>
            <a:chOff x="885093" y="-1"/>
            <a:chExt cx="8673908" cy="1685969"/>
          </a:xfrm>
        </p:grpSpPr>
        <p:sp>
          <p:nvSpPr>
            <p:cNvPr id="16" name="TextBox 16"/>
            <p:cNvSpPr txBox="1"/>
            <p:nvPr/>
          </p:nvSpPr>
          <p:spPr>
            <a:xfrm>
              <a:off x="885093" y="863937"/>
              <a:ext cx="8673908" cy="822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Fatwa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semasa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dan ijtihad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kolektif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penting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dalam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menangani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AI, blockchain dan metaverse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5093" y="-1"/>
              <a:ext cx="2435575" cy="603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04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06000" y="6134100"/>
            <a:ext cx="7467600" cy="1784446"/>
            <a:chOff x="885093" y="-58045"/>
            <a:chExt cx="8673908" cy="1685970"/>
          </a:xfrm>
        </p:grpSpPr>
        <p:sp>
          <p:nvSpPr>
            <p:cNvPr id="19" name="TextBox 19"/>
            <p:cNvSpPr txBox="1"/>
            <p:nvPr/>
          </p:nvSpPr>
          <p:spPr>
            <a:xfrm>
              <a:off x="885093" y="805893"/>
              <a:ext cx="8673908" cy="822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Syeikh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Taha Jabir: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Teknologi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perlu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seimbang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dengan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ihsan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dan al-‘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adl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 (</a:t>
              </a:r>
              <a:r>
                <a:rPr lang="en-US" sz="2499" dirty="0" err="1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keadilan</a:t>
              </a:r>
              <a:r>
                <a:rPr lang="en-US" sz="2499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3602" y="-58045"/>
              <a:ext cx="2435575" cy="603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Narkisim" panose="020F0502020204030204" pitchFamily="34" charset="-79"/>
                  <a:ea typeface="Organic"/>
                  <a:cs typeface="Narkisim" panose="020F0502020204030204" pitchFamily="34" charset="-79"/>
                  <a:sym typeface="Organic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6113306" y="1028700"/>
            <a:ext cx="1145994" cy="1145994"/>
          </a:xfrm>
          <a:custGeom>
            <a:avLst/>
            <a:gdLst/>
            <a:ahLst/>
            <a:cxnLst/>
            <a:rect l="l" t="t" r="r" b="b"/>
            <a:pathLst>
              <a:path w="1145994" h="1145994">
                <a:moveTo>
                  <a:pt x="1145994" y="1145994"/>
                </a:moveTo>
                <a:lnTo>
                  <a:pt x="0" y="1145994"/>
                </a:lnTo>
                <a:lnTo>
                  <a:pt x="0" y="0"/>
                </a:lnTo>
                <a:lnTo>
                  <a:pt x="1145994" y="0"/>
                </a:lnTo>
                <a:lnTo>
                  <a:pt x="1145994" y="11459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2586346" y="3629475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7" y="0"/>
                </a:lnTo>
                <a:lnTo>
                  <a:pt x="6140127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682732" y="3629475"/>
            <a:ext cx="6140127" cy="887760"/>
          </a:xfrm>
          <a:custGeom>
            <a:avLst/>
            <a:gdLst/>
            <a:ahLst/>
            <a:cxnLst/>
            <a:rect l="l" t="t" r="r" b="b"/>
            <a:pathLst>
              <a:path w="6140127" h="887760">
                <a:moveTo>
                  <a:pt x="0" y="0"/>
                </a:moveTo>
                <a:lnTo>
                  <a:pt x="6140127" y="0"/>
                </a:lnTo>
                <a:lnTo>
                  <a:pt x="6140127" y="887760"/>
                </a:lnTo>
                <a:lnTo>
                  <a:pt x="0" y="88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-2057400" y="0"/>
            <a:ext cx="10407746" cy="6660958"/>
          </a:xfrm>
          <a:custGeom>
            <a:avLst/>
            <a:gdLst/>
            <a:ahLst/>
            <a:cxnLst/>
            <a:rect l="l" t="t" r="r" b="b"/>
            <a:pathLst>
              <a:path w="10407746" h="6660958">
                <a:moveTo>
                  <a:pt x="0" y="0"/>
                </a:moveTo>
                <a:lnTo>
                  <a:pt x="10407746" y="0"/>
                </a:lnTo>
                <a:lnTo>
                  <a:pt x="10407746" y="6660958"/>
                </a:lnTo>
                <a:lnTo>
                  <a:pt x="0" y="6660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1524000" y="1257300"/>
            <a:ext cx="14859000" cy="85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67"/>
              </a:lnSpc>
            </a:pPr>
            <a:r>
              <a:rPr lang="en-US" sz="55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Penggunaan</a:t>
            </a:r>
            <a:r>
              <a:rPr lang="en-US" sz="55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5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Teknologi</a:t>
            </a:r>
            <a:r>
              <a:rPr lang="en-US" sz="55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5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Menurut</a:t>
            </a:r>
            <a:r>
              <a:rPr lang="en-US" sz="55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Islam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1400" y="2857500"/>
            <a:ext cx="12268200" cy="510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"Bagi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mengelakkan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impak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negatif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media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sosial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/AI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terus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berleluasa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, garis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panduan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berpaksikan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Maqasid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Syariah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perlu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diwujudkan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segera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–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berlandaskan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 al-Quran dan al-Sunnah."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🧩 (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Rujukan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: Nu’man </a:t>
            </a:r>
            <a:r>
              <a:rPr lang="en-US" sz="4500" dirty="0" err="1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Jughaim</a:t>
            </a:r>
            <a:r>
              <a:rPr lang="en-US" sz="4500" dirty="0">
                <a:solidFill>
                  <a:srgbClr val="FFFFFF"/>
                </a:solidFill>
                <a:latin typeface="Narkisim" panose="020E0502050101010101" pitchFamily="34" charset="-79"/>
                <a:ea typeface="Open Sans"/>
                <a:cs typeface="Narkisim" panose="020E0502050101010101" pitchFamily="34" charset="-79"/>
                <a:sym typeface="Open Sans"/>
              </a:rPr>
              <a:t>, 2016)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332061" y="297234"/>
            <a:ext cx="9691392" cy="9760529"/>
          </a:xfrm>
          <a:custGeom>
            <a:avLst/>
            <a:gdLst/>
            <a:ahLst/>
            <a:cxnLst/>
            <a:rect l="l" t="t" r="r" b="b"/>
            <a:pathLst>
              <a:path w="9691392" h="9760529">
                <a:moveTo>
                  <a:pt x="0" y="0"/>
                </a:moveTo>
                <a:lnTo>
                  <a:pt x="9691392" y="0"/>
                </a:lnTo>
                <a:lnTo>
                  <a:pt x="9691392" y="9760529"/>
                </a:lnTo>
                <a:lnTo>
                  <a:pt x="0" y="9760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5599298" y="2435225"/>
            <a:ext cx="7089405" cy="530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5 Kajian Kes AI yang Menggugat Nilai Kemanusiaan &amp; Adab Sejagat</a:t>
            </a:r>
          </a:p>
        </p:txBody>
      </p:sp>
      <p:sp>
        <p:nvSpPr>
          <p:cNvPr id="5" name="Freeform 5"/>
          <p:cNvSpPr/>
          <p:nvPr/>
        </p:nvSpPr>
        <p:spPr>
          <a:xfrm>
            <a:off x="-571205" y="4256076"/>
            <a:ext cx="6170503" cy="6304473"/>
          </a:xfrm>
          <a:custGeom>
            <a:avLst/>
            <a:gdLst/>
            <a:ahLst/>
            <a:cxnLst/>
            <a:rect l="l" t="t" r="r" b="b"/>
            <a:pathLst>
              <a:path w="6170503" h="6304473">
                <a:moveTo>
                  <a:pt x="0" y="0"/>
                </a:moveTo>
                <a:lnTo>
                  <a:pt x="6170503" y="0"/>
                </a:lnTo>
                <a:lnTo>
                  <a:pt x="6170503" y="6304472"/>
                </a:lnTo>
                <a:lnTo>
                  <a:pt x="0" y="630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496B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717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464813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22134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97787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2258466" y="2859805"/>
            <a:ext cx="13771067" cy="5869917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759294" y="3670658"/>
            <a:ext cx="10769411" cy="418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  <a:spcBef>
                <a:spcPct val="0"/>
              </a:spcBef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Contoh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Sistem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AI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penghantaran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makanan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(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UberEats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/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FoodPanda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)</a:t>
            </a: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  <a:spcBef>
                <a:spcPct val="0"/>
              </a:spcBef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Hilang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empati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Penilaian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tidak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adil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Mendorong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burnout</a:t>
            </a: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1921" y="1028700"/>
            <a:ext cx="15256874" cy="1037426"/>
            <a:chOff x="0" y="0"/>
            <a:chExt cx="20342498" cy="1383234"/>
          </a:xfrm>
        </p:grpSpPr>
        <p:sp>
          <p:nvSpPr>
            <p:cNvPr id="9" name="TextBox 9"/>
            <p:cNvSpPr txBox="1"/>
            <p:nvPr/>
          </p:nvSpPr>
          <p:spPr>
            <a:xfrm>
              <a:off x="1643516" y="179019"/>
              <a:ext cx="18698982" cy="939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969"/>
                </a:lnSpc>
                <a:spcBef>
                  <a:spcPct val="0"/>
                </a:spcBef>
              </a:pPr>
              <a:r>
                <a:rPr lang="en-US" sz="4263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AI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Mengeksploitasi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Pekerja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Gig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383234" cy="1383234"/>
            </a:xfrm>
            <a:custGeom>
              <a:avLst/>
              <a:gdLst/>
              <a:ahLst/>
              <a:cxnLst/>
              <a:rect l="l" t="t" r="r" b="b"/>
              <a:pathLst>
                <a:path w="1383234" h="1383234">
                  <a:moveTo>
                    <a:pt x="0" y="0"/>
                  </a:moveTo>
                  <a:lnTo>
                    <a:pt x="1383234" y="0"/>
                  </a:lnTo>
                  <a:lnTo>
                    <a:pt x="1383234" y="1383234"/>
                  </a:lnTo>
                  <a:lnTo>
                    <a:pt x="0" y="138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3422" y="380811"/>
              <a:ext cx="516391" cy="573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 b="1" u="none" strike="noStrike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1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3208108" y="5971208"/>
            <a:ext cx="5079892" cy="4315792"/>
          </a:xfrm>
          <a:custGeom>
            <a:avLst/>
            <a:gdLst/>
            <a:ahLst/>
            <a:cxnLst/>
            <a:rect l="l" t="t" r="r" b="b"/>
            <a:pathLst>
              <a:path w="5079892" h="4315792">
                <a:moveTo>
                  <a:pt x="0" y="0"/>
                </a:moveTo>
                <a:lnTo>
                  <a:pt x="5079892" y="0"/>
                </a:lnTo>
                <a:lnTo>
                  <a:pt x="5079892" y="4315792"/>
                </a:lnTo>
                <a:lnTo>
                  <a:pt x="0" y="43157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607B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02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790" y="-4462290"/>
            <a:ext cx="19211580" cy="19211580"/>
          </a:xfrm>
          <a:custGeom>
            <a:avLst/>
            <a:gdLst/>
            <a:ahLst/>
            <a:cxnLst/>
            <a:rect l="l" t="t" r="r" b="b"/>
            <a:pathLst>
              <a:path w="19211580" h="19211580">
                <a:moveTo>
                  <a:pt x="0" y="0"/>
                </a:moveTo>
                <a:lnTo>
                  <a:pt x="19211580" y="0"/>
                </a:lnTo>
                <a:lnTo>
                  <a:pt x="19211580" y="19211580"/>
                </a:lnTo>
                <a:lnTo>
                  <a:pt x="0" y="19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2059346" y="3012607"/>
            <a:ext cx="12998152" cy="6726544"/>
          </a:xfrm>
          <a:custGeom>
            <a:avLst/>
            <a:gdLst/>
            <a:ahLst/>
            <a:cxnLst/>
            <a:rect l="l" t="t" r="r" b="b"/>
            <a:pathLst>
              <a:path w="12998152" h="6726544">
                <a:moveTo>
                  <a:pt x="0" y="0"/>
                </a:moveTo>
                <a:lnTo>
                  <a:pt x="12998152" y="0"/>
                </a:lnTo>
                <a:lnTo>
                  <a:pt x="12998152" y="6726544"/>
                </a:lnTo>
                <a:lnTo>
                  <a:pt x="0" y="672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2254557" y="1141533"/>
            <a:ext cx="15004743" cy="147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9"/>
              </a:lnSpc>
              <a:spcBef>
                <a:spcPct val="0"/>
              </a:spcBef>
            </a:pPr>
            <a:r>
              <a:rPr lang="en-US" sz="42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Kamera AI Bersifat Rasis / Diskriminatif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1921" y="1028700"/>
            <a:ext cx="1037426" cy="1037452"/>
            <a:chOff x="0" y="0"/>
            <a:chExt cx="1383234" cy="1383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3234" cy="1383269"/>
            </a:xfrm>
            <a:custGeom>
              <a:avLst/>
              <a:gdLst/>
              <a:ahLst/>
              <a:cxnLst/>
              <a:rect l="l" t="t" r="r" b="b"/>
              <a:pathLst>
                <a:path w="1383234" h="1383269">
                  <a:moveTo>
                    <a:pt x="0" y="0"/>
                  </a:moveTo>
                  <a:lnTo>
                    <a:pt x="1383234" y="0"/>
                  </a:lnTo>
                  <a:lnTo>
                    <a:pt x="1383234" y="1383269"/>
                  </a:lnTo>
                  <a:lnTo>
                    <a:pt x="0" y="1383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3422" y="380811"/>
              <a:ext cx="516391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89402" y="4251774"/>
            <a:ext cx="11727270" cy="418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Contoh: AI pengecaman wajah gagal kesan individu berkulit gelap</a:t>
            </a:r>
          </a:p>
          <a:p>
            <a:pPr algn="l">
              <a:lnSpc>
                <a:spcPts val="4196"/>
              </a:lnSpc>
            </a:pPr>
            <a:endParaRPr lang="en-US" sz="2997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Isu: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Bias terhadap kaum/jantina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Tiada akauntabiliti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Gagal menjamin keadilan</a:t>
            </a: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496B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717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464813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22134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97787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2258466" y="2859805"/>
            <a:ext cx="13771067" cy="5869917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836637" y="3932596"/>
            <a:ext cx="10769411" cy="365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Contoh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 Chatbot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kesihatan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beri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saranan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negatif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  <a:spcBef>
                <a:spcPct val="0"/>
              </a:spcBef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Tiada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empati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Salahguna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AI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kesihatan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Risiko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psikologi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serius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13809100" y="5452653"/>
            <a:ext cx="4973254" cy="5100773"/>
          </a:xfrm>
          <a:custGeom>
            <a:avLst/>
            <a:gdLst/>
            <a:ahLst/>
            <a:cxnLst/>
            <a:rect l="l" t="t" r="r" b="b"/>
            <a:pathLst>
              <a:path w="4973254" h="5100773">
                <a:moveTo>
                  <a:pt x="4973254" y="0"/>
                </a:moveTo>
                <a:lnTo>
                  <a:pt x="0" y="0"/>
                </a:lnTo>
                <a:lnTo>
                  <a:pt x="0" y="5100773"/>
                </a:lnTo>
                <a:lnTo>
                  <a:pt x="4973254" y="5100773"/>
                </a:lnTo>
                <a:lnTo>
                  <a:pt x="49732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9" name="Group 9"/>
          <p:cNvGrpSpPr/>
          <p:nvPr/>
        </p:nvGrpSpPr>
        <p:grpSpPr>
          <a:xfrm>
            <a:off x="1021921" y="1028700"/>
            <a:ext cx="15256874" cy="1037426"/>
            <a:chOff x="0" y="0"/>
            <a:chExt cx="20342498" cy="1383234"/>
          </a:xfrm>
        </p:grpSpPr>
        <p:sp>
          <p:nvSpPr>
            <p:cNvPr id="10" name="TextBox 10"/>
            <p:cNvSpPr txBox="1"/>
            <p:nvPr/>
          </p:nvSpPr>
          <p:spPr>
            <a:xfrm>
              <a:off x="1643516" y="179019"/>
              <a:ext cx="18698982" cy="939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969"/>
                </a:lnSpc>
                <a:spcBef>
                  <a:spcPct val="0"/>
                </a:spcBef>
              </a:pPr>
              <a:r>
                <a:rPr lang="en-US" sz="4263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Chatbot AI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&amp; Nasihat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Bunuh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Diri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383234" cy="1383234"/>
            </a:xfrm>
            <a:custGeom>
              <a:avLst/>
              <a:gdLst/>
              <a:ahLst/>
              <a:cxnLst/>
              <a:rect l="l" t="t" r="r" b="b"/>
              <a:pathLst>
                <a:path w="1383234" h="1383234">
                  <a:moveTo>
                    <a:pt x="0" y="0"/>
                  </a:moveTo>
                  <a:lnTo>
                    <a:pt x="1383234" y="0"/>
                  </a:lnTo>
                  <a:lnTo>
                    <a:pt x="1383234" y="1383234"/>
                  </a:lnTo>
                  <a:lnTo>
                    <a:pt x="0" y="138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422" y="380811"/>
              <a:ext cx="516391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607B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02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3" tooltip="https://youtu.be/rxtwW4kzpYg?si=eg2KAgbtcc-2l7xM"/>
          </p:cNvPr>
          <p:cNvSpPr/>
          <p:nvPr/>
        </p:nvSpPr>
        <p:spPr>
          <a:xfrm>
            <a:off x="-461790" y="-4462290"/>
            <a:ext cx="19211580" cy="19211580"/>
          </a:xfrm>
          <a:custGeom>
            <a:avLst/>
            <a:gdLst/>
            <a:ahLst/>
            <a:cxnLst/>
            <a:rect l="l" t="t" r="r" b="b"/>
            <a:pathLst>
              <a:path w="19211580" h="19211580">
                <a:moveTo>
                  <a:pt x="0" y="0"/>
                </a:moveTo>
                <a:lnTo>
                  <a:pt x="19211580" y="0"/>
                </a:lnTo>
                <a:lnTo>
                  <a:pt x="19211580" y="19211580"/>
                </a:lnTo>
                <a:lnTo>
                  <a:pt x="0" y="19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2059346" y="2531756"/>
            <a:ext cx="12998152" cy="6726544"/>
          </a:xfrm>
          <a:custGeom>
            <a:avLst/>
            <a:gdLst/>
            <a:ahLst/>
            <a:cxnLst/>
            <a:rect l="l" t="t" r="r" b="b"/>
            <a:pathLst>
              <a:path w="12998152" h="6726544">
                <a:moveTo>
                  <a:pt x="0" y="0"/>
                </a:moveTo>
                <a:lnTo>
                  <a:pt x="12998152" y="0"/>
                </a:lnTo>
                <a:lnTo>
                  <a:pt x="12998152" y="6726544"/>
                </a:lnTo>
                <a:lnTo>
                  <a:pt x="0" y="6726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2254557" y="1141533"/>
            <a:ext cx="15004743" cy="72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9"/>
              </a:lnSpc>
              <a:spcBef>
                <a:spcPct val="0"/>
              </a:spcBef>
            </a:pPr>
            <a:r>
              <a:rPr lang="en-US" sz="42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Deepfake &amp; Berita Palsu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1921" y="1028700"/>
            <a:ext cx="1037426" cy="1037452"/>
            <a:chOff x="0" y="0"/>
            <a:chExt cx="1383234" cy="1383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3234" cy="1383269"/>
            </a:xfrm>
            <a:custGeom>
              <a:avLst/>
              <a:gdLst/>
              <a:ahLst/>
              <a:cxnLst/>
              <a:rect l="l" t="t" r="r" b="b"/>
              <a:pathLst>
                <a:path w="1383234" h="1383269">
                  <a:moveTo>
                    <a:pt x="0" y="0"/>
                  </a:moveTo>
                  <a:lnTo>
                    <a:pt x="1383234" y="0"/>
                  </a:lnTo>
                  <a:lnTo>
                    <a:pt x="1383234" y="1383269"/>
                  </a:lnTo>
                  <a:lnTo>
                    <a:pt x="0" y="1383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3422" y="380811"/>
              <a:ext cx="516391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89402" y="4251774"/>
            <a:ext cx="11727270" cy="313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Contoh: Video palsu tokoh politik digunakan untuk tipu pengundi</a:t>
            </a:r>
          </a:p>
          <a:p>
            <a:pPr algn="l">
              <a:lnSpc>
                <a:spcPts val="4196"/>
              </a:lnSpc>
            </a:pPr>
            <a:endParaRPr lang="en-US" sz="2997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Isu: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Merosakkan demokrasi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Menyebar fitnah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Tiada sempadan moral</a:t>
            </a:r>
          </a:p>
        </p:txBody>
      </p:sp>
      <p:pic>
        <p:nvPicPr>
          <p:cNvPr id="9" name="Picture 9"/>
          <p:cNvPicPr>
            <a:picLocks noChangeAspect="1"/>
          </p:cNvPicPr>
          <p:nvPr>
            <a:videoFile r:link="rId1"/>
          </p:nvPr>
        </p:nvPicPr>
        <p:blipFill>
          <a:blip r:embed="rId9"/>
          <a:stretch>
            <a:fillRect/>
          </a:stretch>
        </p:blipFill>
        <p:spPr>
          <a:xfrm>
            <a:off x="9310550" y="5143500"/>
            <a:ext cx="8700878" cy="48904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496B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717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464813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22134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97787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2258466" y="2859805"/>
            <a:ext cx="13771067" cy="5869917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836637" y="3670658"/>
            <a:ext cx="10769411" cy="418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Contoh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 AI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nilai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skor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sosial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rakyat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berdasarkan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aktiviti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digital</a:t>
            </a: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  <a:spcBef>
                <a:spcPct val="0"/>
              </a:spcBef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Kehilangan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privasi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Sekatan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kebebasan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190" lvl="1" indent="-323595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Kawalan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berlebihan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terhadap</a:t>
            </a:r>
            <a:r>
              <a:rPr lang="en-US" sz="299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997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manusia</a:t>
            </a: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4196"/>
              </a:lnSpc>
              <a:spcBef>
                <a:spcPct val="0"/>
              </a:spcBef>
            </a:pPr>
            <a:endParaRPr lang="en-US" sz="2997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1921" y="1028700"/>
            <a:ext cx="15256874" cy="1587646"/>
            <a:chOff x="0" y="0"/>
            <a:chExt cx="20342498" cy="2116861"/>
          </a:xfrm>
        </p:grpSpPr>
        <p:sp>
          <p:nvSpPr>
            <p:cNvPr id="9" name="TextBox 9"/>
            <p:cNvSpPr txBox="1"/>
            <p:nvPr/>
          </p:nvSpPr>
          <p:spPr>
            <a:xfrm>
              <a:off x="1643516" y="179019"/>
              <a:ext cx="18698982" cy="19378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969"/>
                </a:lnSpc>
                <a:spcBef>
                  <a:spcPct val="0"/>
                </a:spcBef>
              </a:pPr>
              <a:r>
                <a:rPr lang="en-US" sz="4263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Sistem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Kredit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Sosial</a:t>
              </a:r>
              <a:r>
                <a:rPr lang="en-US" sz="4263" u="none" strike="noStrike" dirty="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&amp; AI </a:t>
              </a:r>
              <a:r>
                <a:rPr lang="en-US" sz="4263" u="none" strike="noStrike" dirty="0" err="1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Pemantauan</a:t>
              </a:r>
              <a:endParaRPr lang="en-US" sz="4263" u="none" strike="noStrike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383234" cy="1383234"/>
            </a:xfrm>
            <a:custGeom>
              <a:avLst/>
              <a:gdLst/>
              <a:ahLst/>
              <a:cxnLst/>
              <a:rect l="l" t="t" r="r" b="b"/>
              <a:pathLst>
                <a:path w="1383234" h="1383234">
                  <a:moveTo>
                    <a:pt x="0" y="0"/>
                  </a:moveTo>
                  <a:lnTo>
                    <a:pt x="1383234" y="0"/>
                  </a:lnTo>
                  <a:lnTo>
                    <a:pt x="1383234" y="1383234"/>
                  </a:lnTo>
                  <a:lnTo>
                    <a:pt x="0" y="138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3422" y="380811"/>
              <a:ext cx="516391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5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3823187" y="6809521"/>
            <a:ext cx="2777849" cy="2691041"/>
          </a:xfrm>
          <a:custGeom>
            <a:avLst/>
            <a:gdLst/>
            <a:ahLst/>
            <a:cxnLst/>
            <a:rect l="l" t="t" r="r" b="b"/>
            <a:pathLst>
              <a:path w="2777849" h="2691041">
                <a:moveTo>
                  <a:pt x="2777849" y="0"/>
                </a:moveTo>
                <a:lnTo>
                  <a:pt x="0" y="0"/>
                </a:lnTo>
                <a:lnTo>
                  <a:pt x="0" y="2691041"/>
                </a:lnTo>
                <a:lnTo>
                  <a:pt x="2777849" y="2691041"/>
                </a:lnTo>
                <a:lnTo>
                  <a:pt x="277784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30D69">
                <a:alpha val="100000"/>
              </a:srgbClr>
            </a:gs>
            <a:gs pos="50000">
              <a:srgbClr val="240753">
                <a:alpha val="100000"/>
              </a:srgbClr>
            </a:gs>
            <a:gs pos="100000">
              <a:srgbClr val="2A05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824369" y="2552264"/>
            <a:ext cx="15261267" cy="5182472"/>
          </a:xfrm>
          <a:custGeom>
            <a:avLst/>
            <a:gdLst/>
            <a:ahLst/>
            <a:cxnLst/>
            <a:rect l="l" t="t" r="r" b="b"/>
            <a:pathLst>
              <a:path w="15261267" h="5182472">
                <a:moveTo>
                  <a:pt x="0" y="0"/>
                </a:moveTo>
                <a:lnTo>
                  <a:pt x="15261267" y="0"/>
                </a:lnTo>
                <a:lnTo>
                  <a:pt x="15261267" y="5182472"/>
                </a:lnTo>
                <a:lnTo>
                  <a:pt x="0" y="5182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551870" y="312922"/>
            <a:ext cx="2088042" cy="2337360"/>
          </a:xfrm>
          <a:custGeom>
            <a:avLst/>
            <a:gdLst/>
            <a:ahLst/>
            <a:cxnLst/>
            <a:rect l="l" t="t" r="r" b="b"/>
            <a:pathLst>
              <a:path w="2088042" h="2337360">
                <a:moveTo>
                  <a:pt x="0" y="0"/>
                </a:moveTo>
                <a:lnTo>
                  <a:pt x="2088042" y="0"/>
                </a:lnTo>
                <a:lnTo>
                  <a:pt x="2088042" y="2337360"/>
                </a:lnTo>
                <a:lnTo>
                  <a:pt x="0" y="2337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806264" y="3031282"/>
            <a:ext cx="833648" cy="833648"/>
          </a:xfrm>
          <a:custGeom>
            <a:avLst/>
            <a:gdLst/>
            <a:ahLst/>
            <a:cxnLst/>
            <a:rect l="l" t="t" r="r" b="b"/>
            <a:pathLst>
              <a:path w="833648" h="833648">
                <a:moveTo>
                  <a:pt x="0" y="0"/>
                </a:moveTo>
                <a:lnTo>
                  <a:pt x="833648" y="0"/>
                </a:lnTo>
                <a:lnTo>
                  <a:pt x="833648" y="833648"/>
                </a:lnTo>
                <a:lnTo>
                  <a:pt x="0" y="83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806264" y="3987956"/>
            <a:ext cx="833648" cy="833648"/>
          </a:xfrm>
          <a:custGeom>
            <a:avLst/>
            <a:gdLst/>
            <a:ahLst/>
            <a:cxnLst/>
            <a:rect l="l" t="t" r="r" b="b"/>
            <a:pathLst>
              <a:path w="833648" h="833648">
                <a:moveTo>
                  <a:pt x="0" y="0"/>
                </a:moveTo>
                <a:lnTo>
                  <a:pt x="833648" y="0"/>
                </a:lnTo>
                <a:lnTo>
                  <a:pt x="833648" y="833648"/>
                </a:lnTo>
                <a:lnTo>
                  <a:pt x="0" y="83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1806264" y="4944630"/>
            <a:ext cx="833648" cy="833648"/>
          </a:xfrm>
          <a:custGeom>
            <a:avLst/>
            <a:gdLst/>
            <a:ahLst/>
            <a:cxnLst/>
            <a:rect l="l" t="t" r="r" b="b"/>
            <a:pathLst>
              <a:path w="833648" h="833648">
                <a:moveTo>
                  <a:pt x="0" y="0"/>
                </a:moveTo>
                <a:lnTo>
                  <a:pt x="833648" y="0"/>
                </a:lnTo>
                <a:lnTo>
                  <a:pt x="833648" y="833648"/>
                </a:lnTo>
                <a:lnTo>
                  <a:pt x="0" y="83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1806264" y="5901304"/>
            <a:ext cx="833648" cy="833648"/>
          </a:xfrm>
          <a:custGeom>
            <a:avLst/>
            <a:gdLst/>
            <a:ahLst/>
            <a:cxnLst/>
            <a:rect l="l" t="t" r="r" b="b"/>
            <a:pathLst>
              <a:path w="833648" h="833648">
                <a:moveTo>
                  <a:pt x="0" y="0"/>
                </a:moveTo>
                <a:lnTo>
                  <a:pt x="833648" y="0"/>
                </a:lnTo>
                <a:lnTo>
                  <a:pt x="833648" y="833648"/>
                </a:lnTo>
                <a:lnTo>
                  <a:pt x="0" y="83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806264" y="6857978"/>
            <a:ext cx="833648" cy="833648"/>
          </a:xfrm>
          <a:custGeom>
            <a:avLst/>
            <a:gdLst/>
            <a:ahLst/>
            <a:cxnLst/>
            <a:rect l="l" t="t" r="r" b="b"/>
            <a:pathLst>
              <a:path w="833648" h="833648">
                <a:moveTo>
                  <a:pt x="0" y="0"/>
                </a:moveTo>
                <a:lnTo>
                  <a:pt x="833648" y="0"/>
                </a:lnTo>
                <a:lnTo>
                  <a:pt x="833648" y="833648"/>
                </a:lnTo>
                <a:lnTo>
                  <a:pt x="0" y="83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15561630" y="7594822"/>
            <a:ext cx="2698925" cy="2692178"/>
          </a:xfrm>
          <a:custGeom>
            <a:avLst/>
            <a:gdLst/>
            <a:ahLst/>
            <a:cxnLst/>
            <a:rect l="l" t="t" r="r" b="b"/>
            <a:pathLst>
              <a:path w="2698925" h="2692178">
                <a:moveTo>
                  <a:pt x="0" y="0"/>
                </a:moveTo>
                <a:lnTo>
                  <a:pt x="2698925" y="0"/>
                </a:lnTo>
                <a:lnTo>
                  <a:pt x="2698925" y="2692178"/>
                </a:lnTo>
                <a:lnTo>
                  <a:pt x="0" y="2692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2726370" y="505866"/>
            <a:ext cx="1283526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NILAI SEJAGAT YANG DILANGGAR OLEH AI TIDAK BERETIKA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4376" y="3108786"/>
            <a:ext cx="12383972" cy="60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347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Keadil</a:t>
            </a:r>
            <a:r>
              <a:rPr lang="en-US" sz="3471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 (Justice) – AI bias terhadap kaum, agama, jantina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5418" y="3239767"/>
            <a:ext cx="315340" cy="36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2"/>
              </a:lnSpc>
              <a:spcBef>
                <a:spcPct val="0"/>
              </a:spcBef>
            </a:pPr>
            <a:r>
              <a:rPr lang="en-US" sz="2144" b="1" u="none" strike="noStrik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04376" y="4065460"/>
            <a:ext cx="13192567" cy="60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347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Empati (Empathy) – Chatbot kesihatan mental tanpa sensitiviti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5418" y="4196441"/>
            <a:ext cx="315340" cy="36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04376" y="5022134"/>
            <a:ext cx="14285601" cy="60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347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Tanggungjawab – Tiada yang bertanggungjawab atas kesilapan 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65418" y="5153115"/>
            <a:ext cx="315340" cy="36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04376" y="5978808"/>
            <a:ext cx="13369153" cy="60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347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Privasi – AI memantau data tanpa persetujuan jelas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5418" y="6109789"/>
            <a:ext cx="315340" cy="36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04376" y="6935482"/>
            <a:ext cx="13192567" cy="60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347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Kebenaran (Truth) – Deepfake/berita palsu menggugat fakta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65418" y="7066463"/>
            <a:ext cx="315340" cy="36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95540" flipH="1" flipV="1">
            <a:off x="15054756" y="4704778"/>
            <a:ext cx="8578575" cy="9187229"/>
          </a:xfrm>
          <a:custGeom>
            <a:avLst/>
            <a:gdLst/>
            <a:ahLst/>
            <a:cxnLst/>
            <a:rect l="l" t="t" r="r" b="b"/>
            <a:pathLst>
              <a:path w="8578575" h="9187229">
                <a:moveTo>
                  <a:pt x="8578575" y="9187229"/>
                </a:moveTo>
                <a:lnTo>
                  <a:pt x="0" y="9187229"/>
                </a:lnTo>
                <a:lnTo>
                  <a:pt x="0" y="0"/>
                </a:lnTo>
                <a:lnTo>
                  <a:pt x="8578575" y="0"/>
                </a:lnTo>
                <a:lnTo>
                  <a:pt x="8578575" y="918722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 rot="2860052">
            <a:off x="12987809" y="-2898147"/>
            <a:ext cx="2584600" cy="18061431"/>
            <a:chOff x="0" y="0"/>
            <a:chExt cx="680718" cy="4756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0718" cy="4756920"/>
            </a:xfrm>
            <a:custGeom>
              <a:avLst/>
              <a:gdLst/>
              <a:ahLst/>
              <a:cxnLst/>
              <a:rect l="l" t="t" r="r" b="b"/>
              <a:pathLst>
                <a:path w="680718" h="4756920">
                  <a:moveTo>
                    <a:pt x="0" y="0"/>
                  </a:moveTo>
                  <a:lnTo>
                    <a:pt x="680718" y="0"/>
                  </a:lnTo>
                  <a:lnTo>
                    <a:pt x="680718" y="4756920"/>
                  </a:lnTo>
                  <a:lnTo>
                    <a:pt x="0" y="4756920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80718" cy="4795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366851" y="-7034257"/>
            <a:ext cx="8609249" cy="9220079"/>
          </a:xfrm>
          <a:custGeom>
            <a:avLst/>
            <a:gdLst/>
            <a:ahLst/>
            <a:cxnLst/>
            <a:rect l="l" t="t" r="r" b="b"/>
            <a:pathLst>
              <a:path w="8609249" h="9220079">
                <a:moveTo>
                  <a:pt x="0" y="0"/>
                </a:moveTo>
                <a:lnTo>
                  <a:pt x="8609250" y="0"/>
                </a:lnTo>
                <a:lnTo>
                  <a:pt x="8609250" y="9220079"/>
                </a:lnTo>
                <a:lnTo>
                  <a:pt x="0" y="922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 rot="2860052">
            <a:off x="16693253" y="-4348482"/>
            <a:ext cx="719615" cy="10491004"/>
            <a:chOff x="0" y="0"/>
            <a:chExt cx="189528" cy="27630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9528" cy="2763063"/>
            </a:xfrm>
            <a:custGeom>
              <a:avLst/>
              <a:gdLst/>
              <a:ahLst/>
              <a:cxnLst/>
              <a:rect l="l" t="t" r="r" b="b"/>
              <a:pathLst>
                <a:path w="189528" h="2763063">
                  <a:moveTo>
                    <a:pt x="0" y="0"/>
                  </a:moveTo>
                  <a:lnTo>
                    <a:pt x="189528" y="0"/>
                  </a:lnTo>
                  <a:lnTo>
                    <a:pt x="189528" y="2763063"/>
                  </a:lnTo>
                  <a:lnTo>
                    <a:pt x="0" y="2763063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9528" cy="2801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9281985" y="1028700"/>
            <a:ext cx="8229600" cy="82296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3C7A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531482" y="1278197"/>
            <a:ext cx="7730605" cy="7730605"/>
          </a:xfrm>
          <a:custGeom>
            <a:avLst/>
            <a:gdLst/>
            <a:ahLst/>
            <a:cxnLst/>
            <a:rect l="l" t="t" r="r" b="b"/>
            <a:pathLst>
              <a:path w="7730605" h="7730605">
                <a:moveTo>
                  <a:pt x="0" y="0"/>
                </a:moveTo>
                <a:lnTo>
                  <a:pt x="7730606" y="0"/>
                </a:lnTo>
                <a:lnTo>
                  <a:pt x="7730606" y="7730606"/>
                </a:lnTo>
                <a:lnTo>
                  <a:pt x="0" y="773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4" name="Group 14"/>
          <p:cNvGrpSpPr/>
          <p:nvPr/>
        </p:nvGrpSpPr>
        <p:grpSpPr>
          <a:xfrm>
            <a:off x="10362138" y="2085982"/>
            <a:ext cx="6069294" cy="606929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06" r="-24906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858149" y="438090"/>
            <a:ext cx="7773697" cy="1181220"/>
            <a:chOff x="0" y="0"/>
            <a:chExt cx="10364930" cy="1574959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364930" cy="1574959"/>
              <a:chOff x="0" y="0"/>
              <a:chExt cx="2674550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67455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674550" h="406400">
                    <a:moveTo>
                      <a:pt x="2471350" y="0"/>
                    </a:moveTo>
                    <a:cubicBezTo>
                      <a:pt x="2583574" y="0"/>
                      <a:pt x="2674550" y="90976"/>
                      <a:pt x="2674550" y="203200"/>
                    </a:cubicBezTo>
                    <a:cubicBezTo>
                      <a:pt x="2674550" y="315424"/>
                      <a:pt x="2583574" y="406400"/>
                      <a:pt x="247135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674550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4697264" y="336259"/>
              <a:ext cx="1354508" cy="902441"/>
            </a:xfrm>
            <a:custGeom>
              <a:avLst/>
              <a:gdLst/>
              <a:ahLst/>
              <a:cxnLst/>
              <a:rect l="l" t="t" r="r" b="b"/>
              <a:pathLst>
                <a:path w="1354508" h="902441">
                  <a:moveTo>
                    <a:pt x="0" y="0"/>
                  </a:moveTo>
                  <a:lnTo>
                    <a:pt x="1354507" y="0"/>
                  </a:lnTo>
                  <a:lnTo>
                    <a:pt x="1354507" y="902441"/>
                  </a:lnTo>
                  <a:lnTo>
                    <a:pt x="0" y="90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943100"/>
            <a:ext cx="8610600" cy="4648200"/>
            <a:chOff x="-145468" y="-2039449"/>
            <a:chExt cx="11480800" cy="5499352"/>
          </a:xfrm>
        </p:grpSpPr>
        <p:sp>
          <p:nvSpPr>
            <p:cNvPr id="22" name="TextBox 22"/>
            <p:cNvSpPr txBox="1"/>
            <p:nvPr/>
          </p:nvSpPr>
          <p:spPr>
            <a:xfrm>
              <a:off x="-145468" y="-2039449"/>
              <a:ext cx="11335332" cy="2639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20"/>
                </a:lnSpc>
              </a:pPr>
              <a:r>
                <a:rPr lang="en-US" sz="6229" b="1" dirty="0">
                  <a:solidFill>
                    <a:srgbClr val="69D6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 </a:t>
              </a:r>
            </a:p>
            <a:p>
              <a:pPr algn="l">
                <a:lnSpc>
                  <a:spcPts val="8720"/>
                </a:lnSpc>
              </a:pPr>
              <a:r>
                <a:rPr lang="en-US" sz="6229" b="1" dirty="0">
                  <a:solidFill>
                    <a:srgbClr val="69D6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DASAR &amp; POLISI AI: 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077632"/>
              <a:ext cx="11335332" cy="1382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20"/>
                </a:lnSpc>
              </a:pPr>
              <a:r>
                <a:rPr lang="en-US" sz="6229" b="1" dirty="0">
                  <a:solidFill>
                    <a:srgbClr val="69D6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MALAYSIA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81483"/>
              <a:ext cx="11335332" cy="138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20"/>
                </a:lnSpc>
              </a:pPr>
              <a:r>
                <a:rPr lang="en-US" sz="6229" b="1">
                  <a:solidFill>
                    <a:srgbClr val="FFFF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DUNIA DAN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95540">
            <a:off x="-4792197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6894000" flipH="1">
            <a:off x="15396592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2199265" y="2949475"/>
            <a:ext cx="13889471" cy="4388051"/>
            <a:chOff x="0" y="0"/>
            <a:chExt cx="18519294" cy="58507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945768" cy="2685100"/>
              <a:chOff x="0" y="0"/>
              <a:chExt cx="4266064" cy="128047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9573526" y="0"/>
              <a:ext cx="8945768" cy="2685100"/>
              <a:chOff x="0" y="0"/>
              <a:chExt cx="4266064" cy="128047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12238" y="632006"/>
              <a:ext cx="8121292" cy="119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BIAS DAN DISKRIMINASI DALAM DATA DAN MODEL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85764" y="999489"/>
              <a:ext cx="8121292" cy="600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ISU KETELUSAN DAN EXPLAINABILITY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3165634"/>
              <a:ext cx="8945768" cy="2685100"/>
              <a:chOff x="0" y="0"/>
              <a:chExt cx="4266064" cy="128047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573526" y="3165634"/>
              <a:ext cx="8945768" cy="2685100"/>
              <a:chOff x="0" y="0"/>
              <a:chExt cx="4266064" cy="128047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12238" y="3906716"/>
              <a:ext cx="8121292" cy="119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KEKURANGAN AKAUNTABILITI DALAM KEPUTUSAN SISTEM AI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85764" y="3607194"/>
              <a:ext cx="8121292" cy="1798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RISIKO KEHILANGAN NILAI KEMANUSIAAN DALAM AUTOMASI MELUAS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-2862000">
            <a:off x="16495762" y="-1724517"/>
            <a:ext cx="2307298" cy="4896900"/>
            <a:chOff x="0" y="0"/>
            <a:chExt cx="607683" cy="12897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2862000">
            <a:off x="-515060" y="-1724517"/>
            <a:ext cx="2307298" cy="4896900"/>
            <a:chOff x="0" y="0"/>
            <a:chExt cx="607683" cy="12897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862000">
            <a:off x="15792063" y="-2365400"/>
            <a:ext cx="593345" cy="8209292"/>
            <a:chOff x="0" y="0"/>
            <a:chExt cx="156272" cy="21621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2862000">
            <a:off x="1902592" y="-2365400"/>
            <a:ext cx="593345" cy="8209292"/>
            <a:chOff x="0" y="0"/>
            <a:chExt cx="156272" cy="21621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4719100" y="7591088"/>
            <a:ext cx="2688073" cy="2479748"/>
          </a:xfrm>
          <a:custGeom>
            <a:avLst/>
            <a:gdLst/>
            <a:ahLst/>
            <a:cxnLst/>
            <a:rect l="l" t="t" r="r" b="b"/>
            <a:pathLst>
              <a:path w="2688073" h="2479748">
                <a:moveTo>
                  <a:pt x="0" y="0"/>
                </a:moveTo>
                <a:lnTo>
                  <a:pt x="2688073" y="0"/>
                </a:lnTo>
                <a:lnTo>
                  <a:pt x="2688073" y="2479747"/>
                </a:lnTo>
                <a:lnTo>
                  <a:pt x="0" y="247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4" name="Freeform 34"/>
          <p:cNvSpPr/>
          <p:nvPr/>
        </p:nvSpPr>
        <p:spPr>
          <a:xfrm>
            <a:off x="10253394" y="7763193"/>
            <a:ext cx="4667841" cy="2135537"/>
          </a:xfrm>
          <a:custGeom>
            <a:avLst/>
            <a:gdLst/>
            <a:ahLst/>
            <a:cxnLst/>
            <a:rect l="l" t="t" r="r" b="b"/>
            <a:pathLst>
              <a:path w="4667841" h="2135537">
                <a:moveTo>
                  <a:pt x="0" y="0"/>
                </a:moveTo>
                <a:lnTo>
                  <a:pt x="4667841" y="0"/>
                </a:lnTo>
                <a:lnTo>
                  <a:pt x="4667841" y="2135537"/>
                </a:lnTo>
                <a:lnTo>
                  <a:pt x="0" y="2135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5" name="Group 35"/>
          <p:cNvGrpSpPr/>
          <p:nvPr/>
        </p:nvGrpSpPr>
        <p:grpSpPr>
          <a:xfrm>
            <a:off x="5700685" y="723933"/>
            <a:ext cx="6886629" cy="1775658"/>
            <a:chOff x="0" y="0"/>
            <a:chExt cx="9182173" cy="2367544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123825"/>
              <a:ext cx="9182173" cy="138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20"/>
                </a:lnSpc>
              </a:pPr>
              <a:r>
                <a:rPr lang="en-US" sz="6229" b="1">
                  <a:solidFill>
                    <a:srgbClr val="FFFF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ISU ETIKA DAN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81483"/>
              <a:ext cx="9182173" cy="138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20"/>
                </a:lnSpc>
              </a:pPr>
              <a:r>
                <a:rPr lang="en-US" sz="6229" b="1">
                  <a:solidFill>
                    <a:srgbClr val="69D6FF"/>
                  </a:solidFill>
                  <a:latin typeface="Pattanakarn SemiCondensed Bold"/>
                  <a:ea typeface="Pattanakarn SemiCondensed Bold"/>
                  <a:cs typeface="Pattanakarn SemiCondensed Bold"/>
                  <a:sym typeface="Pattanakarn SemiCondensed Bold"/>
                </a:rPr>
                <a:t>CABARAN AI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2847432" y="-3676562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 rot="-2862000">
            <a:off x="1740633" y="1703509"/>
            <a:ext cx="2403184" cy="12572306"/>
            <a:chOff x="0" y="0"/>
            <a:chExt cx="632937" cy="33112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2937" cy="3311225"/>
            </a:xfrm>
            <a:custGeom>
              <a:avLst/>
              <a:gdLst/>
              <a:ahLst/>
              <a:cxnLst/>
              <a:rect l="l" t="t" r="r" b="b"/>
              <a:pathLst>
                <a:path w="632937" h="3311225">
                  <a:moveTo>
                    <a:pt x="0" y="0"/>
                  </a:moveTo>
                  <a:lnTo>
                    <a:pt x="632937" y="0"/>
                  </a:lnTo>
                  <a:lnTo>
                    <a:pt x="632937" y="3311225"/>
                  </a:lnTo>
                  <a:lnTo>
                    <a:pt x="0" y="3311225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2937" cy="334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862000">
            <a:off x="-494139" y="-2266073"/>
            <a:ext cx="2307298" cy="8209292"/>
            <a:chOff x="0" y="0"/>
            <a:chExt cx="607683" cy="2162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683" cy="2162118"/>
            </a:xfrm>
            <a:custGeom>
              <a:avLst/>
              <a:gdLst/>
              <a:ahLst/>
              <a:cxnLst/>
              <a:rect l="l" t="t" r="r" b="b"/>
              <a:pathLst>
                <a:path w="607683" h="2162118">
                  <a:moveTo>
                    <a:pt x="0" y="0"/>
                  </a:moveTo>
                  <a:lnTo>
                    <a:pt x="607683" y="0"/>
                  </a:lnTo>
                  <a:lnTo>
                    <a:pt x="607683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7683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862000">
            <a:off x="2243936" y="-3123111"/>
            <a:ext cx="593345" cy="8209292"/>
            <a:chOff x="0" y="0"/>
            <a:chExt cx="156272" cy="21621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-1764817" y="1028700"/>
            <a:ext cx="8229600" cy="82296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3C7A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1548572" y="1244945"/>
            <a:ext cx="7797110" cy="7797110"/>
          </a:xfrm>
          <a:custGeom>
            <a:avLst/>
            <a:gdLst/>
            <a:ahLst/>
            <a:cxnLst/>
            <a:rect l="l" t="t" r="r" b="b"/>
            <a:pathLst>
              <a:path w="7797110" h="7797110">
                <a:moveTo>
                  <a:pt x="7797110" y="0"/>
                </a:moveTo>
                <a:lnTo>
                  <a:pt x="0" y="0"/>
                </a:lnTo>
                <a:lnTo>
                  <a:pt x="0" y="7797110"/>
                </a:lnTo>
                <a:lnTo>
                  <a:pt x="7797110" y="7797110"/>
                </a:lnTo>
                <a:lnTo>
                  <a:pt x="77971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6" name="Group 16"/>
          <p:cNvGrpSpPr/>
          <p:nvPr/>
        </p:nvGrpSpPr>
        <p:grpSpPr>
          <a:xfrm>
            <a:off x="-798581" y="1994935"/>
            <a:ext cx="6297129" cy="629712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0321" r="-3032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073999" y="621202"/>
            <a:ext cx="11214001" cy="106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DASAR &amp; POLISI AI: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73999" y="1450184"/>
            <a:ext cx="11214001" cy="106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DUNIA DAN MALAYSIA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73999" y="2607281"/>
            <a:ext cx="981768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Dasar AI Peringkat Global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073999" y="3893156"/>
            <a:ext cx="9817684" cy="1122483"/>
            <a:chOff x="0" y="0"/>
            <a:chExt cx="13090245" cy="14966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3090245" cy="1496643"/>
              <a:chOff x="0" y="0"/>
              <a:chExt cx="5912659" cy="6760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912659" cy="676010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676010">
                    <a:moveTo>
                      <a:pt x="5709459" y="0"/>
                    </a:moveTo>
                    <a:cubicBezTo>
                      <a:pt x="5821683" y="0"/>
                      <a:pt x="5912659" y="151330"/>
                      <a:pt x="5912659" y="338005"/>
                    </a:cubicBezTo>
                    <a:cubicBezTo>
                      <a:pt x="5912659" y="524680"/>
                      <a:pt x="5821683" y="676010"/>
                      <a:pt x="5709459" y="676010"/>
                    </a:cubicBezTo>
                    <a:lnTo>
                      <a:pt x="203200" y="676010"/>
                    </a:lnTo>
                    <a:cubicBezTo>
                      <a:pt x="90976" y="676010"/>
                      <a:pt x="0" y="524680"/>
                      <a:pt x="0" y="338005"/>
                    </a:cubicBezTo>
                    <a:cubicBezTo>
                      <a:pt x="0" y="15133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5912659" cy="714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603223" y="149867"/>
              <a:ext cx="11883798" cy="1203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OECD AI PRINCIPLES (2019): AI HARUS BERASASKAN HAK ASASI MANUSIA, KESELAMATAN, DAN KETERBUKAAN.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073999" y="5454326"/>
            <a:ext cx="9817684" cy="1570232"/>
            <a:chOff x="0" y="0"/>
            <a:chExt cx="13090245" cy="209364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3090245" cy="2093643"/>
              <a:chOff x="0" y="0"/>
              <a:chExt cx="5912659" cy="94566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912659" cy="945666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945666">
                    <a:moveTo>
                      <a:pt x="5709459" y="0"/>
                    </a:moveTo>
                    <a:cubicBezTo>
                      <a:pt x="5821683" y="0"/>
                      <a:pt x="5912659" y="211694"/>
                      <a:pt x="5912659" y="472833"/>
                    </a:cubicBezTo>
                    <a:cubicBezTo>
                      <a:pt x="5912659" y="733971"/>
                      <a:pt x="5821683" y="945666"/>
                      <a:pt x="5709459" y="945666"/>
                    </a:cubicBezTo>
                    <a:lnTo>
                      <a:pt x="203200" y="945666"/>
                    </a:lnTo>
                    <a:cubicBezTo>
                      <a:pt x="90976" y="945666"/>
                      <a:pt x="0" y="733971"/>
                      <a:pt x="0" y="472833"/>
                    </a:cubicBezTo>
                    <a:cubicBezTo>
                      <a:pt x="0" y="21169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912659" cy="983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603223" y="149867"/>
              <a:ext cx="11883798" cy="1800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UNESCO AI ETHICS (2021): FOKUS KEPADA KEBEBASAN, KEADILAN, SOLIDARITI DAN KEBERTANGGUNGJAWABAN TEKNOLOGI.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73999" y="7462708"/>
            <a:ext cx="9817684" cy="1570232"/>
            <a:chOff x="0" y="0"/>
            <a:chExt cx="13090245" cy="2093643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3090245" cy="2093643"/>
              <a:chOff x="0" y="0"/>
              <a:chExt cx="5912659" cy="94566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912659" cy="945666"/>
              </a:xfrm>
              <a:custGeom>
                <a:avLst/>
                <a:gdLst/>
                <a:ahLst/>
                <a:cxnLst/>
                <a:rect l="l" t="t" r="r" b="b"/>
                <a:pathLst>
                  <a:path w="5912659" h="945666">
                    <a:moveTo>
                      <a:pt x="5709459" y="0"/>
                    </a:moveTo>
                    <a:cubicBezTo>
                      <a:pt x="5821683" y="0"/>
                      <a:pt x="5912659" y="211694"/>
                      <a:pt x="5912659" y="472833"/>
                    </a:cubicBezTo>
                    <a:cubicBezTo>
                      <a:pt x="5912659" y="733971"/>
                      <a:pt x="5821683" y="945666"/>
                      <a:pt x="5709459" y="945666"/>
                    </a:cubicBezTo>
                    <a:lnTo>
                      <a:pt x="203200" y="945666"/>
                    </a:lnTo>
                    <a:cubicBezTo>
                      <a:pt x="90976" y="945666"/>
                      <a:pt x="0" y="733971"/>
                      <a:pt x="0" y="472833"/>
                    </a:cubicBezTo>
                    <a:cubicBezTo>
                      <a:pt x="0" y="21169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5912659" cy="983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603223" y="149867"/>
              <a:ext cx="11883798" cy="1800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IEEE ETHICALLY ALIGNED DESIGN: PANDUAN KEJURUTERAAN AI BERETIKA, MENEKANKAN KETELUSAN DAN KESEJAHTERAAN MANUSIA.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94000" flipV="1">
            <a:off x="-4699980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6893999" flipH="1" flipV="1">
            <a:off x="15303591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2235683" y="2258525"/>
            <a:ext cx="13816634" cy="1060773"/>
            <a:chOff x="0" y="0"/>
            <a:chExt cx="18422179" cy="141436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22179" cy="1414364"/>
              <a:chOff x="0" y="0"/>
              <a:chExt cx="8750185" cy="67179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750185" cy="671796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671796">
                    <a:moveTo>
                      <a:pt x="8546985" y="0"/>
                    </a:moveTo>
                    <a:cubicBezTo>
                      <a:pt x="8659209" y="0"/>
                      <a:pt x="8750185" y="150387"/>
                      <a:pt x="8750185" y="335898"/>
                    </a:cubicBezTo>
                    <a:cubicBezTo>
                      <a:pt x="8750185" y="521409"/>
                      <a:pt x="8659209" y="671796"/>
                      <a:pt x="8546985" y="671796"/>
                    </a:cubicBezTo>
                    <a:lnTo>
                      <a:pt x="203200" y="671796"/>
                    </a:lnTo>
                    <a:cubicBezTo>
                      <a:pt x="90976" y="671796"/>
                      <a:pt x="0" y="521409"/>
                      <a:pt x="0" y="335898"/>
                    </a:cubicBezTo>
                    <a:cubicBezTo>
                      <a:pt x="0" y="150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8750185" cy="7003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848929" y="147369"/>
              <a:ext cx="16724321" cy="1122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1"/>
                </a:lnSpc>
                <a:spcBef>
                  <a:spcPct val="0"/>
                </a:spcBef>
              </a:pPr>
              <a:r>
                <a:rPr lang="en-US" sz="24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NATIONAL AI ROADMAP 2021–2025 (KEMENTERIAN SAINS &amp; MOSTI): MEMACU PENGGUNAAN AI SECARA BERTANGGUNGJAWAB.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35683" y="3862223"/>
            <a:ext cx="13816634" cy="1060773"/>
            <a:chOff x="0" y="0"/>
            <a:chExt cx="18422179" cy="141436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8422179" cy="1414364"/>
              <a:chOff x="0" y="0"/>
              <a:chExt cx="8750185" cy="67179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50185" cy="671796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671796">
                    <a:moveTo>
                      <a:pt x="8546985" y="0"/>
                    </a:moveTo>
                    <a:cubicBezTo>
                      <a:pt x="8659209" y="0"/>
                      <a:pt x="8750185" y="150387"/>
                      <a:pt x="8750185" y="335898"/>
                    </a:cubicBezTo>
                    <a:cubicBezTo>
                      <a:pt x="8750185" y="521409"/>
                      <a:pt x="8659209" y="671796"/>
                      <a:pt x="8546985" y="671796"/>
                    </a:cubicBezTo>
                    <a:lnTo>
                      <a:pt x="203200" y="671796"/>
                    </a:lnTo>
                    <a:cubicBezTo>
                      <a:pt x="90976" y="671796"/>
                      <a:pt x="0" y="521409"/>
                      <a:pt x="0" y="335898"/>
                    </a:cubicBezTo>
                    <a:cubicBezTo>
                      <a:pt x="0" y="150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8750185" cy="7003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848929" y="147369"/>
              <a:ext cx="16724321" cy="1122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1"/>
                </a:lnSpc>
                <a:spcBef>
                  <a:spcPct val="0"/>
                </a:spcBef>
              </a:pPr>
              <a:r>
                <a:rPr lang="en-US" sz="24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GARIS PANDUAN ETIKA AI (MIMOS): MEMASTIKAN PEMATUHAN KEPADA NILAI SEPERTI AMANAH, AKAUNTABILITI DAN KESELAMATAN.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35683" y="5465920"/>
            <a:ext cx="13816634" cy="1060773"/>
            <a:chOff x="0" y="0"/>
            <a:chExt cx="18422179" cy="141436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8422179" cy="1414364"/>
              <a:chOff x="0" y="0"/>
              <a:chExt cx="8750185" cy="67179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50185" cy="671796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671796">
                    <a:moveTo>
                      <a:pt x="8546985" y="0"/>
                    </a:moveTo>
                    <a:cubicBezTo>
                      <a:pt x="8659209" y="0"/>
                      <a:pt x="8750185" y="150387"/>
                      <a:pt x="8750185" y="335898"/>
                    </a:cubicBezTo>
                    <a:cubicBezTo>
                      <a:pt x="8750185" y="521409"/>
                      <a:pt x="8659209" y="671796"/>
                      <a:pt x="8546985" y="671796"/>
                    </a:cubicBezTo>
                    <a:lnTo>
                      <a:pt x="203200" y="671796"/>
                    </a:lnTo>
                    <a:cubicBezTo>
                      <a:pt x="90976" y="671796"/>
                      <a:pt x="0" y="521409"/>
                      <a:pt x="0" y="335898"/>
                    </a:cubicBezTo>
                    <a:cubicBezTo>
                      <a:pt x="0" y="150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8750185" cy="7003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48929" y="147369"/>
              <a:ext cx="16724321" cy="1122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1"/>
                </a:lnSpc>
                <a:spcBef>
                  <a:spcPct val="0"/>
                </a:spcBef>
              </a:pPr>
              <a:r>
                <a:rPr lang="en-US" sz="24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PELAN TRANSFORMASI DIGITAL MALAYSIA (MYDIGITAL): AI SEBAGAI PEMACU EKONOMI DIGITAL DAN PERKHIDMATAN AWAM BERKESAN.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7933" y="7281677"/>
            <a:ext cx="14992134" cy="1976623"/>
            <a:chOff x="0" y="0"/>
            <a:chExt cx="19989513" cy="263549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9989513" cy="2635498"/>
              <a:chOff x="0" y="0"/>
              <a:chExt cx="1841155" cy="24274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41154" cy="242745"/>
              </a:xfrm>
              <a:custGeom>
                <a:avLst/>
                <a:gdLst/>
                <a:ahLst/>
                <a:cxnLst/>
                <a:rect l="l" t="t" r="r" b="b"/>
                <a:pathLst>
                  <a:path w="1841154" h="242745">
                    <a:moveTo>
                      <a:pt x="34599" y="0"/>
                    </a:moveTo>
                    <a:lnTo>
                      <a:pt x="1806556" y="0"/>
                    </a:lnTo>
                    <a:cubicBezTo>
                      <a:pt x="1815732" y="0"/>
                      <a:pt x="1824532" y="3645"/>
                      <a:pt x="1831021" y="10134"/>
                    </a:cubicBezTo>
                    <a:cubicBezTo>
                      <a:pt x="1837509" y="16622"/>
                      <a:pt x="1841154" y="25423"/>
                      <a:pt x="1841154" y="34599"/>
                    </a:cubicBezTo>
                    <a:lnTo>
                      <a:pt x="1841154" y="208147"/>
                    </a:lnTo>
                    <a:cubicBezTo>
                      <a:pt x="1841154" y="227255"/>
                      <a:pt x="1825664" y="242745"/>
                      <a:pt x="1806556" y="242745"/>
                    </a:cubicBezTo>
                    <a:lnTo>
                      <a:pt x="34599" y="242745"/>
                    </a:lnTo>
                    <a:cubicBezTo>
                      <a:pt x="25423" y="242745"/>
                      <a:pt x="16622" y="239100"/>
                      <a:pt x="10134" y="232612"/>
                    </a:cubicBezTo>
                    <a:cubicBezTo>
                      <a:pt x="3645" y="226123"/>
                      <a:pt x="0" y="217323"/>
                      <a:pt x="0" y="208147"/>
                    </a:cubicBezTo>
                    <a:lnTo>
                      <a:pt x="0" y="34599"/>
                    </a:lnTo>
                    <a:cubicBezTo>
                      <a:pt x="0" y="15490"/>
                      <a:pt x="15490" y="0"/>
                      <a:pt x="345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841155" cy="2808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632596" y="434485"/>
              <a:ext cx="16724321" cy="1680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1"/>
                </a:lnSpc>
                <a:spcBef>
                  <a:spcPct val="0"/>
                </a:spcBef>
              </a:pPr>
              <a:r>
                <a:rPr lang="en-US" sz="24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KESIMPULAN: PENGGUNAAN AI MESTI DISELARASKAN DENGAN PRINSIP ANTARABANGSA DAN LOKAL, BERASASKAN KEBERTANGGUNGJAWABAN, KEADILAN DAN NILAI INSANI.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235683" y="866775"/>
            <a:ext cx="1499213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Dasar AI Malaysia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94000" flipV="1">
            <a:off x="-4699980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6893999" flipH="1" flipV="1">
            <a:off x="15303591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8885529" y="3424515"/>
            <a:ext cx="7992902" cy="4885770"/>
            <a:chOff x="0" y="0"/>
            <a:chExt cx="10657203" cy="651436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657203" cy="6514360"/>
              <a:chOff x="0" y="0"/>
              <a:chExt cx="981593" cy="60001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81593" cy="600012"/>
              </a:xfrm>
              <a:custGeom>
                <a:avLst/>
                <a:gdLst/>
                <a:ahLst/>
                <a:cxnLst/>
                <a:rect l="l" t="t" r="r" b="b"/>
                <a:pathLst>
                  <a:path w="981593" h="600012">
                    <a:moveTo>
                      <a:pt x="64896" y="0"/>
                    </a:moveTo>
                    <a:lnTo>
                      <a:pt x="916696" y="0"/>
                    </a:lnTo>
                    <a:cubicBezTo>
                      <a:pt x="933908" y="0"/>
                      <a:pt x="950415" y="6837"/>
                      <a:pt x="962585" y="19008"/>
                    </a:cubicBezTo>
                    <a:cubicBezTo>
                      <a:pt x="974755" y="31178"/>
                      <a:pt x="981593" y="47685"/>
                      <a:pt x="981593" y="64896"/>
                    </a:cubicBezTo>
                    <a:lnTo>
                      <a:pt x="981593" y="535116"/>
                    </a:lnTo>
                    <a:cubicBezTo>
                      <a:pt x="981593" y="552327"/>
                      <a:pt x="974755" y="568834"/>
                      <a:pt x="962585" y="581004"/>
                    </a:cubicBezTo>
                    <a:cubicBezTo>
                      <a:pt x="950415" y="593175"/>
                      <a:pt x="933908" y="600012"/>
                      <a:pt x="916696" y="600012"/>
                    </a:cubicBezTo>
                    <a:lnTo>
                      <a:pt x="64896" y="600012"/>
                    </a:lnTo>
                    <a:cubicBezTo>
                      <a:pt x="47685" y="600012"/>
                      <a:pt x="31178" y="593175"/>
                      <a:pt x="19008" y="581004"/>
                    </a:cubicBezTo>
                    <a:cubicBezTo>
                      <a:pt x="6837" y="568834"/>
                      <a:pt x="0" y="552327"/>
                      <a:pt x="0" y="535116"/>
                    </a:cubicBezTo>
                    <a:lnTo>
                      <a:pt x="0" y="64896"/>
                    </a:lnTo>
                    <a:cubicBezTo>
                      <a:pt x="0" y="47685"/>
                      <a:pt x="6837" y="31178"/>
                      <a:pt x="19008" y="19008"/>
                    </a:cubicBezTo>
                    <a:cubicBezTo>
                      <a:pt x="31178" y="6837"/>
                      <a:pt x="47685" y="0"/>
                      <a:pt x="6489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981593" cy="6381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870402" y="453535"/>
              <a:ext cx="8916400" cy="5540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1"/>
                </a:lnSpc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AIGE ADALAH SATU TATACARA KE ARAH PENGGUNAAN TEKNOLOGI AI YANG SELAMAT MELALUI PEMATUHAN TUJUH (7) PRINSIP AI YANG BERTANGGUNGJAWAB.</a:t>
              </a:r>
            </a:p>
            <a:p>
              <a:pPr algn="l">
                <a:lnSpc>
                  <a:spcPts val="2381"/>
                </a:lnSpc>
              </a:pPr>
              <a:endParaRPr lang="en-US" sz="1701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endParaRPr>
            </a:p>
            <a:p>
              <a:pPr algn="l">
                <a:lnSpc>
                  <a:spcPts val="2381"/>
                </a:lnSpc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GARIS PANDUAN INI MEMFOKUSKAN KEPADA TIGA (3) KATEGORI IAITU:</a:t>
              </a:r>
            </a:p>
            <a:p>
              <a:pPr algn="l">
                <a:lnSpc>
                  <a:spcPts val="2381"/>
                </a:lnSpc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 ORANG AWAM/PENGGUNA;</a:t>
              </a:r>
            </a:p>
            <a:p>
              <a:pPr algn="l">
                <a:lnSpc>
                  <a:spcPts val="2381"/>
                </a:lnSpc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 PEMBANGUN/PENGGUBAL DASAR; DAN </a:t>
              </a:r>
            </a:p>
            <a:p>
              <a:pPr algn="l">
                <a:lnSpc>
                  <a:spcPts val="2381"/>
                </a:lnSpc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 PEMBANGUN/PENYEDIA TEKNOLOGI. </a:t>
              </a:r>
            </a:p>
            <a:p>
              <a:pPr algn="l">
                <a:lnSpc>
                  <a:spcPts val="2381"/>
                </a:lnSpc>
              </a:pPr>
              <a:endParaRPr lang="en-US" sz="1701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endParaRPr>
            </a:p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sz="17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MENINGKATKAN KESEDARAN DAN MENGGALAKKAN PEMATUHAN AI BERTANGGUNGJAWAB DI SELURUH NEGARA MENGGUNAKAN PRINSIP “AI UNTUK MALAYSIA, AI UNTUK SEMUA” (AI FOR MALAYSIA, AI FOR ALL).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2000012" y="268892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2235683" y="923925"/>
            <a:ext cx="14992134" cy="102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𝐆𝐀𝐑𝐈𝐒 𝐏𝐀𝐍𝐃𝐔𝐀𝐍 𝐓𝐀𝐃𝐁𝐈𝐑 𝐔𝐑𝐔𝐒 𝐃𝐀𝐍 𝐄𝐓𝐈𝐊𝐀 𝐊𝐄𝐂𝐄𝐑𝐃𝐀𝐒𝐀𝐍 𝐁𝐔𝐀𝐓𝐀𝐍 𝐍𝐄𝐆𝐀𝐑𝐀 | 𝐀𝐫𝐭𝐢𝐟𝐢𝐜𝐢𝐚𝐥 𝐈𝐧𝐭𝐞𝐥𝐥𝐢𝐠𝐞𝐧𝐜𝐞 𝐆𝐨𝐯𝐞𝐫𝐧𝐚𝐧𝐜𝐞 𝐚𝐧𝐝 𝐄𝐭𝐡𝐢𝐜𝐬 (𝐀𝐈𝐆𝐄)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096D">
                <a:alpha val="100000"/>
              </a:srgbClr>
            </a:gs>
            <a:gs pos="50000">
              <a:srgbClr val="240753">
                <a:alpha val="100000"/>
              </a:srgbClr>
            </a:gs>
            <a:gs pos="100000">
              <a:srgbClr val="2A05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1103" y="-3227555"/>
            <a:ext cx="11749288" cy="13926958"/>
          </a:xfrm>
          <a:custGeom>
            <a:avLst/>
            <a:gdLst/>
            <a:ahLst/>
            <a:cxnLst/>
            <a:rect l="l" t="t" r="r" b="b"/>
            <a:pathLst>
              <a:path w="11749288" h="13926958">
                <a:moveTo>
                  <a:pt x="0" y="0"/>
                </a:moveTo>
                <a:lnTo>
                  <a:pt x="11749288" y="0"/>
                </a:lnTo>
                <a:lnTo>
                  <a:pt x="11749288" y="13926958"/>
                </a:lnTo>
                <a:lnTo>
                  <a:pt x="0" y="1392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3691136" y="2187424"/>
            <a:ext cx="6699615" cy="1649780"/>
          </a:xfrm>
          <a:custGeom>
            <a:avLst/>
            <a:gdLst/>
            <a:ahLst/>
            <a:cxnLst/>
            <a:rect l="l" t="t" r="r" b="b"/>
            <a:pathLst>
              <a:path w="6699615" h="1649780">
                <a:moveTo>
                  <a:pt x="0" y="0"/>
                </a:moveTo>
                <a:lnTo>
                  <a:pt x="6699615" y="0"/>
                </a:lnTo>
                <a:lnTo>
                  <a:pt x="6699615" y="1649780"/>
                </a:lnTo>
                <a:lnTo>
                  <a:pt x="0" y="1649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10390751" y="3837204"/>
            <a:ext cx="7498498" cy="1473926"/>
            <a:chOff x="0" y="0"/>
            <a:chExt cx="9997997" cy="19652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80650" cy="1965235"/>
            </a:xfrm>
            <a:custGeom>
              <a:avLst/>
              <a:gdLst/>
              <a:ahLst/>
              <a:cxnLst/>
              <a:rect l="l" t="t" r="r" b="b"/>
              <a:pathLst>
                <a:path w="7980650" h="1965235">
                  <a:moveTo>
                    <a:pt x="0" y="0"/>
                  </a:moveTo>
                  <a:lnTo>
                    <a:pt x="7980650" y="0"/>
                  </a:lnTo>
                  <a:lnTo>
                    <a:pt x="7980650" y="1965235"/>
                  </a:lnTo>
                  <a:lnTo>
                    <a:pt x="0" y="196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396" y="668458"/>
              <a:ext cx="9551601" cy="492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3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KETULUSAN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691136" y="5311130"/>
            <a:ext cx="7434407" cy="1649780"/>
            <a:chOff x="0" y="0"/>
            <a:chExt cx="9912542" cy="21997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32820" cy="2199707"/>
            </a:xfrm>
            <a:custGeom>
              <a:avLst/>
              <a:gdLst/>
              <a:ahLst/>
              <a:cxnLst/>
              <a:rect l="l" t="t" r="r" b="b"/>
              <a:pathLst>
                <a:path w="8932820" h="2199707">
                  <a:moveTo>
                    <a:pt x="0" y="0"/>
                  </a:moveTo>
                  <a:lnTo>
                    <a:pt x="8932820" y="0"/>
                  </a:lnTo>
                  <a:lnTo>
                    <a:pt x="8932820" y="2199707"/>
                  </a:lnTo>
                  <a:lnTo>
                    <a:pt x="0" y="2199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0941" y="683840"/>
              <a:ext cx="9551601" cy="492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3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AKAUNTABILITI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390751" y="6807681"/>
            <a:ext cx="5985487" cy="1473926"/>
          </a:xfrm>
          <a:custGeom>
            <a:avLst/>
            <a:gdLst/>
            <a:ahLst/>
            <a:cxnLst/>
            <a:rect l="l" t="t" r="r" b="b"/>
            <a:pathLst>
              <a:path w="5985487" h="1473926">
                <a:moveTo>
                  <a:pt x="0" y="0"/>
                </a:moveTo>
                <a:lnTo>
                  <a:pt x="5985488" y="0"/>
                </a:lnTo>
                <a:lnTo>
                  <a:pt x="5985488" y="1473926"/>
                </a:lnTo>
                <a:lnTo>
                  <a:pt x="0" y="1473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>
            <a:off x="3691136" y="7993014"/>
            <a:ext cx="6699615" cy="1649780"/>
          </a:xfrm>
          <a:custGeom>
            <a:avLst/>
            <a:gdLst/>
            <a:ahLst/>
            <a:cxnLst/>
            <a:rect l="l" t="t" r="r" b="b"/>
            <a:pathLst>
              <a:path w="6699615" h="1649780">
                <a:moveTo>
                  <a:pt x="0" y="0"/>
                </a:moveTo>
                <a:lnTo>
                  <a:pt x="6699615" y="0"/>
                </a:lnTo>
                <a:lnTo>
                  <a:pt x="6699615" y="1649780"/>
                </a:lnTo>
                <a:lnTo>
                  <a:pt x="0" y="1649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flipH="1">
            <a:off x="467583" y="3837204"/>
            <a:ext cx="3016472" cy="2880731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914484" y="2857247"/>
            <a:ext cx="7163701" cy="35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KEADILAN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29145"/>
            <a:ext cx="16677260" cy="7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9"/>
              </a:lnSpc>
              <a:spcBef>
                <a:spcPct val="0"/>
              </a:spcBef>
            </a:pPr>
            <a:r>
              <a:rPr lang="en-US" sz="41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🇲🇾 Nilai Teras Polisi AI Malaysia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25548" y="7320930"/>
            <a:ext cx="5354918" cy="35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3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KESEJAHTERAAN SOSIAL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6398" y="8496150"/>
            <a:ext cx="5559917" cy="69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3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PRIV</a:t>
            </a:r>
            <a:r>
              <a:rPr lang="en-US" sz="27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ASI DAN KESELAMATAN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9248" y="5652801"/>
            <a:ext cx="18030636" cy="6523812"/>
          </a:xfrm>
          <a:custGeom>
            <a:avLst/>
            <a:gdLst/>
            <a:ahLst/>
            <a:cxnLst/>
            <a:rect l="l" t="t" r="r" b="b"/>
            <a:pathLst>
              <a:path w="18030636" h="6523812">
                <a:moveTo>
                  <a:pt x="0" y="0"/>
                </a:moveTo>
                <a:lnTo>
                  <a:pt x="18030635" y="0"/>
                </a:lnTo>
                <a:lnTo>
                  <a:pt x="18030635" y="6523811"/>
                </a:lnTo>
                <a:lnTo>
                  <a:pt x="0" y="652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-985217" y="0"/>
            <a:ext cx="3048930" cy="2189329"/>
            <a:chOff x="0" y="0"/>
            <a:chExt cx="4065239" cy="2919106"/>
          </a:xfrm>
        </p:grpSpPr>
        <p:sp>
          <p:nvSpPr>
            <p:cNvPr id="4" name="Freeform 4"/>
            <p:cNvSpPr/>
            <p:nvPr/>
          </p:nvSpPr>
          <p:spPr>
            <a:xfrm flipV="1">
              <a:off x="1199400" y="53266"/>
              <a:ext cx="2865840" cy="2865840"/>
            </a:xfrm>
            <a:custGeom>
              <a:avLst/>
              <a:gdLst/>
              <a:ahLst/>
              <a:cxnLst/>
              <a:rect l="l" t="t" r="r" b="b"/>
              <a:pathLst>
                <a:path w="2865840" h="2865840">
                  <a:moveTo>
                    <a:pt x="0" y="2865840"/>
                  </a:moveTo>
                  <a:lnTo>
                    <a:pt x="2865839" y="2865840"/>
                  </a:lnTo>
                  <a:lnTo>
                    <a:pt x="2865839" y="0"/>
                  </a:lnTo>
                  <a:lnTo>
                    <a:pt x="0" y="0"/>
                  </a:lnTo>
                  <a:lnTo>
                    <a:pt x="0" y="286584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2297540" cy="229754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4AAC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9700" y="120650"/>
                <a:ext cx="533400" cy="552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3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448418" y="2710528"/>
            <a:ext cx="15391164" cy="611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482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Piawaian etika antarabangsa bagi penilaian sistem AI</a:t>
            </a:r>
          </a:p>
          <a:p>
            <a:pPr marL="755646" lvl="1" indent="-377823" algn="just">
              <a:lnSpc>
                <a:spcPts val="482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Empat elemen utama: </a:t>
            </a: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829"/>
              </a:lnSpc>
            </a:pPr>
            <a:endParaRPr lang="en-US" sz="3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755646" lvl="1" indent="-377823" algn="just">
              <a:lnSpc>
                <a:spcPts val="482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Digunakan untuk audit, pembangunan dan pensijilan sistem AI yang bertanggungjawab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8418" y="581881"/>
            <a:ext cx="14795473" cy="189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6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IEEE CertifAIEd™ – Rangka Etika Sistem AI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58351" y="4869805"/>
            <a:ext cx="3027561" cy="2017445"/>
            <a:chOff x="0" y="0"/>
            <a:chExt cx="812800" cy="5416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541617"/>
            </a:xfrm>
            <a:custGeom>
              <a:avLst/>
              <a:gdLst/>
              <a:ahLst/>
              <a:cxnLst/>
              <a:rect l="l" t="t" r="r" b="b"/>
              <a:pathLst>
                <a:path w="812800" h="541617">
                  <a:moveTo>
                    <a:pt x="66486" y="0"/>
                  </a:moveTo>
                  <a:lnTo>
                    <a:pt x="746314" y="0"/>
                  </a:lnTo>
                  <a:cubicBezTo>
                    <a:pt x="783033" y="0"/>
                    <a:pt x="812800" y="29767"/>
                    <a:pt x="812800" y="66486"/>
                  </a:cubicBezTo>
                  <a:lnTo>
                    <a:pt x="812800" y="475132"/>
                  </a:lnTo>
                  <a:cubicBezTo>
                    <a:pt x="812800" y="492765"/>
                    <a:pt x="805795" y="509676"/>
                    <a:pt x="793327" y="522144"/>
                  </a:cubicBezTo>
                  <a:cubicBezTo>
                    <a:pt x="780858" y="534613"/>
                    <a:pt x="763947" y="541617"/>
                    <a:pt x="746314" y="541617"/>
                  </a:cubicBezTo>
                  <a:lnTo>
                    <a:pt x="66486" y="541617"/>
                  </a:lnTo>
                  <a:cubicBezTo>
                    <a:pt x="29767" y="541617"/>
                    <a:pt x="0" y="511851"/>
                    <a:pt x="0" y="475132"/>
                  </a:cubicBezTo>
                  <a:lnTo>
                    <a:pt x="0" y="66486"/>
                  </a:lnTo>
                  <a:cubicBezTo>
                    <a:pt x="0" y="29767"/>
                    <a:pt x="29767" y="0"/>
                    <a:pt x="664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76FB5">
                    <a:alpha val="100000"/>
                  </a:srgbClr>
                </a:gs>
                <a:gs pos="100000">
                  <a:srgbClr val="4690C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12800" cy="55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20677" y="4418350"/>
            <a:ext cx="902910" cy="9029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C3C3">
                    <a:alpha val="100000"/>
                  </a:srgbClr>
                </a:gs>
                <a:gs pos="100000">
                  <a:srgbClr val="F0F0F0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05925" y="4869805"/>
            <a:ext cx="3027561" cy="2017445"/>
            <a:chOff x="0" y="0"/>
            <a:chExt cx="812800" cy="5416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541617"/>
            </a:xfrm>
            <a:custGeom>
              <a:avLst/>
              <a:gdLst/>
              <a:ahLst/>
              <a:cxnLst/>
              <a:rect l="l" t="t" r="r" b="b"/>
              <a:pathLst>
                <a:path w="812800" h="541617">
                  <a:moveTo>
                    <a:pt x="66486" y="0"/>
                  </a:moveTo>
                  <a:lnTo>
                    <a:pt x="746314" y="0"/>
                  </a:lnTo>
                  <a:cubicBezTo>
                    <a:pt x="783033" y="0"/>
                    <a:pt x="812800" y="29767"/>
                    <a:pt x="812800" y="66486"/>
                  </a:cubicBezTo>
                  <a:lnTo>
                    <a:pt x="812800" y="475132"/>
                  </a:lnTo>
                  <a:cubicBezTo>
                    <a:pt x="812800" y="492765"/>
                    <a:pt x="805795" y="509676"/>
                    <a:pt x="793327" y="522144"/>
                  </a:cubicBezTo>
                  <a:cubicBezTo>
                    <a:pt x="780858" y="534613"/>
                    <a:pt x="763947" y="541617"/>
                    <a:pt x="746314" y="541617"/>
                  </a:cubicBezTo>
                  <a:lnTo>
                    <a:pt x="66486" y="541617"/>
                  </a:lnTo>
                  <a:cubicBezTo>
                    <a:pt x="29767" y="541617"/>
                    <a:pt x="0" y="511851"/>
                    <a:pt x="0" y="475132"/>
                  </a:cubicBezTo>
                  <a:lnTo>
                    <a:pt x="0" y="66486"/>
                  </a:lnTo>
                  <a:cubicBezTo>
                    <a:pt x="0" y="29767"/>
                    <a:pt x="29767" y="0"/>
                    <a:pt x="664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76FB5">
                    <a:alpha val="100000"/>
                  </a:srgbClr>
                </a:gs>
                <a:gs pos="100000">
                  <a:srgbClr val="4690C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12800" cy="55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368251" y="4418350"/>
            <a:ext cx="902910" cy="9029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C3C3">
                    <a:alpha val="100000"/>
                  </a:srgbClr>
                </a:gs>
                <a:gs pos="100000">
                  <a:srgbClr val="F0F0F0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53499" y="4869805"/>
            <a:ext cx="3027561" cy="2017445"/>
            <a:chOff x="0" y="0"/>
            <a:chExt cx="812800" cy="5416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541617"/>
            </a:xfrm>
            <a:custGeom>
              <a:avLst/>
              <a:gdLst/>
              <a:ahLst/>
              <a:cxnLst/>
              <a:rect l="l" t="t" r="r" b="b"/>
              <a:pathLst>
                <a:path w="812800" h="541617">
                  <a:moveTo>
                    <a:pt x="66486" y="0"/>
                  </a:moveTo>
                  <a:lnTo>
                    <a:pt x="746314" y="0"/>
                  </a:lnTo>
                  <a:cubicBezTo>
                    <a:pt x="783033" y="0"/>
                    <a:pt x="812800" y="29767"/>
                    <a:pt x="812800" y="66486"/>
                  </a:cubicBezTo>
                  <a:lnTo>
                    <a:pt x="812800" y="475132"/>
                  </a:lnTo>
                  <a:cubicBezTo>
                    <a:pt x="812800" y="492765"/>
                    <a:pt x="805795" y="509676"/>
                    <a:pt x="793327" y="522144"/>
                  </a:cubicBezTo>
                  <a:cubicBezTo>
                    <a:pt x="780858" y="534613"/>
                    <a:pt x="763947" y="541617"/>
                    <a:pt x="746314" y="541617"/>
                  </a:cubicBezTo>
                  <a:lnTo>
                    <a:pt x="66486" y="541617"/>
                  </a:lnTo>
                  <a:cubicBezTo>
                    <a:pt x="29767" y="541617"/>
                    <a:pt x="0" y="511851"/>
                    <a:pt x="0" y="475132"/>
                  </a:cubicBezTo>
                  <a:lnTo>
                    <a:pt x="0" y="66486"/>
                  </a:lnTo>
                  <a:cubicBezTo>
                    <a:pt x="0" y="29767"/>
                    <a:pt x="29767" y="0"/>
                    <a:pt x="664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76FB5">
                    <a:alpha val="100000"/>
                  </a:srgbClr>
                </a:gs>
                <a:gs pos="100000">
                  <a:srgbClr val="4690C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12800" cy="55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15824" y="4418350"/>
            <a:ext cx="902910" cy="90291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C3C3">
                    <a:alpha val="100000"/>
                  </a:srgbClr>
                </a:gs>
                <a:gs pos="100000">
                  <a:srgbClr val="F0F0F0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602088" y="4869805"/>
            <a:ext cx="3027561" cy="2017445"/>
            <a:chOff x="0" y="0"/>
            <a:chExt cx="812800" cy="5416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541617"/>
            </a:xfrm>
            <a:custGeom>
              <a:avLst/>
              <a:gdLst/>
              <a:ahLst/>
              <a:cxnLst/>
              <a:rect l="l" t="t" r="r" b="b"/>
              <a:pathLst>
                <a:path w="812800" h="541617">
                  <a:moveTo>
                    <a:pt x="66486" y="0"/>
                  </a:moveTo>
                  <a:lnTo>
                    <a:pt x="746314" y="0"/>
                  </a:lnTo>
                  <a:cubicBezTo>
                    <a:pt x="783033" y="0"/>
                    <a:pt x="812800" y="29767"/>
                    <a:pt x="812800" y="66486"/>
                  </a:cubicBezTo>
                  <a:lnTo>
                    <a:pt x="812800" y="475132"/>
                  </a:lnTo>
                  <a:cubicBezTo>
                    <a:pt x="812800" y="492765"/>
                    <a:pt x="805795" y="509676"/>
                    <a:pt x="793327" y="522144"/>
                  </a:cubicBezTo>
                  <a:cubicBezTo>
                    <a:pt x="780858" y="534613"/>
                    <a:pt x="763947" y="541617"/>
                    <a:pt x="746314" y="541617"/>
                  </a:cubicBezTo>
                  <a:lnTo>
                    <a:pt x="66486" y="541617"/>
                  </a:lnTo>
                  <a:cubicBezTo>
                    <a:pt x="29767" y="541617"/>
                    <a:pt x="0" y="511851"/>
                    <a:pt x="0" y="475132"/>
                  </a:cubicBezTo>
                  <a:lnTo>
                    <a:pt x="0" y="66486"/>
                  </a:lnTo>
                  <a:cubicBezTo>
                    <a:pt x="0" y="29767"/>
                    <a:pt x="29767" y="0"/>
                    <a:pt x="664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76FB5">
                    <a:alpha val="100000"/>
                  </a:srgbClr>
                </a:gs>
                <a:gs pos="100000">
                  <a:srgbClr val="4690C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812800" cy="55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664413" y="4418350"/>
            <a:ext cx="902910" cy="9029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C3C3">
                    <a:alpha val="100000"/>
                  </a:srgbClr>
                </a:gs>
                <a:gs pos="100000">
                  <a:srgbClr val="F0F0F0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 rot="5400000">
            <a:off x="3899091" y="4722939"/>
            <a:ext cx="433554" cy="293733"/>
          </a:xfrm>
          <a:custGeom>
            <a:avLst/>
            <a:gdLst/>
            <a:ahLst/>
            <a:cxnLst/>
            <a:rect l="l" t="t" r="r" b="b"/>
            <a:pathLst>
              <a:path w="433554" h="293733">
                <a:moveTo>
                  <a:pt x="0" y="0"/>
                </a:moveTo>
                <a:lnTo>
                  <a:pt x="433554" y="0"/>
                </a:lnTo>
                <a:lnTo>
                  <a:pt x="433554" y="293733"/>
                </a:lnTo>
                <a:lnTo>
                  <a:pt x="0" y="293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5" name="TextBox 35"/>
          <p:cNvSpPr txBox="1"/>
          <p:nvPr/>
        </p:nvSpPr>
        <p:spPr>
          <a:xfrm>
            <a:off x="12745963" y="5491348"/>
            <a:ext cx="2939949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Algorithmic Bias (Bias Algoritma)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04910" y="5491348"/>
            <a:ext cx="3027561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Ethical Privacy (Privasi Beretika)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23032" y="5491348"/>
            <a:ext cx="248849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Accountability (Akauntabiliti)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23498" y="5491348"/>
            <a:ext cx="238474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(Ketelusan)</a:t>
            </a:r>
          </a:p>
        </p:txBody>
      </p:sp>
      <p:sp>
        <p:nvSpPr>
          <p:cNvPr id="39" name="Freeform 39"/>
          <p:cNvSpPr/>
          <p:nvPr/>
        </p:nvSpPr>
        <p:spPr>
          <a:xfrm rot="5400000">
            <a:off x="7250502" y="4722939"/>
            <a:ext cx="433554" cy="293733"/>
          </a:xfrm>
          <a:custGeom>
            <a:avLst/>
            <a:gdLst/>
            <a:ahLst/>
            <a:cxnLst/>
            <a:rect l="l" t="t" r="r" b="b"/>
            <a:pathLst>
              <a:path w="433554" h="293733">
                <a:moveTo>
                  <a:pt x="0" y="0"/>
                </a:moveTo>
                <a:lnTo>
                  <a:pt x="433554" y="0"/>
                </a:lnTo>
                <a:lnTo>
                  <a:pt x="433554" y="293733"/>
                </a:lnTo>
                <a:lnTo>
                  <a:pt x="0" y="293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0" name="Freeform 40"/>
          <p:cNvSpPr/>
          <p:nvPr/>
        </p:nvSpPr>
        <p:spPr>
          <a:xfrm rot="5400000">
            <a:off x="10601913" y="4722939"/>
            <a:ext cx="433554" cy="293733"/>
          </a:xfrm>
          <a:custGeom>
            <a:avLst/>
            <a:gdLst/>
            <a:ahLst/>
            <a:cxnLst/>
            <a:rect l="l" t="t" r="r" b="b"/>
            <a:pathLst>
              <a:path w="433554" h="293733">
                <a:moveTo>
                  <a:pt x="0" y="0"/>
                </a:moveTo>
                <a:lnTo>
                  <a:pt x="433554" y="0"/>
                </a:lnTo>
                <a:lnTo>
                  <a:pt x="433554" y="293733"/>
                </a:lnTo>
                <a:lnTo>
                  <a:pt x="0" y="293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1" name="Freeform 41"/>
          <p:cNvSpPr/>
          <p:nvPr/>
        </p:nvSpPr>
        <p:spPr>
          <a:xfrm rot="5400000">
            <a:off x="13953324" y="4722939"/>
            <a:ext cx="433554" cy="293733"/>
          </a:xfrm>
          <a:custGeom>
            <a:avLst/>
            <a:gdLst/>
            <a:ahLst/>
            <a:cxnLst/>
            <a:rect l="l" t="t" r="r" b="b"/>
            <a:pathLst>
              <a:path w="433554" h="293733">
                <a:moveTo>
                  <a:pt x="0" y="0"/>
                </a:moveTo>
                <a:lnTo>
                  <a:pt x="433554" y="0"/>
                </a:lnTo>
                <a:lnTo>
                  <a:pt x="433554" y="293733"/>
                </a:lnTo>
                <a:lnTo>
                  <a:pt x="0" y="293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9303481" y="2261285"/>
            <a:ext cx="6678771" cy="3162000"/>
            <a:chOff x="0" y="0"/>
            <a:chExt cx="1759018" cy="832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9018" cy="832790"/>
            </a:xfrm>
            <a:custGeom>
              <a:avLst/>
              <a:gdLst/>
              <a:ahLst/>
              <a:cxnLst/>
              <a:rect l="l" t="t" r="r" b="b"/>
              <a:pathLst>
                <a:path w="1759018" h="832790">
                  <a:moveTo>
                    <a:pt x="12751" y="0"/>
                  </a:moveTo>
                  <a:lnTo>
                    <a:pt x="1746267" y="0"/>
                  </a:lnTo>
                  <a:cubicBezTo>
                    <a:pt x="1749649" y="0"/>
                    <a:pt x="1752892" y="1343"/>
                    <a:pt x="1755283" y="3735"/>
                  </a:cubicBezTo>
                  <a:cubicBezTo>
                    <a:pt x="1757674" y="6126"/>
                    <a:pt x="1759018" y="9369"/>
                    <a:pt x="1759018" y="12751"/>
                  </a:cubicBezTo>
                  <a:lnTo>
                    <a:pt x="1759018" y="820039"/>
                  </a:lnTo>
                  <a:cubicBezTo>
                    <a:pt x="1759018" y="823421"/>
                    <a:pt x="1757674" y="826664"/>
                    <a:pt x="1755283" y="829056"/>
                  </a:cubicBezTo>
                  <a:cubicBezTo>
                    <a:pt x="1752892" y="831447"/>
                    <a:pt x="1749649" y="832790"/>
                    <a:pt x="1746267" y="832790"/>
                  </a:cubicBezTo>
                  <a:lnTo>
                    <a:pt x="12751" y="832790"/>
                  </a:lnTo>
                  <a:cubicBezTo>
                    <a:pt x="9369" y="832790"/>
                    <a:pt x="6126" y="831447"/>
                    <a:pt x="3735" y="829056"/>
                  </a:cubicBezTo>
                  <a:cubicBezTo>
                    <a:pt x="1343" y="826664"/>
                    <a:pt x="0" y="823421"/>
                    <a:pt x="0" y="820039"/>
                  </a:cubicBezTo>
                  <a:lnTo>
                    <a:pt x="0" y="12751"/>
                  </a:lnTo>
                  <a:cubicBezTo>
                    <a:pt x="0" y="9369"/>
                    <a:pt x="1343" y="6126"/>
                    <a:pt x="3735" y="3735"/>
                  </a:cubicBezTo>
                  <a:cubicBezTo>
                    <a:pt x="6126" y="1343"/>
                    <a:pt x="9369" y="0"/>
                    <a:pt x="127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59018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226318" y="885067"/>
            <a:ext cx="1988095" cy="1772055"/>
          </a:xfrm>
          <a:custGeom>
            <a:avLst/>
            <a:gdLst/>
            <a:ahLst/>
            <a:cxnLst/>
            <a:rect l="l" t="t" r="r" b="b"/>
            <a:pathLst>
              <a:path w="1988095" h="1772055">
                <a:moveTo>
                  <a:pt x="0" y="0"/>
                </a:moveTo>
                <a:lnTo>
                  <a:pt x="1988095" y="0"/>
                </a:lnTo>
                <a:lnTo>
                  <a:pt x="1988095" y="1772056"/>
                </a:lnTo>
                <a:lnTo>
                  <a:pt x="0" y="177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-814083">
            <a:off x="-1318032" y="5079821"/>
            <a:ext cx="3274969" cy="3363255"/>
          </a:xfrm>
          <a:custGeom>
            <a:avLst/>
            <a:gdLst/>
            <a:ahLst/>
            <a:cxnLst/>
            <a:rect l="l" t="t" r="r" b="b"/>
            <a:pathLst>
              <a:path w="3274969" h="3363255">
                <a:moveTo>
                  <a:pt x="0" y="0"/>
                </a:moveTo>
                <a:lnTo>
                  <a:pt x="3274969" y="0"/>
                </a:lnTo>
                <a:lnTo>
                  <a:pt x="3274969" y="3363255"/>
                </a:lnTo>
                <a:lnTo>
                  <a:pt x="0" y="3363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8" name="Group 8"/>
          <p:cNvGrpSpPr/>
          <p:nvPr/>
        </p:nvGrpSpPr>
        <p:grpSpPr>
          <a:xfrm>
            <a:off x="2001757" y="2261285"/>
            <a:ext cx="6691612" cy="3162000"/>
            <a:chOff x="0" y="0"/>
            <a:chExt cx="1762400" cy="8327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2400" cy="832790"/>
            </a:xfrm>
            <a:custGeom>
              <a:avLst/>
              <a:gdLst/>
              <a:ahLst/>
              <a:cxnLst/>
              <a:rect l="l" t="t" r="r" b="b"/>
              <a:pathLst>
                <a:path w="1762400" h="832790">
                  <a:moveTo>
                    <a:pt x="12727" y="0"/>
                  </a:moveTo>
                  <a:lnTo>
                    <a:pt x="1749673" y="0"/>
                  </a:lnTo>
                  <a:cubicBezTo>
                    <a:pt x="1756702" y="0"/>
                    <a:pt x="1762400" y="5698"/>
                    <a:pt x="1762400" y="12727"/>
                  </a:cubicBezTo>
                  <a:lnTo>
                    <a:pt x="1762400" y="820064"/>
                  </a:lnTo>
                  <a:cubicBezTo>
                    <a:pt x="1762400" y="827092"/>
                    <a:pt x="1756702" y="832790"/>
                    <a:pt x="1749673" y="832790"/>
                  </a:cubicBezTo>
                  <a:lnTo>
                    <a:pt x="12727" y="832790"/>
                  </a:lnTo>
                  <a:cubicBezTo>
                    <a:pt x="9351" y="832790"/>
                    <a:pt x="6114" y="831449"/>
                    <a:pt x="3728" y="829063"/>
                  </a:cubicBezTo>
                  <a:cubicBezTo>
                    <a:pt x="1341" y="826676"/>
                    <a:pt x="0" y="823439"/>
                    <a:pt x="0" y="820064"/>
                  </a:cubicBezTo>
                  <a:lnTo>
                    <a:pt x="0" y="12727"/>
                  </a:lnTo>
                  <a:cubicBezTo>
                    <a:pt x="0" y="9351"/>
                    <a:pt x="1341" y="6114"/>
                    <a:pt x="3728" y="3728"/>
                  </a:cubicBezTo>
                  <a:cubicBezTo>
                    <a:pt x="6114" y="1341"/>
                    <a:pt x="9351" y="0"/>
                    <a:pt x="12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762400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76952" y="2750085"/>
            <a:ext cx="5741222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Transparency – Keputusan AI boleh dijelaskan dan difahami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83711" y="2750085"/>
            <a:ext cx="5718311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Accountability – Tanggungjawab terhadap hasil sistem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5748" y="904875"/>
            <a:ext cx="13676504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🌐 Empat Suite IEEE CertifAIEd™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03481" y="6096300"/>
            <a:ext cx="6691612" cy="3162000"/>
            <a:chOff x="0" y="0"/>
            <a:chExt cx="1762400" cy="8327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62400" cy="832790"/>
            </a:xfrm>
            <a:custGeom>
              <a:avLst/>
              <a:gdLst/>
              <a:ahLst/>
              <a:cxnLst/>
              <a:rect l="l" t="t" r="r" b="b"/>
              <a:pathLst>
                <a:path w="1762400" h="832790">
                  <a:moveTo>
                    <a:pt x="12727" y="0"/>
                  </a:moveTo>
                  <a:lnTo>
                    <a:pt x="1749673" y="0"/>
                  </a:lnTo>
                  <a:cubicBezTo>
                    <a:pt x="1756702" y="0"/>
                    <a:pt x="1762400" y="5698"/>
                    <a:pt x="1762400" y="12727"/>
                  </a:cubicBezTo>
                  <a:lnTo>
                    <a:pt x="1762400" y="820064"/>
                  </a:lnTo>
                  <a:cubicBezTo>
                    <a:pt x="1762400" y="827092"/>
                    <a:pt x="1756702" y="832790"/>
                    <a:pt x="1749673" y="832790"/>
                  </a:cubicBezTo>
                  <a:lnTo>
                    <a:pt x="12727" y="832790"/>
                  </a:lnTo>
                  <a:cubicBezTo>
                    <a:pt x="9351" y="832790"/>
                    <a:pt x="6114" y="831449"/>
                    <a:pt x="3728" y="829063"/>
                  </a:cubicBezTo>
                  <a:cubicBezTo>
                    <a:pt x="1341" y="826676"/>
                    <a:pt x="0" y="823439"/>
                    <a:pt x="0" y="820064"/>
                  </a:cubicBezTo>
                  <a:lnTo>
                    <a:pt x="0" y="12727"/>
                  </a:lnTo>
                  <a:cubicBezTo>
                    <a:pt x="0" y="9351"/>
                    <a:pt x="1341" y="6114"/>
                    <a:pt x="3728" y="3728"/>
                  </a:cubicBezTo>
                  <a:cubicBezTo>
                    <a:pt x="6114" y="1341"/>
                    <a:pt x="9351" y="0"/>
                    <a:pt x="12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762400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90132" y="6585099"/>
            <a:ext cx="5872068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Algorithmic Bias – Pengesanan dan mitigasi bias tersembunyi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001757" y="6096300"/>
            <a:ext cx="6844012" cy="3162000"/>
            <a:chOff x="0" y="0"/>
            <a:chExt cx="1802538" cy="8327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02538" cy="832790"/>
            </a:xfrm>
            <a:custGeom>
              <a:avLst/>
              <a:gdLst/>
              <a:ahLst/>
              <a:cxnLst/>
              <a:rect l="l" t="t" r="r" b="b"/>
              <a:pathLst>
                <a:path w="1802538" h="832790">
                  <a:moveTo>
                    <a:pt x="12443" y="0"/>
                  </a:moveTo>
                  <a:lnTo>
                    <a:pt x="1790095" y="0"/>
                  </a:lnTo>
                  <a:cubicBezTo>
                    <a:pt x="1793395" y="0"/>
                    <a:pt x="1796560" y="1311"/>
                    <a:pt x="1798894" y="3645"/>
                  </a:cubicBezTo>
                  <a:cubicBezTo>
                    <a:pt x="1801227" y="5978"/>
                    <a:pt x="1802538" y="9143"/>
                    <a:pt x="1802538" y="12443"/>
                  </a:cubicBezTo>
                  <a:lnTo>
                    <a:pt x="1802538" y="820347"/>
                  </a:lnTo>
                  <a:cubicBezTo>
                    <a:pt x="1802538" y="823647"/>
                    <a:pt x="1801227" y="826812"/>
                    <a:pt x="1798894" y="829146"/>
                  </a:cubicBezTo>
                  <a:cubicBezTo>
                    <a:pt x="1796560" y="831479"/>
                    <a:pt x="1793395" y="832790"/>
                    <a:pt x="1790095" y="832790"/>
                  </a:cubicBezTo>
                  <a:lnTo>
                    <a:pt x="12443" y="832790"/>
                  </a:lnTo>
                  <a:cubicBezTo>
                    <a:pt x="9143" y="832790"/>
                    <a:pt x="5978" y="831479"/>
                    <a:pt x="3645" y="829146"/>
                  </a:cubicBezTo>
                  <a:cubicBezTo>
                    <a:pt x="1311" y="826812"/>
                    <a:pt x="0" y="823647"/>
                    <a:pt x="0" y="820347"/>
                  </a:cubicBezTo>
                  <a:lnTo>
                    <a:pt x="0" y="12443"/>
                  </a:lnTo>
                  <a:cubicBezTo>
                    <a:pt x="0" y="9143"/>
                    <a:pt x="1311" y="5978"/>
                    <a:pt x="3645" y="3645"/>
                  </a:cubicBezTo>
                  <a:cubicBezTo>
                    <a:pt x="5978" y="1311"/>
                    <a:pt x="9143" y="0"/>
                    <a:pt x="124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802538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79163" y="6585099"/>
            <a:ext cx="5489199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Ethical Privacy – Perlindungan data secara beretika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2430003" y="1188064"/>
            <a:ext cx="13159633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7798FF"/>
                </a:solidFill>
                <a:latin typeface="Organic"/>
                <a:ea typeface="Organic"/>
                <a:cs typeface="Organic"/>
                <a:sym typeface="Organic"/>
              </a:rPr>
              <a:t>📊 Perbandingan Polisi Malaysia &amp; IEEE</a:t>
            </a:r>
          </a:p>
        </p:txBody>
      </p:sp>
      <p:sp>
        <p:nvSpPr>
          <p:cNvPr id="4" name="Freeform 4"/>
          <p:cNvSpPr/>
          <p:nvPr/>
        </p:nvSpPr>
        <p:spPr>
          <a:xfrm rot="2060066">
            <a:off x="-462567" y="6475842"/>
            <a:ext cx="1589414" cy="2758201"/>
          </a:xfrm>
          <a:custGeom>
            <a:avLst/>
            <a:gdLst/>
            <a:ahLst/>
            <a:cxnLst/>
            <a:rect l="l" t="t" r="r" b="b"/>
            <a:pathLst>
              <a:path w="1589414" h="2758201">
                <a:moveTo>
                  <a:pt x="0" y="0"/>
                </a:moveTo>
                <a:lnTo>
                  <a:pt x="1589414" y="0"/>
                </a:lnTo>
                <a:lnTo>
                  <a:pt x="1589414" y="2758201"/>
                </a:lnTo>
                <a:lnTo>
                  <a:pt x="0" y="2758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 rot="-5244104">
            <a:off x="15904201" y="1075348"/>
            <a:ext cx="2031517" cy="2039164"/>
          </a:xfrm>
          <a:custGeom>
            <a:avLst/>
            <a:gdLst/>
            <a:ahLst/>
            <a:cxnLst/>
            <a:rect l="l" t="t" r="r" b="b"/>
            <a:pathLst>
              <a:path w="2031517" h="2039164">
                <a:moveTo>
                  <a:pt x="0" y="0"/>
                </a:moveTo>
                <a:lnTo>
                  <a:pt x="2031517" y="0"/>
                </a:lnTo>
                <a:lnTo>
                  <a:pt x="2031517" y="2039164"/>
                </a:lnTo>
                <a:lnTo>
                  <a:pt x="0" y="203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2430003" y="3555403"/>
            <a:ext cx="13159633" cy="4918665"/>
            <a:chOff x="0" y="0"/>
            <a:chExt cx="17546177" cy="6558220"/>
          </a:xfrm>
        </p:grpSpPr>
        <p:sp>
          <p:nvSpPr>
            <p:cNvPr id="7" name="TextBox 7"/>
            <p:cNvSpPr txBox="1"/>
            <p:nvPr/>
          </p:nvSpPr>
          <p:spPr>
            <a:xfrm>
              <a:off x="0" y="945093"/>
              <a:ext cx="8114116" cy="1599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Polisi AI Malaysia: Kerangka umum untuk dasar negara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278389" cy="1107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2061" y="985310"/>
              <a:ext cx="8114116" cy="1618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Sesuai diterapkan di IPT, industri dan agensi kerajaan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2061" y="-104775"/>
              <a:ext cx="2278389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114528"/>
              <a:ext cx="8114116" cy="1618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IEEE CertifAIEd™: Piawaian teknikal untuk audit sistem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172219"/>
              <a:ext cx="2278389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32061" y="4114528"/>
              <a:ext cx="8114116" cy="2443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Gabungan ini memberikan keseimbangan antara nilai strategik dan aplikasi teknikal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32061" y="3083712"/>
              <a:ext cx="2278389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8962228" cy="9026164"/>
          </a:xfrm>
          <a:custGeom>
            <a:avLst/>
            <a:gdLst/>
            <a:ahLst/>
            <a:cxnLst/>
            <a:rect l="l" t="t" r="r" b="b"/>
            <a:pathLst>
              <a:path w="8962228" h="9026164">
                <a:moveTo>
                  <a:pt x="0" y="0"/>
                </a:moveTo>
                <a:lnTo>
                  <a:pt x="8962228" y="0"/>
                </a:lnTo>
                <a:lnTo>
                  <a:pt x="8962228" y="9026164"/>
                </a:lnTo>
                <a:lnTo>
                  <a:pt x="0" y="90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404624" y="5143500"/>
            <a:ext cx="4788276" cy="4740393"/>
          </a:xfrm>
          <a:custGeom>
            <a:avLst/>
            <a:gdLst/>
            <a:ahLst/>
            <a:cxnLst/>
            <a:rect l="l" t="t" r="r" b="b"/>
            <a:pathLst>
              <a:path w="4788276" h="4740393">
                <a:moveTo>
                  <a:pt x="0" y="0"/>
                </a:moveTo>
                <a:lnTo>
                  <a:pt x="4788276" y="0"/>
                </a:lnTo>
                <a:lnTo>
                  <a:pt x="4788276" y="4740393"/>
                </a:lnTo>
                <a:lnTo>
                  <a:pt x="0" y="47403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5458188" y="3304235"/>
            <a:ext cx="7371623" cy="410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08"/>
              </a:lnSpc>
              <a:spcBef>
                <a:spcPct val="0"/>
              </a:spcBef>
            </a:pPr>
            <a:r>
              <a:rPr lang="en-US" sz="58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📍Contoh Kes Tempatan: Etika AI di Malaysia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496B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717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464813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22134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3977872" y="-61426"/>
            <a:ext cx="4601845" cy="3612448"/>
          </a:xfrm>
          <a:custGeom>
            <a:avLst/>
            <a:gdLst/>
            <a:ahLst/>
            <a:cxnLst/>
            <a:rect l="l" t="t" r="r" b="b"/>
            <a:pathLst>
              <a:path w="4601845" h="3612448">
                <a:moveTo>
                  <a:pt x="0" y="0"/>
                </a:moveTo>
                <a:lnTo>
                  <a:pt x="4601845" y="0"/>
                </a:lnTo>
                <a:lnTo>
                  <a:pt x="4601845" y="3612449"/>
                </a:lnTo>
                <a:lnTo>
                  <a:pt x="0" y="361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2258466" y="2859805"/>
            <a:ext cx="13771067" cy="5869917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836637" y="4215171"/>
            <a:ext cx="10769411" cy="308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Isu: AI menilai pelajar tanpa konteks manusia (sosio-ekonomi, kesihatan).</a:t>
            </a:r>
          </a:p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Nilai terjejas: Keadilan, Ketelusan</a:t>
            </a:r>
          </a:p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Penyelesaian: Intervensi pensyarah + semakan manual.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3809100" y="5452653"/>
            <a:ext cx="4973254" cy="5100773"/>
          </a:xfrm>
          <a:custGeom>
            <a:avLst/>
            <a:gdLst/>
            <a:ahLst/>
            <a:cxnLst/>
            <a:rect l="l" t="t" r="r" b="b"/>
            <a:pathLst>
              <a:path w="4973254" h="5100773">
                <a:moveTo>
                  <a:pt x="4973254" y="0"/>
                </a:moveTo>
                <a:lnTo>
                  <a:pt x="0" y="0"/>
                </a:lnTo>
                <a:lnTo>
                  <a:pt x="0" y="5100773"/>
                </a:lnTo>
                <a:lnTo>
                  <a:pt x="4973254" y="5100773"/>
                </a:lnTo>
                <a:lnTo>
                  <a:pt x="49732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9" name="Group 9"/>
          <p:cNvGrpSpPr/>
          <p:nvPr/>
        </p:nvGrpSpPr>
        <p:grpSpPr>
          <a:xfrm>
            <a:off x="1021921" y="1028700"/>
            <a:ext cx="15859801" cy="1037426"/>
            <a:chOff x="0" y="0"/>
            <a:chExt cx="21146402" cy="1383234"/>
          </a:xfrm>
        </p:grpSpPr>
        <p:sp>
          <p:nvSpPr>
            <p:cNvPr id="10" name="TextBox 10"/>
            <p:cNvSpPr txBox="1"/>
            <p:nvPr/>
          </p:nvSpPr>
          <p:spPr>
            <a:xfrm>
              <a:off x="1708465" y="188544"/>
              <a:ext cx="19437937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Sistem AI</a:t>
              </a:r>
              <a:r>
                <a:rPr lang="en-US" sz="4200" u="none" strike="noStrike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 Penilaian Pelajar IPTA: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437898" cy="1383234"/>
            </a:xfrm>
            <a:custGeom>
              <a:avLst/>
              <a:gdLst/>
              <a:ahLst/>
              <a:cxnLst/>
              <a:rect l="l" t="t" r="r" b="b"/>
              <a:pathLst>
                <a:path w="1437898" h="1383234">
                  <a:moveTo>
                    <a:pt x="0" y="0"/>
                  </a:moveTo>
                  <a:lnTo>
                    <a:pt x="1437898" y="0"/>
                  </a:lnTo>
                  <a:lnTo>
                    <a:pt x="1437898" y="1383234"/>
                  </a:lnTo>
                  <a:lnTo>
                    <a:pt x="0" y="138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975" b="-197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550" y="380811"/>
              <a:ext cx="536797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 b="1" u="none" strike="noStrike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607B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02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790" y="-4462290"/>
            <a:ext cx="19211580" cy="19211580"/>
          </a:xfrm>
          <a:custGeom>
            <a:avLst/>
            <a:gdLst/>
            <a:ahLst/>
            <a:cxnLst/>
            <a:rect l="l" t="t" r="r" b="b"/>
            <a:pathLst>
              <a:path w="19211580" h="19211580">
                <a:moveTo>
                  <a:pt x="0" y="0"/>
                </a:moveTo>
                <a:lnTo>
                  <a:pt x="19211580" y="0"/>
                </a:lnTo>
                <a:lnTo>
                  <a:pt x="19211580" y="19211580"/>
                </a:lnTo>
                <a:lnTo>
                  <a:pt x="0" y="19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2059346" y="3012607"/>
            <a:ext cx="12998152" cy="6726544"/>
          </a:xfrm>
          <a:custGeom>
            <a:avLst/>
            <a:gdLst/>
            <a:ahLst/>
            <a:cxnLst/>
            <a:rect l="l" t="t" r="r" b="b"/>
            <a:pathLst>
              <a:path w="12998152" h="6726544">
                <a:moveTo>
                  <a:pt x="0" y="0"/>
                </a:moveTo>
                <a:lnTo>
                  <a:pt x="12998152" y="0"/>
                </a:lnTo>
                <a:lnTo>
                  <a:pt x="12998152" y="6726544"/>
                </a:lnTo>
                <a:lnTo>
                  <a:pt x="0" y="672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2254557" y="1141533"/>
            <a:ext cx="15004743" cy="72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9"/>
              </a:lnSpc>
              <a:spcBef>
                <a:spcPct val="0"/>
              </a:spcBef>
            </a:pPr>
            <a:r>
              <a:rPr lang="en-US" sz="42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Chatbot Kesihatan Mental: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1921" y="1028700"/>
            <a:ext cx="1037426" cy="1037452"/>
            <a:chOff x="0" y="0"/>
            <a:chExt cx="1383234" cy="1383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3234" cy="1383269"/>
            </a:xfrm>
            <a:custGeom>
              <a:avLst/>
              <a:gdLst/>
              <a:ahLst/>
              <a:cxnLst/>
              <a:rect l="l" t="t" r="r" b="b"/>
              <a:pathLst>
                <a:path w="1383234" h="1383269">
                  <a:moveTo>
                    <a:pt x="0" y="0"/>
                  </a:moveTo>
                  <a:lnTo>
                    <a:pt x="1383234" y="0"/>
                  </a:lnTo>
                  <a:lnTo>
                    <a:pt x="1383234" y="1383269"/>
                  </a:lnTo>
                  <a:lnTo>
                    <a:pt x="0" y="1383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3422" y="380811"/>
              <a:ext cx="516391" cy="574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7"/>
                </a:lnSpc>
                <a:spcBef>
                  <a:spcPct val="0"/>
                </a:spcBef>
              </a:pPr>
              <a:r>
                <a:rPr lang="en-US" sz="2633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94788" y="4531654"/>
            <a:ext cx="11727270" cy="308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Isu: Chatbot memberi saranan rawatan tanpa disemak pakar.</a:t>
            </a:r>
          </a:p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Nilai terjejas: Empati, Akauntabiliti</a:t>
            </a:r>
          </a:p>
          <a:p>
            <a:pPr marL="755137" lvl="1" indent="-377569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Penyelesaian: Kemas kini dengan semakan pakar psikiatri.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8962228" cy="9026164"/>
          </a:xfrm>
          <a:custGeom>
            <a:avLst/>
            <a:gdLst/>
            <a:ahLst/>
            <a:cxnLst/>
            <a:rect l="l" t="t" r="r" b="b"/>
            <a:pathLst>
              <a:path w="8962228" h="9026164">
                <a:moveTo>
                  <a:pt x="0" y="0"/>
                </a:moveTo>
                <a:lnTo>
                  <a:pt x="8962228" y="0"/>
                </a:lnTo>
                <a:lnTo>
                  <a:pt x="8962228" y="9026164"/>
                </a:lnTo>
                <a:lnTo>
                  <a:pt x="0" y="90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3625114" y="5541782"/>
            <a:ext cx="3994785" cy="4114800"/>
          </a:xfrm>
          <a:custGeom>
            <a:avLst/>
            <a:gdLst/>
            <a:ahLst/>
            <a:cxnLst/>
            <a:rect l="l" t="t" r="r" b="b"/>
            <a:pathLst>
              <a:path w="3994785" h="4114800">
                <a:moveTo>
                  <a:pt x="0" y="0"/>
                </a:moveTo>
                <a:lnTo>
                  <a:pt x="3994785" y="0"/>
                </a:lnTo>
                <a:lnTo>
                  <a:pt x="39947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5458188" y="4061949"/>
            <a:ext cx="7371623" cy="203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08"/>
              </a:lnSpc>
              <a:spcBef>
                <a:spcPct val="0"/>
              </a:spcBef>
            </a:pPr>
            <a:r>
              <a:rPr lang="en-US" sz="58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siapa kawal siapa?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94000" flipV="1">
            <a:off x="-4699980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6893999" flipH="1" flipV="1">
            <a:off x="15303591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2235683" y="2397427"/>
            <a:ext cx="13816634" cy="748353"/>
            <a:chOff x="0" y="0"/>
            <a:chExt cx="18422179" cy="99780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22179" cy="997804"/>
              <a:chOff x="0" y="0"/>
              <a:chExt cx="8750185" cy="4739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750185" cy="473938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473938">
                    <a:moveTo>
                      <a:pt x="8546985" y="0"/>
                    </a:moveTo>
                    <a:cubicBezTo>
                      <a:pt x="8659209" y="0"/>
                      <a:pt x="8750185" y="106095"/>
                      <a:pt x="8750185" y="236969"/>
                    </a:cubicBezTo>
                    <a:cubicBezTo>
                      <a:pt x="8750185" y="367843"/>
                      <a:pt x="8659209" y="473938"/>
                      <a:pt x="8546985" y="473938"/>
                    </a:cubicBezTo>
                    <a:lnTo>
                      <a:pt x="203200" y="473938"/>
                    </a:lnTo>
                    <a:cubicBezTo>
                      <a:pt x="90976" y="473938"/>
                      <a:pt x="0" y="367843"/>
                      <a:pt x="0" y="236969"/>
                    </a:cubicBezTo>
                    <a:cubicBezTo>
                      <a:pt x="0" y="10609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8750185" cy="5025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848929" y="118794"/>
              <a:ext cx="16724321" cy="73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PEMBANGUN AI: KUASA REKA BENTUK, DATA DAN ALGORITMA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35683" y="3431530"/>
            <a:ext cx="13816634" cy="1289373"/>
            <a:chOff x="0" y="0"/>
            <a:chExt cx="18422179" cy="171916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8422179" cy="1719164"/>
              <a:chOff x="0" y="0"/>
              <a:chExt cx="8750185" cy="81657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50185" cy="816570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816570">
                    <a:moveTo>
                      <a:pt x="8546985" y="0"/>
                    </a:moveTo>
                    <a:cubicBezTo>
                      <a:pt x="8659209" y="0"/>
                      <a:pt x="8750185" y="182795"/>
                      <a:pt x="8750185" y="408285"/>
                    </a:cubicBezTo>
                    <a:cubicBezTo>
                      <a:pt x="8750185" y="633775"/>
                      <a:pt x="8659209" y="816570"/>
                      <a:pt x="8546985" y="816570"/>
                    </a:cubicBezTo>
                    <a:lnTo>
                      <a:pt x="203200" y="816570"/>
                    </a:lnTo>
                    <a:cubicBezTo>
                      <a:pt x="90976" y="816570"/>
                      <a:pt x="0" y="633775"/>
                      <a:pt x="0" y="408285"/>
                    </a:cubicBezTo>
                    <a:cubicBezTo>
                      <a:pt x="0" y="18279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8750185" cy="8451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848929" y="118794"/>
              <a:ext cx="16724321" cy="1455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PENGGUNA AI: TERBATAS, SERING BERGANTUNG TANPA FAHAM MEKANISME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35683" y="5006794"/>
            <a:ext cx="13816634" cy="748353"/>
            <a:chOff x="0" y="0"/>
            <a:chExt cx="18422179" cy="99780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8422179" cy="997804"/>
              <a:chOff x="0" y="0"/>
              <a:chExt cx="8750185" cy="47393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50185" cy="473938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473938">
                    <a:moveTo>
                      <a:pt x="8546985" y="0"/>
                    </a:moveTo>
                    <a:cubicBezTo>
                      <a:pt x="8659209" y="0"/>
                      <a:pt x="8750185" y="106095"/>
                      <a:pt x="8750185" y="236969"/>
                    </a:cubicBezTo>
                    <a:cubicBezTo>
                      <a:pt x="8750185" y="367843"/>
                      <a:pt x="8659209" y="473938"/>
                      <a:pt x="8546985" y="473938"/>
                    </a:cubicBezTo>
                    <a:lnTo>
                      <a:pt x="203200" y="473938"/>
                    </a:lnTo>
                    <a:cubicBezTo>
                      <a:pt x="90976" y="473938"/>
                      <a:pt x="0" y="367843"/>
                      <a:pt x="0" y="236969"/>
                    </a:cubicBezTo>
                    <a:cubicBezTo>
                      <a:pt x="0" y="10609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8750185" cy="5025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48929" y="118794"/>
              <a:ext cx="16724321" cy="73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KERAJAAN: MENGAWAL LEWAT, REGULASI PERLAHAN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7933" y="7900279"/>
            <a:ext cx="14992134" cy="1245104"/>
            <a:chOff x="0" y="0"/>
            <a:chExt cx="19989513" cy="166013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9989513" cy="1660138"/>
              <a:chOff x="0" y="0"/>
              <a:chExt cx="1841155" cy="1529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41154" cy="152909"/>
              </a:xfrm>
              <a:custGeom>
                <a:avLst/>
                <a:gdLst/>
                <a:ahLst/>
                <a:cxnLst/>
                <a:rect l="l" t="t" r="r" b="b"/>
                <a:pathLst>
                  <a:path w="1841154" h="152909">
                    <a:moveTo>
                      <a:pt x="34599" y="0"/>
                    </a:moveTo>
                    <a:lnTo>
                      <a:pt x="1806556" y="0"/>
                    </a:lnTo>
                    <a:cubicBezTo>
                      <a:pt x="1815732" y="0"/>
                      <a:pt x="1824532" y="3645"/>
                      <a:pt x="1831021" y="10134"/>
                    </a:cubicBezTo>
                    <a:cubicBezTo>
                      <a:pt x="1837509" y="16622"/>
                      <a:pt x="1841154" y="25423"/>
                      <a:pt x="1841154" y="34599"/>
                    </a:cubicBezTo>
                    <a:lnTo>
                      <a:pt x="1841154" y="118310"/>
                    </a:lnTo>
                    <a:cubicBezTo>
                      <a:pt x="1841154" y="127486"/>
                      <a:pt x="1837509" y="136286"/>
                      <a:pt x="1831021" y="142775"/>
                    </a:cubicBezTo>
                    <a:cubicBezTo>
                      <a:pt x="1824532" y="149264"/>
                      <a:pt x="1815732" y="152909"/>
                      <a:pt x="1806556" y="152909"/>
                    </a:cubicBezTo>
                    <a:lnTo>
                      <a:pt x="34599" y="152909"/>
                    </a:lnTo>
                    <a:cubicBezTo>
                      <a:pt x="15490" y="152909"/>
                      <a:pt x="0" y="137418"/>
                      <a:pt x="0" y="118310"/>
                    </a:cubicBezTo>
                    <a:lnTo>
                      <a:pt x="0" y="34599"/>
                    </a:lnTo>
                    <a:cubicBezTo>
                      <a:pt x="0" y="15490"/>
                      <a:pt x="15490" y="0"/>
                      <a:pt x="345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841155" cy="1910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632596" y="405910"/>
              <a:ext cx="16724321" cy="73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❓ ADAKAH KITA MENGAWAL AI, ATAU AI YANG MENGAWAL KITA?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235683" y="828675"/>
            <a:ext cx="14992134" cy="110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Siapa Ada Kuasa?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235683" y="6041039"/>
            <a:ext cx="13816634" cy="748353"/>
            <a:chOff x="0" y="0"/>
            <a:chExt cx="18422179" cy="99780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8422179" cy="997804"/>
              <a:chOff x="0" y="0"/>
              <a:chExt cx="8750185" cy="4739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750185" cy="473938"/>
              </a:xfrm>
              <a:custGeom>
                <a:avLst/>
                <a:gdLst/>
                <a:ahLst/>
                <a:cxnLst/>
                <a:rect l="l" t="t" r="r" b="b"/>
                <a:pathLst>
                  <a:path w="8750185" h="473938">
                    <a:moveTo>
                      <a:pt x="8546985" y="0"/>
                    </a:moveTo>
                    <a:cubicBezTo>
                      <a:pt x="8659209" y="0"/>
                      <a:pt x="8750185" y="106095"/>
                      <a:pt x="8750185" y="236969"/>
                    </a:cubicBezTo>
                    <a:cubicBezTo>
                      <a:pt x="8750185" y="367843"/>
                      <a:pt x="8659209" y="473938"/>
                      <a:pt x="8546985" y="473938"/>
                    </a:cubicBezTo>
                    <a:lnTo>
                      <a:pt x="203200" y="473938"/>
                    </a:lnTo>
                    <a:cubicBezTo>
                      <a:pt x="90976" y="473938"/>
                      <a:pt x="0" y="367843"/>
                      <a:pt x="0" y="236969"/>
                    </a:cubicBezTo>
                    <a:cubicBezTo>
                      <a:pt x="0" y="10609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8750185" cy="5025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848929" y="118794"/>
              <a:ext cx="16724321" cy="73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SYARIKAT TEKNOLOGI: DOMINASI AI KOMERSIAL DAN PRIVASI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0" y="4491992"/>
            <a:ext cx="3620956" cy="2290255"/>
          </a:xfrm>
          <a:custGeom>
            <a:avLst/>
            <a:gdLst/>
            <a:ahLst/>
            <a:cxnLst/>
            <a:rect l="l" t="t" r="r" b="b"/>
            <a:pathLst>
              <a:path w="3620956" h="2290255">
                <a:moveTo>
                  <a:pt x="0" y="0"/>
                </a:moveTo>
                <a:lnTo>
                  <a:pt x="3620956" y="0"/>
                </a:lnTo>
                <a:lnTo>
                  <a:pt x="3620956" y="2290255"/>
                </a:lnTo>
                <a:lnTo>
                  <a:pt x="0" y="2290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8" name="Group 8"/>
          <p:cNvGrpSpPr/>
          <p:nvPr/>
        </p:nvGrpSpPr>
        <p:grpSpPr>
          <a:xfrm>
            <a:off x="3856735" y="3318955"/>
            <a:ext cx="5287265" cy="2318165"/>
            <a:chOff x="0" y="0"/>
            <a:chExt cx="7049687" cy="309088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049687" cy="3090887"/>
              <a:chOff x="0" y="0"/>
              <a:chExt cx="1392531" cy="61054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392531" cy="610546"/>
              </a:xfrm>
              <a:custGeom>
                <a:avLst/>
                <a:gdLst/>
                <a:ahLst/>
                <a:cxnLst/>
                <a:rect l="l" t="t" r="r" b="b"/>
                <a:pathLst>
                  <a:path w="1392531" h="610546">
                    <a:moveTo>
                      <a:pt x="20500" y="0"/>
                    </a:moveTo>
                    <a:lnTo>
                      <a:pt x="1372031" y="0"/>
                    </a:lnTo>
                    <a:cubicBezTo>
                      <a:pt x="1377468" y="0"/>
                      <a:pt x="1382682" y="2160"/>
                      <a:pt x="1386527" y="6004"/>
                    </a:cubicBezTo>
                    <a:cubicBezTo>
                      <a:pt x="1390371" y="9849"/>
                      <a:pt x="1392531" y="15063"/>
                      <a:pt x="1392531" y="20500"/>
                    </a:cubicBezTo>
                    <a:lnTo>
                      <a:pt x="1392531" y="590046"/>
                    </a:lnTo>
                    <a:cubicBezTo>
                      <a:pt x="1392531" y="595483"/>
                      <a:pt x="1390371" y="600697"/>
                      <a:pt x="1386527" y="604541"/>
                    </a:cubicBezTo>
                    <a:cubicBezTo>
                      <a:pt x="1382682" y="608386"/>
                      <a:pt x="1377468" y="610546"/>
                      <a:pt x="1372031" y="610546"/>
                    </a:cubicBezTo>
                    <a:lnTo>
                      <a:pt x="20500" y="610546"/>
                    </a:lnTo>
                    <a:cubicBezTo>
                      <a:pt x="9178" y="610546"/>
                      <a:pt x="0" y="601368"/>
                      <a:pt x="0" y="590046"/>
                    </a:cubicBezTo>
                    <a:lnTo>
                      <a:pt x="0" y="20500"/>
                    </a:lnTo>
                    <a:cubicBezTo>
                      <a:pt x="0" y="9178"/>
                      <a:pt x="9178" y="0"/>
                      <a:pt x="205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7F3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392531" cy="658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867594" y="840593"/>
              <a:ext cx="5760375" cy="1352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spc="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Siapa kawal input data dan sumber?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71238" y="1442838"/>
            <a:ext cx="15745523" cy="81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2"/>
              </a:lnSpc>
            </a:pPr>
            <a:r>
              <a:rPr lang="en-US" sz="5227" spc="5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Kawalan Paling Penting dalam Pembangunan AI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856735" y="6120324"/>
            <a:ext cx="5287265" cy="2890945"/>
            <a:chOff x="0" y="0"/>
            <a:chExt cx="7049687" cy="385459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049687" cy="3854593"/>
              <a:chOff x="0" y="0"/>
              <a:chExt cx="1392531" cy="7614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392531" cy="761401"/>
              </a:xfrm>
              <a:custGeom>
                <a:avLst/>
                <a:gdLst/>
                <a:ahLst/>
                <a:cxnLst/>
                <a:rect l="l" t="t" r="r" b="b"/>
                <a:pathLst>
                  <a:path w="1392531" h="761401">
                    <a:moveTo>
                      <a:pt x="20500" y="0"/>
                    </a:moveTo>
                    <a:lnTo>
                      <a:pt x="1372031" y="0"/>
                    </a:lnTo>
                    <a:cubicBezTo>
                      <a:pt x="1377468" y="0"/>
                      <a:pt x="1382682" y="2160"/>
                      <a:pt x="1386527" y="6004"/>
                    </a:cubicBezTo>
                    <a:cubicBezTo>
                      <a:pt x="1390371" y="9849"/>
                      <a:pt x="1392531" y="15063"/>
                      <a:pt x="1392531" y="20500"/>
                    </a:cubicBezTo>
                    <a:lnTo>
                      <a:pt x="1392531" y="740902"/>
                    </a:lnTo>
                    <a:cubicBezTo>
                      <a:pt x="1392531" y="746338"/>
                      <a:pt x="1390371" y="751553"/>
                      <a:pt x="1386527" y="755397"/>
                    </a:cubicBezTo>
                    <a:cubicBezTo>
                      <a:pt x="1382682" y="759241"/>
                      <a:pt x="1377468" y="761401"/>
                      <a:pt x="1372031" y="761401"/>
                    </a:cubicBezTo>
                    <a:lnTo>
                      <a:pt x="20500" y="761401"/>
                    </a:lnTo>
                    <a:cubicBezTo>
                      <a:pt x="9178" y="761401"/>
                      <a:pt x="0" y="752223"/>
                      <a:pt x="0" y="740902"/>
                    </a:cubicBezTo>
                    <a:lnTo>
                      <a:pt x="0" y="20500"/>
                    </a:lnTo>
                    <a:cubicBezTo>
                      <a:pt x="0" y="9178"/>
                      <a:pt x="9178" y="0"/>
                      <a:pt x="205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7F3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392531" cy="809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21718" y="873197"/>
              <a:ext cx="6206251" cy="205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spc="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Adakah AI digunakan untuk maslahat awam atau keuntungan semata?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1045" y="6120324"/>
            <a:ext cx="5195620" cy="2890945"/>
            <a:chOff x="0" y="0"/>
            <a:chExt cx="6927494" cy="385459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6927494" cy="3854593"/>
              <a:chOff x="0" y="0"/>
              <a:chExt cx="1368394" cy="76140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68394" cy="761401"/>
              </a:xfrm>
              <a:custGeom>
                <a:avLst/>
                <a:gdLst/>
                <a:ahLst/>
                <a:cxnLst/>
                <a:rect l="l" t="t" r="r" b="b"/>
                <a:pathLst>
                  <a:path w="1368394" h="761401">
                    <a:moveTo>
                      <a:pt x="20861" y="0"/>
                    </a:moveTo>
                    <a:lnTo>
                      <a:pt x="1347533" y="0"/>
                    </a:lnTo>
                    <a:cubicBezTo>
                      <a:pt x="1359054" y="0"/>
                      <a:pt x="1368394" y="9340"/>
                      <a:pt x="1368394" y="20861"/>
                    </a:cubicBezTo>
                    <a:lnTo>
                      <a:pt x="1368394" y="740540"/>
                    </a:lnTo>
                    <a:cubicBezTo>
                      <a:pt x="1368394" y="752061"/>
                      <a:pt x="1359054" y="761401"/>
                      <a:pt x="1347533" y="761401"/>
                    </a:cubicBezTo>
                    <a:lnTo>
                      <a:pt x="20861" y="761401"/>
                    </a:lnTo>
                    <a:cubicBezTo>
                      <a:pt x="9340" y="761401"/>
                      <a:pt x="0" y="752061"/>
                      <a:pt x="0" y="740540"/>
                    </a:cubicBezTo>
                    <a:lnTo>
                      <a:pt x="0" y="20861"/>
                    </a:lnTo>
                    <a:cubicBezTo>
                      <a:pt x="0" y="9340"/>
                      <a:pt x="9340" y="0"/>
                      <a:pt x="2086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7F3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368394" cy="809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170150" y="708277"/>
              <a:ext cx="4587193" cy="205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spc="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Siapa yang ada kuasa hentikan AI yang tidak beretika?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71045" y="3318955"/>
            <a:ext cx="5195620" cy="2318165"/>
            <a:chOff x="0" y="0"/>
            <a:chExt cx="6927494" cy="309088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927494" cy="3090887"/>
              <a:chOff x="0" y="0"/>
              <a:chExt cx="1368394" cy="61054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368394" cy="610546"/>
              </a:xfrm>
              <a:custGeom>
                <a:avLst/>
                <a:gdLst/>
                <a:ahLst/>
                <a:cxnLst/>
                <a:rect l="l" t="t" r="r" b="b"/>
                <a:pathLst>
                  <a:path w="1368394" h="610546">
                    <a:moveTo>
                      <a:pt x="20861" y="0"/>
                    </a:moveTo>
                    <a:lnTo>
                      <a:pt x="1347533" y="0"/>
                    </a:lnTo>
                    <a:cubicBezTo>
                      <a:pt x="1359054" y="0"/>
                      <a:pt x="1368394" y="9340"/>
                      <a:pt x="1368394" y="20861"/>
                    </a:cubicBezTo>
                    <a:lnTo>
                      <a:pt x="1368394" y="589684"/>
                    </a:lnTo>
                    <a:cubicBezTo>
                      <a:pt x="1368394" y="601206"/>
                      <a:pt x="1359054" y="610546"/>
                      <a:pt x="1347533" y="610546"/>
                    </a:cubicBezTo>
                    <a:lnTo>
                      <a:pt x="20861" y="610546"/>
                    </a:lnTo>
                    <a:cubicBezTo>
                      <a:pt x="9340" y="610546"/>
                      <a:pt x="0" y="601206"/>
                      <a:pt x="0" y="589684"/>
                    </a:cubicBezTo>
                    <a:lnTo>
                      <a:pt x="0" y="20861"/>
                    </a:lnTo>
                    <a:cubicBezTo>
                      <a:pt x="0" y="9340"/>
                      <a:pt x="9340" y="0"/>
                      <a:pt x="2086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7F3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368394" cy="658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170150" y="491343"/>
              <a:ext cx="5014869" cy="205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spc="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Adakah algoritma AI telus atau 'black box'?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5504" y="600108"/>
            <a:ext cx="8856992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PERANAN MANUSIA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0685" y="1429089"/>
            <a:ext cx="688662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DALAM ERA AI</a:t>
            </a:r>
          </a:p>
        </p:txBody>
      </p:sp>
      <p:sp>
        <p:nvSpPr>
          <p:cNvPr id="4" name="Freeform 4"/>
          <p:cNvSpPr/>
          <p:nvPr/>
        </p:nvSpPr>
        <p:spPr>
          <a:xfrm rot="-6895540">
            <a:off x="-4792197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 rot="6894000" flipH="1">
            <a:off x="15396592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2199265" y="3636810"/>
            <a:ext cx="6709326" cy="2013825"/>
            <a:chOff x="0" y="0"/>
            <a:chExt cx="4266064" cy="1280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66064" cy="1280472"/>
            </a:xfrm>
            <a:custGeom>
              <a:avLst/>
              <a:gdLst/>
              <a:ahLst/>
              <a:cxnLst/>
              <a:rect l="l" t="t" r="r" b="b"/>
              <a:pathLst>
                <a:path w="4266064" h="1280472">
                  <a:moveTo>
                    <a:pt x="4062864" y="0"/>
                  </a:moveTo>
                  <a:cubicBezTo>
                    <a:pt x="4175088" y="0"/>
                    <a:pt x="4266064" y="286644"/>
                    <a:pt x="4266064" y="640236"/>
                  </a:cubicBezTo>
                  <a:cubicBezTo>
                    <a:pt x="4266064" y="993829"/>
                    <a:pt x="4175088" y="1280472"/>
                    <a:pt x="4062864" y="1280472"/>
                  </a:cubicBezTo>
                  <a:lnTo>
                    <a:pt x="203200" y="1280472"/>
                  </a:lnTo>
                  <a:cubicBezTo>
                    <a:pt x="90976" y="1280472"/>
                    <a:pt x="0" y="993829"/>
                    <a:pt x="0" y="640236"/>
                  </a:cubicBezTo>
                  <a:cubicBezTo>
                    <a:pt x="0" y="286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266064" cy="1309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79409" y="3636810"/>
            <a:ext cx="6709326" cy="2013825"/>
            <a:chOff x="0" y="0"/>
            <a:chExt cx="4266064" cy="12804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66064" cy="1280472"/>
            </a:xfrm>
            <a:custGeom>
              <a:avLst/>
              <a:gdLst/>
              <a:ahLst/>
              <a:cxnLst/>
              <a:rect l="l" t="t" r="r" b="b"/>
              <a:pathLst>
                <a:path w="4266064" h="1280472">
                  <a:moveTo>
                    <a:pt x="4062864" y="0"/>
                  </a:moveTo>
                  <a:cubicBezTo>
                    <a:pt x="4175088" y="0"/>
                    <a:pt x="4266064" y="286644"/>
                    <a:pt x="4266064" y="640236"/>
                  </a:cubicBezTo>
                  <a:cubicBezTo>
                    <a:pt x="4266064" y="993829"/>
                    <a:pt x="4175088" y="1280472"/>
                    <a:pt x="4062864" y="1280472"/>
                  </a:cubicBezTo>
                  <a:lnTo>
                    <a:pt x="203200" y="1280472"/>
                  </a:lnTo>
                  <a:cubicBezTo>
                    <a:pt x="90976" y="1280472"/>
                    <a:pt x="0" y="993829"/>
                    <a:pt x="0" y="640236"/>
                  </a:cubicBezTo>
                  <a:cubicBezTo>
                    <a:pt x="0" y="286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266064" cy="1309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08443" y="4089383"/>
            <a:ext cx="6090969" cy="92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MANUSIA SEBAGAI PENAPIS MORAL DAN NILAI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88588" y="4089383"/>
            <a:ext cx="6090969" cy="92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PRINSIP 'HUMAN-IN-THE-LOOP' DALAM AI KRITIKAL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99265" y="6011036"/>
            <a:ext cx="6709326" cy="2013825"/>
            <a:chOff x="0" y="0"/>
            <a:chExt cx="4266064" cy="12804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6064" cy="1280472"/>
            </a:xfrm>
            <a:custGeom>
              <a:avLst/>
              <a:gdLst/>
              <a:ahLst/>
              <a:cxnLst/>
              <a:rect l="l" t="t" r="r" b="b"/>
              <a:pathLst>
                <a:path w="4266064" h="1280472">
                  <a:moveTo>
                    <a:pt x="4062864" y="0"/>
                  </a:moveTo>
                  <a:cubicBezTo>
                    <a:pt x="4175088" y="0"/>
                    <a:pt x="4266064" y="286644"/>
                    <a:pt x="4266064" y="640236"/>
                  </a:cubicBezTo>
                  <a:cubicBezTo>
                    <a:pt x="4266064" y="993829"/>
                    <a:pt x="4175088" y="1280472"/>
                    <a:pt x="4062864" y="1280472"/>
                  </a:cubicBezTo>
                  <a:lnTo>
                    <a:pt x="203200" y="1280472"/>
                  </a:lnTo>
                  <a:cubicBezTo>
                    <a:pt x="90976" y="1280472"/>
                    <a:pt x="0" y="993829"/>
                    <a:pt x="0" y="640236"/>
                  </a:cubicBezTo>
                  <a:cubicBezTo>
                    <a:pt x="0" y="286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4266064" cy="1309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79409" y="6011036"/>
            <a:ext cx="6709326" cy="2013825"/>
            <a:chOff x="0" y="0"/>
            <a:chExt cx="4266064" cy="12804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66064" cy="1280472"/>
            </a:xfrm>
            <a:custGeom>
              <a:avLst/>
              <a:gdLst/>
              <a:ahLst/>
              <a:cxnLst/>
              <a:rect l="l" t="t" r="r" b="b"/>
              <a:pathLst>
                <a:path w="4266064" h="1280472">
                  <a:moveTo>
                    <a:pt x="4062864" y="0"/>
                  </a:moveTo>
                  <a:cubicBezTo>
                    <a:pt x="4175088" y="0"/>
                    <a:pt x="4266064" y="286644"/>
                    <a:pt x="4266064" y="640236"/>
                  </a:cubicBezTo>
                  <a:cubicBezTo>
                    <a:pt x="4266064" y="993829"/>
                    <a:pt x="4175088" y="1280472"/>
                    <a:pt x="4062864" y="1280472"/>
                  </a:cubicBezTo>
                  <a:lnTo>
                    <a:pt x="203200" y="1280472"/>
                  </a:lnTo>
                  <a:cubicBezTo>
                    <a:pt x="90976" y="1280472"/>
                    <a:pt x="0" y="993829"/>
                    <a:pt x="0" y="640236"/>
                  </a:cubicBezTo>
                  <a:cubicBezTo>
                    <a:pt x="0" y="286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4266064" cy="1309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08443" y="6545416"/>
            <a:ext cx="6090969" cy="92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KESAN SOSIAL: PENGANGGURAN, DISKRIMINASI, HILANG KAWALAN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88588" y="6514580"/>
            <a:ext cx="6090969" cy="92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TANGGUNGJAWAB ETIKA TETAP MILIK MANUSIA</a:t>
            </a:r>
          </a:p>
        </p:txBody>
      </p:sp>
      <p:grpSp>
        <p:nvGrpSpPr>
          <p:cNvPr id="22" name="Group 22"/>
          <p:cNvGrpSpPr/>
          <p:nvPr/>
        </p:nvGrpSpPr>
        <p:grpSpPr>
          <a:xfrm rot="-2862000">
            <a:off x="16495762" y="-1724517"/>
            <a:ext cx="2307298" cy="4896900"/>
            <a:chOff x="0" y="0"/>
            <a:chExt cx="607683" cy="12897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2862000">
            <a:off x="-515060" y="-1724517"/>
            <a:ext cx="2307298" cy="4896900"/>
            <a:chOff x="0" y="0"/>
            <a:chExt cx="607683" cy="12897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2862000">
            <a:off x="15792063" y="-2365400"/>
            <a:ext cx="593345" cy="8209292"/>
            <a:chOff x="0" y="0"/>
            <a:chExt cx="156272" cy="21621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2862000">
            <a:off x="1902592" y="-2365400"/>
            <a:ext cx="593345" cy="8209292"/>
            <a:chOff x="0" y="0"/>
            <a:chExt cx="156272" cy="216211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607B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02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6732" y="-687253"/>
            <a:ext cx="5555366" cy="5506757"/>
          </a:xfrm>
          <a:custGeom>
            <a:avLst/>
            <a:gdLst/>
            <a:ahLst/>
            <a:cxnLst/>
            <a:rect l="l" t="t" r="r" b="b"/>
            <a:pathLst>
              <a:path w="5555366" h="5506757">
                <a:moveTo>
                  <a:pt x="0" y="0"/>
                </a:moveTo>
                <a:lnTo>
                  <a:pt x="5555366" y="0"/>
                </a:lnTo>
                <a:lnTo>
                  <a:pt x="5555366" y="5506757"/>
                </a:lnTo>
                <a:lnTo>
                  <a:pt x="0" y="550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3588634" y="-687253"/>
            <a:ext cx="5555366" cy="5506757"/>
          </a:xfrm>
          <a:custGeom>
            <a:avLst/>
            <a:gdLst/>
            <a:ahLst/>
            <a:cxnLst/>
            <a:rect l="l" t="t" r="r" b="b"/>
            <a:pathLst>
              <a:path w="5555366" h="5506757">
                <a:moveTo>
                  <a:pt x="0" y="0"/>
                </a:moveTo>
                <a:lnTo>
                  <a:pt x="5555366" y="0"/>
                </a:lnTo>
                <a:lnTo>
                  <a:pt x="5555366" y="5506757"/>
                </a:lnTo>
                <a:lnTo>
                  <a:pt x="0" y="550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9144000" y="-687253"/>
            <a:ext cx="5555366" cy="5506757"/>
          </a:xfrm>
          <a:custGeom>
            <a:avLst/>
            <a:gdLst/>
            <a:ahLst/>
            <a:cxnLst/>
            <a:rect l="l" t="t" r="r" b="b"/>
            <a:pathLst>
              <a:path w="5555366" h="5506757">
                <a:moveTo>
                  <a:pt x="0" y="0"/>
                </a:moveTo>
                <a:lnTo>
                  <a:pt x="5555366" y="0"/>
                </a:lnTo>
                <a:lnTo>
                  <a:pt x="5555366" y="5506757"/>
                </a:lnTo>
                <a:lnTo>
                  <a:pt x="0" y="550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4699366" y="-687253"/>
            <a:ext cx="5555366" cy="5506757"/>
          </a:xfrm>
          <a:custGeom>
            <a:avLst/>
            <a:gdLst/>
            <a:ahLst/>
            <a:cxnLst/>
            <a:rect l="l" t="t" r="r" b="b"/>
            <a:pathLst>
              <a:path w="5555366" h="5506757">
                <a:moveTo>
                  <a:pt x="0" y="0"/>
                </a:moveTo>
                <a:lnTo>
                  <a:pt x="5555366" y="0"/>
                </a:lnTo>
                <a:lnTo>
                  <a:pt x="5555366" y="5506757"/>
                </a:lnTo>
                <a:lnTo>
                  <a:pt x="0" y="550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6859540" y="3352526"/>
            <a:ext cx="7315200" cy="1801368"/>
          </a:xfrm>
          <a:custGeom>
            <a:avLst/>
            <a:gdLst/>
            <a:ahLst/>
            <a:cxnLst/>
            <a:rect l="l" t="t" r="r" b="b"/>
            <a:pathLst>
              <a:path w="7315200" h="1801368">
                <a:moveTo>
                  <a:pt x="0" y="0"/>
                </a:moveTo>
                <a:lnTo>
                  <a:pt x="7315200" y="0"/>
                </a:lnTo>
                <a:lnTo>
                  <a:pt x="7315200" y="1801368"/>
                </a:lnTo>
                <a:lnTo>
                  <a:pt x="0" y="180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3007654" y="3932667"/>
            <a:ext cx="3870936" cy="975798"/>
          </a:xfrm>
          <a:custGeom>
            <a:avLst/>
            <a:gdLst/>
            <a:ahLst/>
            <a:cxnLst/>
            <a:rect l="l" t="t" r="r" b="b"/>
            <a:pathLst>
              <a:path w="3870936" h="975798">
                <a:moveTo>
                  <a:pt x="0" y="0"/>
                </a:moveTo>
                <a:lnTo>
                  <a:pt x="3870936" y="0"/>
                </a:lnTo>
                <a:lnTo>
                  <a:pt x="3870936" y="975798"/>
                </a:lnTo>
                <a:lnTo>
                  <a:pt x="0" y="975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9310680" y="6673635"/>
            <a:ext cx="7315200" cy="1801368"/>
          </a:xfrm>
          <a:custGeom>
            <a:avLst/>
            <a:gdLst/>
            <a:ahLst/>
            <a:cxnLst/>
            <a:rect l="l" t="t" r="r" b="b"/>
            <a:pathLst>
              <a:path w="7315200" h="1801368">
                <a:moveTo>
                  <a:pt x="0" y="0"/>
                </a:moveTo>
                <a:lnTo>
                  <a:pt x="7315200" y="0"/>
                </a:lnTo>
                <a:lnTo>
                  <a:pt x="7315200" y="1801368"/>
                </a:lnTo>
                <a:lnTo>
                  <a:pt x="0" y="180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flipV="1">
            <a:off x="5458794" y="6919064"/>
            <a:ext cx="3870936" cy="975798"/>
          </a:xfrm>
          <a:custGeom>
            <a:avLst/>
            <a:gdLst/>
            <a:ahLst/>
            <a:cxnLst/>
            <a:rect l="l" t="t" r="r" b="b"/>
            <a:pathLst>
              <a:path w="3870936" h="975798">
                <a:moveTo>
                  <a:pt x="0" y="975798"/>
                </a:moveTo>
                <a:lnTo>
                  <a:pt x="3870936" y="975798"/>
                </a:lnTo>
                <a:lnTo>
                  <a:pt x="3870936" y="0"/>
                </a:lnTo>
                <a:lnTo>
                  <a:pt x="0" y="0"/>
                </a:lnTo>
                <a:lnTo>
                  <a:pt x="0" y="9757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>
            <a:off x="3767335" y="6182476"/>
            <a:ext cx="2777849" cy="2691041"/>
          </a:xfrm>
          <a:custGeom>
            <a:avLst/>
            <a:gdLst/>
            <a:ahLst/>
            <a:cxnLst/>
            <a:rect l="l" t="t" r="r" b="b"/>
            <a:pathLst>
              <a:path w="2777849" h="2691041">
                <a:moveTo>
                  <a:pt x="0" y="0"/>
                </a:moveTo>
                <a:lnTo>
                  <a:pt x="2777849" y="0"/>
                </a:lnTo>
                <a:lnTo>
                  <a:pt x="2777849" y="2691042"/>
                </a:lnTo>
                <a:lnTo>
                  <a:pt x="0" y="26910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>
            <a:off x="1860704" y="2842303"/>
            <a:ext cx="2293900" cy="2821815"/>
          </a:xfrm>
          <a:custGeom>
            <a:avLst/>
            <a:gdLst/>
            <a:ahLst/>
            <a:cxnLst/>
            <a:rect l="l" t="t" r="r" b="b"/>
            <a:pathLst>
              <a:path w="2293900" h="2821815">
                <a:moveTo>
                  <a:pt x="0" y="0"/>
                </a:moveTo>
                <a:lnTo>
                  <a:pt x="2293900" y="0"/>
                </a:lnTo>
                <a:lnTo>
                  <a:pt x="2293900" y="2821815"/>
                </a:lnTo>
                <a:lnTo>
                  <a:pt x="0" y="28218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TextBox 12"/>
          <p:cNvSpPr txBox="1"/>
          <p:nvPr/>
        </p:nvSpPr>
        <p:spPr>
          <a:xfrm>
            <a:off x="7278259" y="3754100"/>
            <a:ext cx="6477761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DALAM 10 TAHUN AKAN DATANG, SIAPA LEBIH BERKUASA?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9400" y="7049369"/>
            <a:ext cx="6477761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</a:t>
            </a:r>
            <a:r>
              <a:rPr lang="en-US" sz="27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RLUKAH KITA HADKAN AI DALAM BIDANG TERTENTU?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54557" y="1141533"/>
            <a:ext cx="15004743" cy="7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9"/>
              </a:lnSpc>
              <a:spcBef>
                <a:spcPct val="0"/>
              </a:spcBef>
            </a:pPr>
            <a:r>
              <a:rPr lang="en-US" sz="41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diskusi interaktif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096D">
                <a:alpha val="100000"/>
              </a:srgbClr>
            </a:gs>
            <a:gs pos="50000">
              <a:srgbClr val="1A024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1634" y="-4392134"/>
            <a:ext cx="19071268" cy="19071268"/>
          </a:xfrm>
          <a:custGeom>
            <a:avLst/>
            <a:gdLst/>
            <a:ahLst/>
            <a:cxnLst/>
            <a:rect l="l" t="t" r="r" b="b"/>
            <a:pathLst>
              <a:path w="19071268" h="19071268">
                <a:moveTo>
                  <a:pt x="0" y="0"/>
                </a:moveTo>
                <a:lnTo>
                  <a:pt x="19071268" y="0"/>
                </a:lnTo>
                <a:lnTo>
                  <a:pt x="19071268" y="19071268"/>
                </a:lnTo>
                <a:lnTo>
                  <a:pt x="0" y="1907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2536511" y="3669718"/>
            <a:ext cx="13214978" cy="3254188"/>
          </a:xfrm>
          <a:custGeom>
            <a:avLst/>
            <a:gdLst/>
            <a:ahLst/>
            <a:cxnLst/>
            <a:rect l="l" t="t" r="r" b="b"/>
            <a:pathLst>
              <a:path w="13214978" h="3254188">
                <a:moveTo>
                  <a:pt x="0" y="0"/>
                </a:moveTo>
                <a:lnTo>
                  <a:pt x="13214978" y="0"/>
                </a:lnTo>
                <a:lnTo>
                  <a:pt x="13214978" y="3254189"/>
                </a:lnTo>
                <a:lnTo>
                  <a:pt x="0" y="3254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2717610" y="4010526"/>
            <a:ext cx="12577845" cy="2180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9102" lvl="1" indent="-449551" algn="l">
              <a:lnSpc>
                <a:spcPts val="5830"/>
              </a:lnSpc>
              <a:buFont typeface="Arial"/>
              <a:buChar char="•"/>
            </a:pPr>
            <a:r>
              <a:rPr lang="en-US" sz="416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Adab</a:t>
            </a:r>
            <a:r>
              <a:rPr lang="en-US" sz="4164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bukan untuk dikawal mesin,</a:t>
            </a:r>
          </a:p>
          <a:p>
            <a:pPr marL="899102" lvl="1" indent="-449551" algn="l">
              <a:lnSpc>
                <a:spcPts val="5830"/>
              </a:lnSpc>
              <a:buFont typeface="Arial"/>
              <a:buChar char="•"/>
            </a:pPr>
            <a:r>
              <a:rPr lang="en-US" sz="4164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Tetapi untuk manusia mengawal dirinya ketika menggunakan mesin.</a:t>
            </a:r>
          </a:p>
        </p:txBody>
      </p:sp>
      <p:sp>
        <p:nvSpPr>
          <p:cNvPr id="5" name="Freeform 5"/>
          <p:cNvSpPr/>
          <p:nvPr/>
        </p:nvSpPr>
        <p:spPr>
          <a:xfrm>
            <a:off x="13862687" y="1350027"/>
            <a:ext cx="3396613" cy="3552014"/>
          </a:xfrm>
          <a:custGeom>
            <a:avLst/>
            <a:gdLst/>
            <a:ahLst/>
            <a:cxnLst/>
            <a:rect l="l" t="t" r="r" b="b"/>
            <a:pathLst>
              <a:path w="3396613" h="3552014">
                <a:moveTo>
                  <a:pt x="0" y="0"/>
                </a:moveTo>
                <a:lnTo>
                  <a:pt x="3396613" y="0"/>
                </a:lnTo>
                <a:lnTo>
                  <a:pt x="3396613" y="3552014"/>
                </a:lnTo>
                <a:lnTo>
                  <a:pt x="0" y="3552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8962228" cy="9026164"/>
          </a:xfrm>
          <a:custGeom>
            <a:avLst/>
            <a:gdLst/>
            <a:ahLst/>
            <a:cxnLst/>
            <a:rect l="l" t="t" r="r" b="b"/>
            <a:pathLst>
              <a:path w="8962228" h="9026164">
                <a:moveTo>
                  <a:pt x="0" y="0"/>
                </a:moveTo>
                <a:lnTo>
                  <a:pt x="8962228" y="0"/>
                </a:lnTo>
                <a:lnTo>
                  <a:pt x="8962228" y="9026164"/>
                </a:lnTo>
                <a:lnTo>
                  <a:pt x="0" y="90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5458188" y="3545695"/>
            <a:ext cx="7371623" cy="307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08"/>
              </a:lnSpc>
              <a:spcBef>
                <a:spcPct val="0"/>
              </a:spcBef>
            </a:pPr>
            <a:r>
              <a:rPr lang="en-US" sz="58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Adab dan AI bagi Pelajar</a:t>
            </a:r>
          </a:p>
        </p:txBody>
      </p:sp>
      <p:sp>
        <p:nvSpPr>
          <p:cNvPr id="5" name="Freeform 5"/>
          <p:cNvSpPr/>
          <p:nvPr/>
        </p:nvSpPr>
        <p:spPr>
          <a:xfrm>
            <a:off x="-571205" y="4256076"/>
            <a:ext cx="6170503" cy="6304473"/>
          </a:xfrm>
          <a:custGeom>
            <a:avLst/>
            <a:gdLst/>
            <a:ahLst/>
            <a:cxnLst/>
            <a:rect l="l" t="t" r="r" b="b"/>
            <a:pathLst>
              <a:path w="6170503" h="6304473">
                <a:moveTo>
                  <a:pt x="0" y="0"/>
                </a:moveTo>
                <a:lnTo>
                  <a:pt x="6170503" y="0"/>
                </a:lnTo>
                <a:lnTo>
                  <a:pt x="6170503" y="6304472"/>
                </a:lnTo>
                <a:lnTo>
                  <a:pt x="0" y="630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93999">
            <a:off x="-6583213" y="2608318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6894000" flipH="1">
            <a:off x="17186824" y="2608318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4192864" y="824589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ADAB ILMU DALAM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24130" y="1771266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PENGGUNAAN AI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71735" y="4270329"/>
            <a:ext cx="12178640" cy="633584"/>
            <a:chOff x="0" y="0"/>
            <a:chExt cx="16238187" cy="84477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6238187" cy="844779"/>
              <a:chOff x="0" y="0"/>
              <a:chExt cx="7811746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1174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811746" h="406400">
                    <a:moveTo>
                      <a:pt x="7608546" y="0"/>
                    </a:moveTo>
                    <a:cubicBezTo>
                      <a:pt x="7720770" y="0"/>
                      <a:pt x="7811746" y="90976"/>
                      <a:pt x="7811746" y="203200"/>
                    </a:cubicBezTo>
                    <a:cubicBezTo>
                      <a:pt x="7811746" y="315424"/>
                      <a:pt x="7720770" y="406400"/>
                      <a:pt x="76085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781174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65322" y="82638"/>
              <a:ext cx="14540814" cy="58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0"/>
                </a:lnSpc>
                <a:spcBef>
                  <a:spcPct val="0"/>
                </a:spcBef>
              </a:pPr>
              <a:r>
                <a:rPr lang="en-US" sz="2435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IKHLAS &amp; NIAT: GUNAKAN AI UNTUK BANTU FAHAM, BUKAN SALIN TERUS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 rot="-2862000">
            <a:off x="16495762" y="-1724517"/>
            <a:ext cx="2307298" cy="4896900"/>
            <a:chOff x="0" y="0"/>
            <a:chExt cx="607683" cy="12897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2862000">
            <a:off x="-515060" y="-1724517"/>
            <a:ext cx="2307298" cy="4896900"/>
            <a:chOff x="0" y="0"/>
            <a:chExt cx="607683" cy="12897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698" y="3567342"/>
            <a:ext cx="15376071" cy="5437945"/>
            <a:chOff x="0" y="0"/>
            <a:chExt cx="1888305" cy="6678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88305" cy="667823"/>
            </a:xfrm>
            <a:custGeom>
              <a:avLst/>
              <a:gdLst/>
              <a:ahLst/>
              <a:cxnLst/>
              <a:rect l="l" t="t" r="r" b="b"/>
              <a:pathLst>
                <a:path w="1888305" h="667823">
                  <a:moveTo>
                    <a:pt x="21651" y="0"/>
                  </a:moveTo>
                  <a:lnTo>
                    <a:pt x="1866654" y="0"/>
                  </a:lnTo>
                  <a:cubicBezTo>
                    <a:pt x="1878612" y="0"/>
                    <a:pt x="1888305" y="9693"/>
                    <a:pt x="1888305" y="21651"/>
                  </a:cubicBezTo>
                  <a:lnTo>
                    <a:pt x="1888305" y="646173"/>
                  </a:lnTo>
                  <a:cubicBezTo>
                    <a:pt x="1888305" y="651915"/>
                    <a:pt x="1886024" y="657422"/>
                    <a:pt x="1881964" y="661482"/>
                  </a:cubicBezTo>
                  <a:cubicBezTo>
                    <a:pt x="1877903" y="665542"/>
                    <a:pt x="1872397" y="667823"/>
                    <a:pt x="1866654" y="667823"/>
                  </a:cubicBezTo>
                  <a:lnTo>
                    <a:pt x="21651" y="667823"/>
                  </a:lnTo>
                  <a:cubicBezTo>
                    <a:pt x="15909" y="667823"/>
                    <a:pt x="10402" y="665542"/>
                    <a:pt x="6341" y="661482"/>
                  </a:cubicBezTo>
                  <a:cubicBezTo>
                    <a:pt x="2281" y="657422"/>
                    <a:pt x="0" y="651915"/>
                    <a:pt x="0" y="646173"/>
                  </a:cubicBezTo>
                  <a:lnTo>
                    <a:pt x="0" y="21651"/>
                  </a:lnTo>
                  <a:cubicBezTo>
                    <a:pt x="0" y="15909"/>
                    <a:pt x="2281" y="10402"/>
                    <a:pt x="6341" y="6341"/>
                  </a:cubicBezTo>
                  <a:cubicBezTo>
                    <a:pt x="10402" y="2281"/>
                    <a:pt x="15909" y="0"/>
                    <a:pt x="216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88305" cy="70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71735" y="5143500"/>
            <a:ext cx="12178640" cy="3277287"/>
            <a:chOff x="0" y="0"/>
            <a:chExt cx="16238187" cy="4369716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6238187" cy="844779"/>
              <a:chOff x="0" y="0"/>
              <a:chExt cx="7811746" cy="406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81174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811746" h="406400">
                    <a:moveTo>
                      <a:pt x="7608546" y="0"/>
                    </a:moveTo>
                    <a:cubicBezTo>
                      <a:pt x="7720770" y="0"/>
                      <a:pt x="7811746" y="90976"/>
                      <a:pt x="7811746" y="203200"/>
                    </a:cubicBezTo>
                    <a:cubicBezTo>
                      <a:pt x="7811746" y="315424"/>
                      <a:pt x="7720770" y="406400"/>
                      <a:pt x="76085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781174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65322" y="82638"/>
              <a:ext cx="14540814" cy="58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0"/>
                </a:lnSpc>
                <a:spcBef>
                  <a:spcPct val="0"/>
                </a:spcBef>
              </a:pPr>
              <a:r>
                <a:rPr lang="en-US" sz="2435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AMANAH ILMIAH: SEMAK &amp; FAHAMI KANDUNGAN AI, ELAKKAN PLAGIAT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1174979"/>
              <a:ext cx="16238187" cy="844779"/>
              <a:chOff x="0" y="0"/>
              <a:chExt cx="7811746" cy="4064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1174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811746" h="406400">
                    <a:moveTo>
                      <a:pt x="7608546" y="0"/>
                    </a:moveTo>
                    <a:cubicBezTo>
                      <a:pt x="7720770" y="0"/>
                      <a:pt x="7811746" y="90976"/>
                      <a:pt x="7811746" y="203200"/>
                    </a:cubicBezTo>
                    <a:cubicBezTo>
                      <a:pt x="7811746" y="315424"/>
                      <a:pt x="7720770" y="406400"/>
                      <a:pt x="76085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781174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65322" y="1257617"/>
              <a:ext cx="14540814" cy="58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0"/>
                </a:lnSpc>
                <a:spcBef>
                  <a:spcPct val="0"/>
                </a:spcBef>
              </a:pPr>
              <a:r>
                <a:rPr lang="en-US" sz="2435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JUJUR: NYATAKAN PENGGUNAAN AI JIKA DIBENARKAN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2349958"/>
              <a:ext cx="16238187" cy="844779"/>
              <a:chOff x="0" y="0"/>
              <a:chExt cx="7811746" cy="406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81174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811746" h="406400">
                    <a:moveTo>
                      <a:pt x="7608546" y="0"/>
                    </a:moveTo>
                    <a:cubicBezTo>
                      <a:pt x="7720770" y="0"/>
                      <a:pt x="7811746" y="90976"/>
                      <a:pt x="7811746" y="203200"/>
                    </a:cubicBezTo>
                    <a:cubicBezTo>
                      <a:pt x="7811746" y="315424"/>
                      <a:pt x="7720770" y="406400"/>
                      <a:pt x="76085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781174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65322" y="2432596"/>
              <a:ext cx="14540814" cy="58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0"/>
                </a:lnSpc>
                <a:spcBef>
                  <a:spcPct val="0"/>
                </a:spcBef>
              </a:pPr>
              <a:r>
                <a:rPr lang="en-US" sz="2435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RENDAH HATI: HORMATI GURU DAN PROSES BELAJAR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0" y="3524937"/>
              <a:ext cx="16238187" cy="844779"/>
              <a:chOff x="0" y="0"/>
              <a:chExt cx="7811746" cy="4064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781174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811746" h="406400">
                    <a:moveTo>
                      <a:pt x="7608546" y="0"/>
                    </a:moveTo>
                    <a:cubicBezTo>
                      <a:pt x="7720770" y="0"/>
                      <a:pt x="7811746" y="90976"/>
                      <a:pt x="7811746" y="203200"/>
                    </a:cubicBezTo>
                    <a:cubicBezTo>
                      <a:pt x="7811746" y="315424"/>
                      <a:pt x="7720770" y="406400"/>
                      <a:pt x="76085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28575"/>
                <a:ext cx="781174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565322" y="3607575"/>
              <a:ext cx="14540814" cy="58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0"/>
                </a:lnSpc>
                <a:spcBef>
                  <a:spcPct val="0"/>
                </a:spcBef>
              </a:pPr>
              <a:r>
                <a:rPr lang="en-US" sz="2435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TANGGUNGJAWAB SOSIAL: TIDAK SEBARKAN MAKLUMAT PALSU DARI AI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8183" y="1242799"/>
            <a:ext cx="1229163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ETIKA AKADEMIK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98183" y="2071780"/>
            <a:ext cx="1229163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BERKAITAN AI</a:t>
            </a:r>
          </a:p>
        </p:txBody>
      </p:sp>
      <p:sp>
        <p:nvSpPr>
          <p:cNvPr id="4" name="Freeform 4"/>
          <p:cNvSpPr/>
          <p:nvPr/>
        </p:nvSpPr>
        <p:spPr>
          <a:xfrm rot="-6895540" flipH="1" flipV="1">
            <a:off x="16069329" y="-261152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 rot="6894000" flipV="1">
            <a:off x="-5466502" y="-261152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1028700" y="4124402"/>
            <a:ext cx="7770172" cy="3713405"/>
            <a:chOff x="0" y="0"/>
            <a:chExt cx="954239" cy="4560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4240" cy="456036"/>
            </a:xfrm>
            <a:custGeom>
              <a:avLst/>
              <a:gdLst/>
              <a:ahLst/>
              <a:cxnLst/>
              <a:rect l="l" t="t" r="r" b="b"/>
              <a:pathLst>
                <a:path w="954240" h="456036">
                  <a:moveTo>
                    <a:pt x="66756" y="0"/>
                  </a:moveTo>
                  <a:lnTo>
                    <a:pt x="887483" y="0"/>
                  </a:lnTo>
                  <a:cubicBezTo>
                    <a:pt x="924352" y="0"/>
                    <a:pt x="954240" y="29888"/>
                    <a:pt x="954240" y="66756"/>
                  </a:cubicBezTo>
                  <a:lnTo>
                    <a:pt x="954240" y="389280"/>
                  </a:lnTo>
                  <a:cubicBezTo>
                    <a:pt x="954240" y="426148"/>
                    <a:pt x="924352" y="456036"/>
                    <a:pt x="887483" y="456036"/>
                  </a:cubicBezTo>
                  <a:lnTo>
                    <a:pt x="66756" y="456036"/>
                  </a:lnTo>
                  <a:cubicBezTo>
                    <a:pt x="29888" y="456036"/>
                    <a:pt x="0" y="426148"/>
                    <a:pt x="0" y="389280"/>
                  </a:cubicBezTo>
                  <a:lnTo>
                    <a:pt x="0" y="66756"/>
                  </a:lnTo>
                  <a:cubicBezTo>
                    <a:pt x="0" y="29888"/>
                    <a:pt x="29888" y="0"/>
                    <a:pt x="667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4239" cy="494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89128" y="4124402"/>
            <a:ext cx="7770172" cy="3713405"/>
            <a:chOff x="0" y="0"/>
            <a:chExt cx="954239" cy="4560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4240" cy="456036"/>
            </a:xfrm>
            <a:custGeom>
              <a:avLst/>
              <a:gdLst/>
              <a:ahLst/>
              <a:cxnLst/>
              <a:rect l="l" t="t" r="r" b="b"/>
              <a:pathLst>
                <a:path w="954240" h="456036">
                  <a:moveTo>
                    <a:pt x="66756" y="0"/>
                  </a:moveTo>
                  <a:lnTo>
                    <a:pt x="887483" y="0"/>
                  </a:lnTo>
                  <a:cubicBezTo>
                    <a:pt x="924352" y="0"/>
                    <a:pt x="954240" y="29888"/>
                    <a:pt x="954240" y="66756"/>
                  </a:cubicBezTo>
                  <a:lnTo>
                    <a:pt x="954240" y="389280"/>
                  </a:lnTo>
                  <a:cubicBezTo>
                    <a:pt x="954240" y="426148"/>
                    <a:pt x="924352" y="456036"/>
                    <a:pt x="887483" y="456036"/>
                  </a:cubicBezTo>
                  <a:lnTo>
                    <a:pt x="66756" y="456036"/>
                  </a:lnTo>
                  <a:cubicBezTo>
                    <a:pt x="29888" y="456036"/>
                    <a:pt x="0" y="426148"/>
                    <a:pt x="0" y="389280"/>
                  </a:cubicBezTo>
                  <a:lnTo>
                    <a:pt x="0" y="66756"/>
                  </a:lnTo>
                  <a:cubicBezTo>
                    <a:pt x="0" y="29888"/>
                    <a:pt x="29888" y="0"/>
                    <a:pt x="667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54239" cy="494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8912" y="5375592"/>
            <a:ext cx="6618460" cy="134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Brainstorm dan semak ejaan</a:t>
            </a:r>
          </a:p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Tulis semula dengan fahaman sendiri</a:t>
            </a:r>
          </a:p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Berbincang dengan pensyarah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64984" y="5487310"/>
            <a:ext cx="6618460" cy="134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Salin esei terus dari AI</a:t>
            </a:r>
          </a:p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Guna AI jawab peperiksaan</a:t>
            </a:r>
          </a:p>
          <a:p>
            <a:pPr marL="540158" lvl="1" indent="-270079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Cipta testimoni palsu dari AI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04556" y="4480507"/>
            <a:ext cx="6618460" cy="674808"/>
            <a:chOff x="0" y="0"/>
            <a:chExt cx="398594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85940" cy="406400"/>
            </a:xfrm>
            <a:custGeom>
              <a:avLst/>
              <a:gdLst/>
              <a:ahLst/>
              <a:cxnLst/>
              <a:rect l="l" t="t" r="r" b="b"/>
              <a:pathLst>
                <a:path w="3985940" h="406400">
                  <a:moveTo>
                    <a:pt x="3782740" y="0"/>
                  </a:moveTo>
                  <a:cubicBezTo>
                    <a:pt x="3894964" y="0"/>
                    <a:pt x="3985940" y="90976"/>
                    <a:pt x="3985940" y="203200"/>
                  </a:cubicBezTo>
                  <a:cubicBezTo>
                    <a:pt x="3985940" y="315424"/>
                    <a:pt x="3894964" y="406400"/>
                    <a:pt x="37827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98594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64984" y="4480507"/>
            <a:ext cx="6618460" cy="674808"/>
            <a:chOff x="0" y="0"/>
            <a:chExt cx="398594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85940" cy="406400"/>
            </a:xfrm>
            <a:custGeom>
              <a:avLst/>
              <a:gdLst/>
              <a:ahLst/>
              <a:cxnLst/>
              <a:rect l="l" t="t" r="r" b="b"/>
              <a:pathLst>
                <a:path w="3985940" h="406400">
                  <a:moveTo>
                    <a:pt x="3782740" y="0"/>
                  </a:moveTo>
                  <a:cubicBezTo>
                    <a:pt x="3894964" y="0"/>
                    <a:pt x="3985940" y="90976"/>
                    <a:pt x="3985940" y="203200"/>
                  </a:cubicBezTo>
                  <a:cubicBezTo>
                    <a:pt x="3985940" y="315424"/>
                    <a:pt x="3894964" y="406400"/>
                    <a:pt x="37827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98594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909547" y="4569095"/>
            <a:ext cx="6008477" cy="47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DISARANKAN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9976" y="4569095"/>
            <a:ext cx="6008477" cy="47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ELAKKAN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798872" y="5981104"/>
            <a:ext cx="690257" cy="0"/>
          </a:xfrm>
          <a:prstGeom prst="line">
            <a:avLst/>
          </a:prstGeom>
          <a:ln w="38100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096D">
                <a:alpha val="100000"/>
              </a:srgbClr>
            </a:gs>
            <a:gs pos="50000">
              <a:srgbClr val="240753">
                <a:alpha val="100000"/>
              </a:srgbClr>
            </a:gs>
            <a:gs pos="100000">
              <a:srgbClr val="2A05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1103" y="-3227555"/>
            <a:ext cx="11749288" cy="13926958"/>
          </a:xfrm>
          <a:custGeom>
            <a:avLst/>
            <a:gdLst/>
            <a:ahLst/>
            <a:cxnLst/>
            <a:rect l="l" t="t" r="r" b="b"/>
            <a:pathLst>
              <a:path w="11749288" h="13926958">
                <a:moveTo>
                  <a:pt x="0" y="0"/>
                </a:moveTo>
                <a:lnTo>
                  <a:pt x="11749288" y="0"/>
                </a:lnTo>
                <a:lnTo>
                  <a:pt x="11749288" y="13926958"/>
                </a:lnTo>
                <a:lnTo>
                  <a:pt x="0" y="1392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3691136" y="2054920"/>
            <a:ext cx="7705112" cy="1897384"/>
          </a:xfrm>
          <a:custGeom>
            <a:avLst/>
            <a:gdLst/>
            <a:ahLst/>
            <a:cxnLst/>
            <a:rect l="l" t="t" r="r" b="b"/>
            <a:pathLst>
              <a:path w="7705112" h="1897384">
                <a:moveTo>
                  <a:pt x="0" y="0"/>
                </a:moveTo>
                <a:lnTo>
                  <a:pt x="7705113" y="0"/>
                </a:lnTo>
                <a:lnTo>
                  <a:pt x="7705113" y="1897383"/>
                </a:lnTo>
                <a:lnTo>
                  <a:pt x="0" y="1897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0000847" y="4194808"/>
            <a:ext cx="7705112" cy="1897384"/>
          </a:xfrm>
          <a:custGeom>
            <a:avLst/>
            <a:gdLst/>
            <a:ahLst/>
            <a:cxnLst/>
            <a:rect l="l" t="t" r="r" b="b"/>
            <a:pathLst>
              <a:path w="7705112" h="1897384">
                <a:moveTo>
                  <a:pt x="0" y="0"/>
                </a:moveTo>
                <a:lnTo>
                  <a:pt x="7705113" y="0"/>
                </a:lnTo>
                <a:lnTo>
                  <a:pt x="7705113" y="1897384"/>
                </a:lnTo>
                <a:lnTo>
                  <a:pt x="0" y="1897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3691136" y="6491331"/>
            <a:ext cx="7705112" cy="1897384"/>
          </a:xfrm>
          <a:custGeom>
            <a:avLst/>
            <a:gdLst/>
            <a:ahLst/>
            <a:cxnLst/>
            <a:rect l="l" t="t" r="r" b="b"/>
            <a:pathLst>
              <a:path w="7705112" h="1897384">
                <a:moveTo>
                  <a:pt x="0" y="0"/>
                </a:moveTo>
                <a:lnTo>
                  <a:pt x="7705113" y="0"/>
                </a:lnTo>
                <a:lnTo>
                  <a:pt x="7705113" y="1897383"/>
                </a:lnTo>
                <a:lnTo>
                  <a:pt x="0" y="1897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730204" y="3527216"/>
            <a:ext cx="2545647" cy="3232568"/>
          </a:xfrm>
          <a:custGeom>
            <a:avLst/>
            <a:gdLst/>
            <a:ahLst/>
            <a:cxnLst/>
            <a:rect l="l" t="t" r="r" b="b"/>
            <a:pathLst>
              <a:path w="2545647" h="3232568">
                <a:moveTo>
                  <a:pt x="0" y="0"/>
                </a:moveTo>
                <a:lnTo>
                  <a:pt x="2545648" y="0"/>
                </a:lnTo>
                <a:lnTo>
                  <a:pt x="2545648" y="3232568"/>
                </a:lnTo>
                <a:lnTo>
                  <a:pt x="0" y="3232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961842" y="2539897"/>
            <a:ext cx="7163701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3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IMAM AL-GHAZALI: </a:t>
            </a:r>
          </a:p>
          <a:p>
            <a:pPr algn="l">
              <a:lnSpc>
                <a:spcPts val="2970"/>
              </a:lnSpc>
            </a:pPr>
            <a:r>
              <a:rPr lang="en-US" sz="3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ILMU TANPA ADAB = KEHANCURAN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9145"/>
            <a:ext cx="16677260" cy="7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9"/>
              </a:lnSpc>
              <a:spcBef>
                <a:spcPct val="0"/>
              </a:spcBef>
            </a:pPr>
            <a:r>
              <a:rPr lang="en-US" sz="41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🧠 Pandangan Agama &amp; Tokoh Pendidikan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71553" y="4573907"/>
            <a:ext cx="7163701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DR. ZULKIFLI AL-BAKRI: PELAJAR PERLU TAHU BI</a:t>
            </a:r>
            <a:r>
              <a:rPr lang="en-US" sz="30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 GUNA TEKNOLOGI &amp; BILA GUNA AKAL SENDIRI</a:t>
            </a:r>
          </a:p>
          <a:p>
            <a:pPr marL="0" lvl="0" indent="0" algn="l">
              <a:lnSpc>
                <a:spcPts val="2970"/>
              </a:lnSpc>
              <a:spcBef>
                <a:spcPct val="0"/>
              </a:spcBef>
            </a:pPr>
            <a:endParaRPr lang="en-US" sz="3000" u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961842" y="7016117"/>
            <a:ext cx="7163701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AI BA</a:t>
            </a:r>
            <a:r>
              <a:rPr lang="en-US" sz="30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NTU USAHA MANUSIA, BUKAN GANTI PERANAN GURU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292727"/>
            <a:ext cx="18030636" cy="6523812"/>
          </a:xfrm>
          <a:custGeom>
            <a:avLst/>
            <a:gdLst/>
            <a:ahLst/>
            <a:cxnLst/>
            <a:rect l="l" t="t" r="r" b="b"/>
            <a:pathLst>
              <a:path w="18030636" h="6523812">
                <a:moveTo>
                  <a:pt x="0" y="0"/>
                </a:moveTo>
                <a:lnTo>
                  <a:pt x="18030636" y="0"/>
                </a:lnTo>
                <a:lnTo>
                  <a:pt x="18030636" y="6523812"/>
                </a:lnTo>
                <a:lnTo>
                  <a:pt x="0" y="6523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000" y="0"/>
            <a:ext cx="9144000" cy="10287000"/>
            <a:chOff x="0" y="0"/>
            <a:chExt cx="5370413" cy="6041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6"/>
          <p:cNvGrpSpPr/>
          <p:nvPr/>
        </p:nvGrpSpPr>
        <p:grpSpPr>
          <a:xfrm rot="-2500242">
            <a:off x="13100397" y="-2294649"/>
            <a:ext cx="844601" cy="14383169"/>
            <a:chOff x="0" y="0"/>
            <a:chExt cx="222446" cy="3788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446" cy="3788160"/>
            </a:xfrm>
            <a:custGeom>
              <a:avLst/>
              <a:gdLst/>
              <a:ahLst/>
              <a:cxnLst/>
              <a:rect l="l" t="t" r="r" b="b"/>
              <a:pathLst>
                <a:path w="222446" h="3788160">
                  <a:moveTo>
                    <a:pt x="0" y="0"/>
                  </a:moveTo>
                  <a:lnTo>
                    <a:pt x="222446" y="0"/>
                  </a:lnTo>
                  <a:lnTo>
                    <a:pt x="222446" y="3788160"/>
                  </a:lnTo>
                  <a:lnTo>
                    <a:pt x="0" y="3788160"/>
                  </a:lnTo>
                  <a:close/>
                </a:path>
              </a:pathLst>
            </a:custGeom>
            <a:gradFill rotWithShape="1">
              <a:gsLst>
                <a:gs pos="0">
                  <a:srgbClr val="009CDF">
                    <a:alpha val="100000"/>
                  </a:srgbClr>
                </a:gs>
                <a:gs pos="100000">
                  <a:srgbClr val="004AAC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2446" cy="3797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3543" y="1256009"/>
            <a:ext cx="8380457" cy="199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6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Aktiviti Kesedaran AI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3543" y="4617342"/>
            <a:ext cx="1335896" cy="1230802"/>
            <a:chOff x="0" y="0"/>
            <a:chExt cx="1781195" cy="16410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21656" y="4545828"/>
            <a:ext cx="4074482" cy="141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Debat: “AI patutkah digunakan untuk penulisan?”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21656" y="6315535"/>
            <a:ext cx="3836357" cy="141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Refleksi: “AI bantu atau lemahkan saya?”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89234" y="4719805"/>
            <a:ext cx="4199576" cy="94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Pameran Etika Digital 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79709" y="6494198"/>
            <a:ext cx="5161846" cy="94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7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Tandatangan Sijil Integriti AI Pelajar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6685" y="6391735"/>
            <a:ext cx="1335896" cy="1230802"/>
            <a:chOff x="0" y="0"/>
            <a:chExt cx="1781195" cy="164107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24738" y="4617342"/>
            <a:ext cx="1335896" cy="1230802"/>
            <a:chOff x="0" y="0"/>
            <a:chExt cx="1781195" cy="164107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24738" y="6391735"/>
            <a:ext cx="1335896" cy="1230802"/>
            <a:chOff x="0" y="0"/>
            <a:chExt cx="1781195" cy="164107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781195" cy="1641070"/>
              <a:chOff x="0" y="0"/>
              <a:chExt cx="222024" cy="20455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22024" cy="204557"/>
              </a:xfrm>
              <a:custGeom>
                <a:avLst/>
                <a:gdLst/>
                <a:ahLst/>
                <a:cxnLst/>
                <a:rect l="l" t="t" r="r" b="b"/>
                <a:pathLst>
                  <a:path w="222024" h="204557">
                    <a:moveTo>
                      <a:pt x="102279" y="0"/>
                    </a:moveTo>
                    <a:lnTo>
                      <a:pt x="119745" y="0"/>
                    </a:lnTo>
                    <a:cubicBezTo>
                      <a:pt x="146871" y="0"/>
                      <a:pt x="172886" y="10776"/>
                      <a:pt x="192067" y="29957"/>
                    </a:cubicBezTo>
                    <a:cubicBezTo>
                      <a:pt x="211248" y="49138"/>
                      <a:pt x="222024" y="75153"/>
                      <a:pt x="222024" y="102279"/>
                    </a:cubicBezTo>
                    <a:lnTo>
                      <a:pt x="222024" y="102279"/>
                    </a:lnTo>
                    <a:cubicBezTo>
                      <a:pt x="222024" y="129405"/>
                      <a:pt x="211248" y="155420"/>
                      <a:pt x="192067" y="174601"/>
                    </a:cubicBezTo>
                    <a:cubicBezTo>
                      <a:pt x="172886" y="193782"/>
                      <a:pt x="146871" y="204557"/>
                      <a:pt x="119745" y="204557"/>
                    </a:cubicBezTo>
                    <a:lnTo>
                      <a:pt x="102279" y="204557"/>
                    </a:lnTo>
                    <a:cubicBezTo>
                      <a:pt x="75153" y="204557"/>
                      <a:pt x="49138" y="193782"/>
                      <a:pt x="29957" y="174601"/>
                    </a:cubicBezTo>
                    <a:cubicBezTo>
                      <a:pt x="10776" y="155420"/>
                      <a:pt x="0" y="129405"/>
                      <a:pt x="0" y="102279"/>
                    </a:cubicBezTo>
                    <a:lnTo>
                      <a:pt x="0" y="102279"/>
                    </a:lnTo>
                    <a:cubicBezTo>
                      <a:pt x="0" y="75153"/>
                      <a:pt x="10776" y="49138"/>
                      <a:pt x="29957" y="29957"/>
                    </a:cubicBezTo>
                    <a:cubicBezTo>
                      <a:pt x="49138" y="10776"/>
                      <a:pt x="75153" y="0"/>
                      <a:pt x="102279" y="0"/>
                    </a:cubicBezTo>
                    <a:close/>
                  </a:path>
                </a:pathLst>
              </a:custGeom>
              <a:solidFill>
                <a:srgbClr val="009CD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9525"/>
                <a:ext cx="222024" cy="214082"/>
              </a:xfrm>
              <a:prstGeom prst="rect">
                <a:avLst/>
              </a:prstGeom>
            </p:spPr>
            <p:txBody>
              <a:bodyPr lIns="80503" tIns="80503" rIns="80503" bIns="80503" rtlCol="0" anchor="ctr"/>
              <a:lstStyle/>
              <a:p>
                <a:pPr algn="ctr">
                  <a:lnSpc>
                    <a:spcPts val="3052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76672" y="366353"/>
              <a:ext cx="1027851" cy="908363"/>
            </a:xfrm>
            <a:custGeom>
              <a:avLst/>
              <a:gdLst/>
              <a:ahLst/>
              <a:cxnLst/>
              <a:rect l="l" t="t" r="r" b="b"/>
              <a:pathLst>
                <a:path w="1027851" h="908363">
                  <a:moveTo>
                    <a:pt x="0" y="0"/>
                  </a:moveTo>
                  <a:lnTo>
                    <a:pt x="1027851" y="0"/>
                  </a:lnTo>
                  <a:lnTo>
                    <a:pt x="1027851" y="908363"/>
                  </a:lnTo>
                  <a:lnTo>
                    <a:pt x="0" y="908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096D">
                <a:alpha val="100000"/>
              </a:srgbClr>
            </a:gs>
            <a:gs pos="50000">
              <a:srgbClr val="240753">
                <a:alpha val="100000"/>
              </a:srgbClr>
            </a:gs>
            <a:gs pos="100000">
              <a:srgbClr val="2A05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1103" y="-3227555"/>
            <a:ext cx="11749288" cy="13926958"/>
          </a:xfrm>
          <a:custGeom>
            <a:avLst/>
            <a:gdLst/>
            <a:ahLst/>
            <a:cxnLst/>
            <a:rect l="l" t="t" r="r" b="b"/>
            <a:pathLst>
              <a:path w="11749288" h="13926958">
                <a:moveTo>
                  <a:pt x="0" y="0"/>
                </a:moveTo>
                <a:lnTo>
                  <a:pt x="11749288" y="0"/>
                </a:lnTo>
                <a:lnTo>
                  <a:pt x="11749288" y="13926958"/>
                </a:lnTo>
                <a:lnTo>
                  <a:pt x="0" y="1392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316370" y="3837204"/>
            <a:ext cx="3374767" cy="2663230"/>
            <a:chOff x="0" y="0"/>
            <a:chExt cx="4499689" cy="3550973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1170829" cy="1210160"/>
            </a:xfrm>
            <a:custGeom>
              <a:avLst/>
              <a:gdLst/>
              <a:ahLst/>
              <a:cxnLst/>
              <a:rect l="l" t="t" r="r" b="b"/>
              <a:pathLst>
                <a:path w="1170829" h="1210160">
                  <a:moveTo>
                    <a:pt x="1170829" y="0"/>
                  </a:moveTo>
                  <a:lnTo>
                    <a:pt x="0" y="0"/>
                  </a:lnTo>
                  <a:lnTo>
                    <a:pt x="0" y="1210160"/>
                  </a:lnTo>
                  <a:lnTo>
                    <a:pt x="1170829" y="1210160"/>
                  </a:lnTo>
                  <a:lnTo>
                    <a:pt x="1170829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 rot="288391">
              <a:off x="1015278" y="134699"/>
              <a:ext cx="3352823" cy="3281575"/>
            </a:xfrm>
            <a:custGeom>
              <a:avLst/>
              <a:gdLst/>
              <a:ahLst/>
              <a:cxnLst/>
              <a:rect l="l" t="t" r="r" b="b"/>
              <a:pathLst>
                <a:path w="3352823" h="3281575">
                  <a:moveTo>
                    <a:pt x="0" y="0"/>
                  </a:moveTo>
                  <a:lnTo>
                    <a:pt x="3352822" y="0"/>
                  </a:lnTo>
                  <a:lnTo>
                    <a:pt x="3352822" y="3281575"/>
                  </a:lnTo>
                  <a:lnTo>
                    <a:pt x="0" y="3281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Freeform 6"/>
          <p:cNvSpPr/>
          <p:nvPr/>
        </p:nvSpPr>
        <p:spPr>
          <a:xfrm>
            <a:off x="3691136" y="2187424"/>
            <a:ext cx="6699615" cy="1649780"/>
          </a:xfrm>
          <a:custGeom>
            <a:avLst/>
            <a:gdLst/>
            <a:ahLst/>
            <a:cxnLst/>
            <a:rect l="l" t="t" r="r" b="b"/>
            <a:pathLst>
              <a:path w="6699615" h="1649780">
                <a:moveTo>
                  <a:pt x="0" y="0"/>
                </a:moveTo>
                <a:lnTo>
                  <a:pt x="6699615" y="0"/>
                </a:lnTo>
                <a:lnTo>
                  <a:pt x="6699615" y="1649780"/>
                </a:lnTo>
                <a:lnTo>
                  <a:pt x="0" y="1649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3914484" y="2857247"/>
            <a:ext cx="7163701" cy="35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AMANAH – TIDAK TIRU TANPA FAHAM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9145"/>
            <a:ext cx="16677260" cy="144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9"/>
              </a:lnSpc>
              <a:spcBef>
                <a:spcPct val="0"/>
              </a:spcBef>
            </a:pPr>
            <a:r>
              <a:rPr lang="en-US" sz="41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ringkasan nilai ai beradab untuk pelajar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390751" y="3837204"/>
            <a:ext cx="7498498" cy="1473926"/>
            <a:chOff x="0" y="0"/>
            <a:chExt cx="9997997" cy="1965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80650" cy="1965235"/>
            </a:xfrm>
            <a:custGeom>
              <a:avLst/>
              <a:gdLst/>
              <a:ahLst/>
              <a:cxnLst/>
              <a:rect l="l" t="t" r="r" b="b"/>
              <a:pathLst>
                <a:path w="7980650" h="1965235">
                  <a:moveTo>
                    <a:pt x="0" y="0"/>
                  </a:moveTo>
                  <a:lnTo>
                    <a:pt x="7980650" y="0"/>
                  </a:lnTo>
                  <a:lnTo>
                    <a:pt x="7980650" y="1965235"/>
                  </a:lnTo>
                  <a:lnTo>
                    <a:pt x="0" y="196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396" y="668458"/>
              <a:ext cx="9551601" cy="492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3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JUJUR – NYATA JI</a:t>
              </a:r>
              <a:r>
                <a:rPr lang="en-US" sz="2700" u="none" strike="noStrike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KA GUNA AI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91136" y="5311130"/>
            <a:ext cx="7434407" cy="1649780"/>
            <a:chOff x="0" y="0"/>
            <a:chExt cx="9912542" cy="21997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32820" cy="2199707"/>
            </a:xfrm>
            <a:custGeom>
              <a:avLst/>
              <a:gdLst/>
              <a:ahLst/>
              <a:cxnLst/>
              <a:rect l="l" t="t" r="r" b="b"/>
              <a:pathLst>
                <a:path w="8932820" h="2199707">
                  <a:moveTo>
                    <a:pt x="0" y="0"/>
                  </a:moveTo>
                  <a:lnTo>
                    <a:pt x="8932820" y="0"/>
                  </a:lnTo>
                  <a:lnTo>
                    <a:pt x="8932820" y="2199707"/>
                  </a:lnTo>
                  <a:lnTo>
                    <a:pt x="0" y="2199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0941" y="683840"/>
              <a:ext cx="9551601" cy="492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3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ADIL – TIDAK</a:t>
              </a:r>
              <a:r>
                <a:rPr lang="en-US" sz="2700" u="none" strike="noStrike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 SABOTAJ RAKAN LAIN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390751" y="6807681"/>
            <a:ext cx="5985487" cy="1473926"/>
          </a:xfrm>
          <a:custGeom>
            <a:avLst/>
            <a:gdLst/>
            <a:ahLst/>
            <a:cxnLst/>
            <a:rect l="l" t="t" r="r" b="b"/>
            <a:pathLst>
              <a:path w="5985487" h="1473926">
                <a:moveTo>
                  <a:pt x="0" y="0"/>
                </a:moveTo>
                <a:lnTo>
                  <a:pt x="5985488" y="0"/>
                </a:lnTo>
                <a:lnTo>
                  <a:pt x="5985488" y="1473926"/>
                </a:lnTo>
                <a:lnTo>
                  <a:pt x="0" y="1473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10725548" y="7320930"/>
            <a:ext cx="7163701" cy="35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3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RENDAH HATI – HORMATI</a:t>
            </a:r>
            <a:r>
              <a:rPr lang="en-US" sz="27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GURU</a:t>
            </a:r>
          </a:p>
        </p:txBody>
      </p:sp>
      <p:sp>
        <p:nvSpPr>
          <p:cNvPr id="17" name="Freeform 17"/>
          <p:cNvSpPr/>
          <p:nvPr/>
        </p:nvSpPr>
        <p:spPr>
          <a:xfrm>
            <a:off x="3691136" y="7993014"/>
            <a:ext cx="6699615" cy="1649780"/>
          </a:xfrm>
          <a:custGeom>
            <a:avLst/>
            <a:gdLst/>
            <a:ahLst/>
            <a:cxnLst/>
            <a:rect l="l" t="t" r="r" b="b"/>
            <a:pathLst>
              <a:path w="6699615" h="1649780">
                <a:moveTo>
                  <a:pt x="0" y="0"/>
                </a:moveTo>
                <a:lnTo>
                  <a:pt x="6699615" y="0"/>
                </a:lnTo>
                <a:lnTo>
                  <a:pt x="6699615" y="1649780"/>
                </a:lnTo>
                <a:lnTo>
                  <a:pt x="0" y="1649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Box 18"/>
          <p:cNvSpPr txBox="1"/>
          <p:nvPr/>
        </p:nvSpPr>
        <p:spPr>
          <a:xfrm>
            <a:off x="4076398" y="8496150"/>
            <a:ext cx="5559917" cy="69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3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TANGGUNGJ</a:t>
            </a:r>
            <a:r>
              <a:rPr lang="en-US" sz="27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AWAB – SEDAR KESAN SOSIAL AI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8962228" cy="9026164"/>
          </a:xfrm>
          <a:custGeom>
            <a:avLst/>
            <a:gdLst/>
            <a:ahLst/>
            <a:cxnLst/>
            <a:rect l="l" t="t" r="r" b="b"/>
            <a:pathLst>
              <a:path w="8962228" h="9026164">
                <a:moveTo>
                  <a:pt x="0" y="0"/>
                </a:moveTo>
                <a:lnTo>
                  <a:pt x="8962228" y="0"/>
                </a:lnTo>
                <a:lnTo>
                  <a:pt x="8962228" y="9026164"/>
                </a:lnTo>
                <a:lnTo>
                  <a:pt x="0" y="90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0884392" y="6015157"/>
            <a:ext cx="4342139" cy="3882596"/>
          </a:xfrm>
          <a:custGeom>
            <a:avLst/>
            <a:gdLst/>
            <a:ahLst/>
            <a:cxnLst/>
            <a:rect l="l" t="t" r="r" b="b"/>
            <a:pathLst>
              <a:path w="4342139" h="3882596">
                <a:moveTo>
                  <a:pt x="0" y="0"/>
                </a:moveTo>
                <a:lnTo>
                  <a:pt x="4342139" y="0"/>
                </a:lnTo>
                <a:lnTo>
                  <a:pt x="4342139" y="3882596"/>
                </a:lnTo>
                <a:lnTo>
                  <a:pt x="0" y="388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5458188" y="3352759"/>
            <a:ext cx="7371623" cy="307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08"/>
              </a:lnSpc>
              <a:spcBef>
                <a:spcPct val="0"/>
              </a:spcBef>
            </a:pPr>
            <a:r>
              <a:rPr lang="en-US" sz="586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Adab dan AI bagi Inovator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55222" y="431537"/>
            <a:ext cx="10048374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PRINSIP ADAB UNTUK</a:t>
            </a:r>
          </a:p>
        </p:txBody>
      </p:sp>
      <p:sp>
        <p:nvSpPr>
          <p:cNvPr id="3" name="Freeform 3"/>
          <p:cNvSpPr/>
          <p:nvPr/>
        </p:nvSpPr>
        <p:spPr>
          <a:xfrm rot="-6895540">
            <a:off x="-4792197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rot="6894000" flipH="1">
            <a:off x="15396592" y="5545843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 rot="-2862000">
            <a:off x="16495762" y="-1724517"/>
            <a:ext cx="2307298" cy="4896900"/>
            <a:chOff x="0" y="0"/>
            <a:chExt cx="607683" cy="12897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2862000">
            <a:off x="-515060" y="-1724517"/>
            <a:ext cx="2307298" cy="4896900"/>
            <a:chOff x="0" y="0"/>
            <a:chExt cx="607683" cy="12897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862000">
            <a:off x="15792063" y="-2365400"/>
            <a:ext cx="593345" cy="8209292"/>
            <a:chOff x="0" y="0"/>
            <a:chExt cx="156272" cy="21621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2862000">
            <a:off x="1902592" y="-2365400"/>
            <a:ext cx="593345" cy="8209292"/>
            <a:chOff x="0" y="0"/>
            <a:chExt cx="156272" cy="21621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984996" y="4721152"/>
            <a:ext cx="4018090" cy="2682075"/>
          </a:xfrm>
          <a:custGeom>
            <a:avLst/>
            <a:gdLst/>
            <a:ahLst/>
            <a:cxnLst/>
            <a:rect l="l" t="t" r="r" b="b"/>
            <a:pathLst>
              <a:path w="4018090" h="2682075">
                <a:moveTo>
                  <a:pt x="0" y="0"/>
                </a:moveTo>
                <a:lnTo>
                  <a:pt x="4018090" y="0"/>
                </a:lnTo>
                <a:lnTo>
                  <a:pt x="4018090" y="2682076"/>
                </a:lnTo>
                <a:lnTo>
                  <a:pt x="0" y="2682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8" name="TextBox 18"/>
          <p:cNvSpPr txBox="1"/>
          <p:nvPr/>
        </p:nvSpPr>
        <p:spPr>
          <a:xfrm>
            <a:off x="5700685" y="1413784"/>
            <a:ext cx="688662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INOVATOR AI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72220" y="2707327"/>
            <a:ext cx="6709326" cy="2013825"/>
            <a:chOff x="0" y="0"/>
            <a:chExt cx="8945768" cy="26851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8945768" cy="2685100"/>
              <a:chOff x="0" y="0"/>
              <a:chExt cx="4266064" cy="128047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12238" y="632006"/>
              <a:ext cx="8121292" cy="119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REKA BENTUK AI BERLANDASKAN NIAT BAIK DAN TANGGUNGJAWAB SOSIAL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102922" y="2707327"/>
            <a:ext cx="6709326" cy="2013825"/>
            <a:chOff x="0" y="0"/>
            <a:chExt cx="8945768" cy="26851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8945768" cy="2685100"/>
              <a:chOff x="0" y="0"/>
              <a:chExt cx="4266064" cy="128047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12238" y="400445"/>
              <a:ext cx="8121292" cy="1798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JAGA HAK CIPTA DAN HORMAT SUMBANGAN SEMUA RAKAN PENYELIDIK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72220" y="7403228"/>
            <a:ext cx="6709326" cy="2013825"/>
            <a:chOff x="0" y="0"/>
            <a:chExt cx="8945768" cy="26851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945768" cy="2685100"/>
              <a:chOff x="0" y="0"/>
              <a:chExt cx="4266064" cy="128047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12238" y="741082"/>
              <a:ext cx="8121292" cy="119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JANGAN CIPTA INOVASI YANG MEMUDARATKAN MASYARAKAT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74221" y="7403228"/>
            <a:ext cx="6709326" cy="2013825"/>
            <a:chOff x="0" y="0"/>
            <a:chExt cx="8945768" cy="26851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8945768" cy="2685100"/>
              <a:chOff x="0" y="0"/>
              <a:chExt cx="4266064" cy="128047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266064" cy="1280472"/>
              </a:xfrm>
              <a:custGeom>
                <a:avLst/>
                <a:gdLst/>
                <a:ahLst/>
                <a:cxnLst/>
                <a:rect l="l" t="t" r="r" b="b"/>
                <a:pathLst>
                  <a:path w="4266064" h="1280472">
                    <a:moveTo>
                      <a:pt x="4062864" y="0"/>
                    </a:moveTo>
                    <a:cubicBezTo>
                      <a:pt x="4175088" y="0"/>
                      <a:pt x="4266064" y="286644"/>
                      <a:pt x="4266064" y="640236"/>
                    </a:cubicBezTo>
                    <a:cubicBezTo>
                      <a:pt x="4266064" y="993829"/>
                      <a:pt x="4175088" y="1280472"/>
                      <a:pt x="4062864" y="1280472"/>
                    </a:cubicBezTo>
                    <a:lnTo>
                      <a:pt x="203200" y="1280472"/>
                    </a:lnTo>
                    <a:cubicBezTo>
                      <a:pt x="90976" y="1280472"/>
                      <a:pt x="0" y="993829"/>
                      <a:pt x="0" y="640236"/>
                    </a:cubicBezTo>
                    <a:cubicBezTo>
                      <a:pt x="0" y="2866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4266064" cy="1309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412238" y="699967"/>
              <a:ext cx="8121292" cy="119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7"/>
                </a:lnSpc>
                <a:spcBef>
                  <a:spcPct val="0"/>
                </a:spcBef>
              </a:pPr>
              <a:r>
                <a:rPr lang="en-US" sz="24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KEKALKAN ADAB WALAU DALAM EKOSISTEM STARTUP YANG KOMPETITIF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3933" y="-4747093"/>
            <a:ext cx="8837595" cy="88375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CD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156603"/>
            <a:ext cx="18288000" cy="6616931"/>
          </a:xfrm>
          <a:custGeom>
            <a:avLst/>
            <a:gdLst/>
            <a:ahLst/>
            <a:cxnLst/>
            <a:rect l="l" t="t" r="r" b="b"/>
            <a:pathLst>
              <a:path w="18288000" h="6616931">
                <a:moveTo>
                  <a:pt x="0" y="0"/>
                </a:moveTo>
                <a:lnTo>
                  <a:pt x="18288000" y="0"/>
                </a:lnTo>
                <a:lnTo>
                  <a:pt x="18288000" y="6616931"/>
                </a:lnTo>
                <a:lnTo>
                  <a:pt x="0" y="6616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0" y="462122"/>
            <a:ext cx="8461676" cy="9824878"/>
          </a:xfrm>
          <a:custGeom>
            <a:avLst/>
            <a:gdLst/>
            <a:ahLst/>
            <a:cxnLst/>
            <a:rect l="l" t="t" r="r" b="b"/>
            <a:pathLst>
              <a:path w="8461676" h="9824878">
                <a:moveTo>
                  <a:pt x="0" y="0"/>
                </a:moveTo>
                <a:lnTo>
                  <a:pt x="8461676" y="0"/>
                </a:lnTo>
                <a:lnTo>
                  <a:pt x="8461676" y="9824878"/>
                </a:lnTo>
                <a:lnTo>
                  <a:pt x="0" y="9824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1180773" y="2165932"/>
            <a:ext cx="6188183" cy="61881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06" r="-24906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1676" y="581988"/>
            <a:ext cx="7774516" cy="192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7"/>
              </a:lnSpc>
            </a:pPr>
            <a:r>
              <a:rPr lang="en-US" sz="6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⚖️ Etika Inovasi &amp; Pematuhan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997403" y="2947678"/>
            <a:ext cx="10047242" cy="1324706"/>
            <a:chOff x="0" y="0"/>
            <a:chExt cx="13396323" cy="1766274"/>
          </a:xfrm>
        </p:grpSpPr>
        <p:grpSp>
          <p:nvGrpSpPr>
            <p:cNvPr id="11" name="Group 11"/>
            <p:cNvGrpSpPr/>
            <p:nvPr/>
          </p:nvGrpSpPr>
          <p:grpSpPr>
            <a:xfrm>
              <a:off x="1177005" y="0"/>
              <a:ext cx="12219318" cy="1766038"/>
              <a:chOff x="0" y="0"/>
              <a:chExt cx="1784335" cy="2578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84335" cy="257887"/>
              </a:xfrm>
              <a:custGeom>
                <a:avLst/>
                <a:gdLst/>
                <a:ahLst/>
                <a:cxnLst/>
                <a:rect l="l" t="t" r="r" b="b"/>
                <a:pathLst>
                  <a:path w="1784335" h="257887">
                    <a:moveTo>
                      <a:pt x="0" y="0"/>
                    </a:moveTo>
                    <a:lnTo>
                      <a:pt x="1784335" y="0"/>
                    </a:lnTo>
                    <a:lnTo>
                      <a:pt x="1784335" y="257887"/>
                    </a:lnTo>
                    <a:lnTo>
                      <a:pt x="0" y="257887"/>
                    </a:lnTo>
                    <a:close/>
                  </a:path>
                </a:pathLst>
              </a:custGeom>
              <a:solidFill>
                <a:srgbClr val="004AAC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784335" cy="315037"/>
              </a:xfrm>
              <a:prstGeom prst="rect">
                <a:avLst/>
              </a:prstGeom>
            </p:spPr>
            <p:txBody>
              <a:bodyPr lIns="68718" tIns="68718" rIns="68718" bIns="68718" rtlCol="0" anchor="ctr"/>
              <a:lstStyle/>
              <a:p>
                <a:pPr algn="ctr">
                  <a:lnSpc>
                    <a:spcPts val="2846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0" y="0"/>
              <a:ext cx="1766274" cy="1766274"/>
            </a:xfrm>
            <a:custGeom>
              <a:avLst/>
              <a:gdLst/>
              <a:ahLst/>
              <a:cxnLst/>
              <a:rect l="l" t="t" r="r" b="b"/>
              <a:pathLst>
                <a:path w="1766274" h="1766274">
                  <a:moveTo>
                    <a:pt x="0" y="0"/>
                  </a:moveTo>
                  <a:lnTo>
                    <a:pt x="1766274" y="0"/>
                  </a:lnTo>
                  <a:lnTo>
                    <a:pt x="1766274" y="1766274"/>
                  </a:lnTo>
                  <a:lnTo>
                    <a:pt x="0" y="17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78665" y="225667"/>
              <a:ext cx="10820400" cy="123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Patuh pada Akta Harta Intelek, Akta Perlindungan Data dan Panduan AI Negara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997403" y="4712208"/>
            <a:ext cx="10047242" cy="1324706"/>
            <a:chOff x="0" y="0"/>
            <a:chExt cx="13396323" cy="1766274"/>
          </a:xfrm>
        </p:grpSpPr>
        <p:grpSp>
          <p:nvGrpSpPr>
            <p:cNvPr id="17" name="Group 17"/>
            <p:cNvGrpSpPr/>
            <p:nvPr/>
          </p:nvGrpSpPr>
          <p:grpSpPr>
            <a:xfrm>
              <a:off x="1177005" y="0"/>
              <a:ext cx="12219318" cy="1766038"/>
              <a:chOff x="0" y="0"/>
              <a:chExt cx="1784335" cy="2578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784335" cy="257887"/>
              </a:xfrm>
              <a:custGeom>
                <a:avLst/>
                <a:gdLst/>
                <a:ahLst/>
                <a:cxnLst/>
                <a:rect l="l" t="t" r="r" b="b"/>
                <a:pathLst>
                  <a:path w="1784335" h="257887">
                    <a:moveTo>
                      <a:pt x="0" y="0"/>
                    </a:moveTo>
                    <a:lnTo>
                      <a:pt x="1784335" y="0"/>
                    </a:lnTo>
                    <a:lnTo>
                      <a:pt x="1784335" y="257887"/>
                    </a:lnTo>
                    <a:lnTo>
                      <a:pt x="0" y="257887"/>
                    </a:lnTo>
                    <a:close/>
                  </a:path>
                </a:pathLst>
              </a:custGeom>
              <a:solidFill>
                <a:srgbClr val="004AAC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1784335" cy="315037"/>
              </a:xfrm>
              <a:prstGeom prst="rect">
                <a:avLst/>
              </a:prstGeom>
            </p:spPr>
            <p:txBody>
              <a:bodyPr lIns="68718" tIns="68718" rIns="68718" bIns="68718" rtlCol="0" anchor="ctr"/>
              <a:lstStyle/>
              <a:p>
                <a:pPr algn="ctr">
                  <a:lnSpc>
                    <a:spcPts val="2846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0" y="0"/>
              <a:ext cx="1766274" cy="1766274"/>
            </a:xfrm>
            <a:custGeom>
              <a:avLst/>
              <a:gdLst/>
              <a:ahLst/>
              <a:cxnLst/>
              <a:rect l="l" t="t" r="r" b="b"/>
              <a:pathLst>
                <a:path w="1766274" h="1766274">
                  <a:moveTo>
                    <a:pt x="0" y="0"/>
                  </a:moveTo>
                  <a:lnTo>
                    <a:pt x="1766274" y="0"/>
                  </a:lnTo>
                  <a:lnTo>
                    <a:pt x="1766274" y="1766274"/>
                  </a:lnTo>
                  <a:lnTo>
                    <a:pt x="0" y="17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78665" y="225667"/>
              <a:ext cx="10820400" cy="123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Elak meniru algoritma atau rekabentuk tanpa izin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997403" y="6475064"/>
            <a:ext cx="10047242" cy="1324706"/>
            <a:chOff x="0" y="0"/>
            <a:chExt cx="13396323" cy="1766274"/>
          </a:xfrm>
        </p:grpSpPr>
        <p:grpSp>
          <p:nvGrpSpPr>
            <p:cNvPr id="23" name="Group 23"/>
            <p:cNvGrpSpPr/>
            <p:nvPr/>
          </p:nvGrpSpPr>
          <p:grpSpPr>
            <a:xfrm>
              <a:off x="1177005" y="0"/>
              <a:ext cx="12219318" cy="1766038"/>
              <a:chOff x="0" y="0"/>
              <a:chExt cx="1784335" cy="25788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784335" cy="257887"/>
              </a:xfrm>
              <a:custGeom>
                <a:avLst/>
                <a:gdLst/>
                <a:ahLst/>
                <a:cxnLst/>
                <a:rect l="l" t="t" r="r" b="b"/>
                <a:pathLst>
                  <a:path w="1784335" h="257887">
                    <a:moveTo>
                      <a:pt x="0" y="0"/>
                    </a:moveTo>
                    <a:lnTo>
                      <a:pt x="1784335" y="0"/>
                    </a:lnTo>
                    <a:lnTo>
                      <a:pt x="1784335" y="257887"/>
                    </a:lnTo>
                    <a:lnTo>
                      <a:pt x="0" y="257887"/>
                    </a:lnTo>
                    <a:close/>
                  </a:path>
                </a:pathLst>
              </a:custGeom>
              <a:solidFill>
                <a:srgbClr val="004AAC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1784335" cy="315037"/>
              </a:xfrm>
              <a:prstGeom prst="rect">
                <a:avLst/>
              </a:prstGeom>
            </p:spPr>
            <p:txBody>
              <a:bodyPr lIns="68718" tIns="68718" rIns="68718" bIns="68718" rtlCol="0" anchor="ctr"/>
              <a:lstStyle/>
              <a:p>
                <a:pPr algn="ctr">
                  <a:lnSpc>
                    <a:spcPts val="2846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0" y="0"/>
              <a:ext cx="1766274" cy="1766274"/>
            </a:xfrm>
            <a:custGeom>
              <a:avLst/>
              <a:gdLst/>
              <a:ahLst/>
              <a:cxnLst/>
              <a:rect l="l" t="t" r="r" b="b"/>
              <a:pathLst>
                <a:path w="1766274" h="1766274">
                  <a:moveTo>
                    <a:pt x="0" y="0"/>
                  </a:moveTo>
                  <a:lnTo>
                    <a:pt x="1766274" y="0"/>
                  </a:lnTo>
                  <a:lnTo>
                    <a:pt x="1766274" y="1766274"/>
                  </a:lnTo>
                  <a:lnTo>
                    <a:pt x="0" y="17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78665" y="225667"/>
              <a:ext cx="10820400" cy="123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Jangan komersialkan inovasi yang belum sah dari segi keselamatan &amp; impak sosial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9303481" y="2261285"/>
            <a:ext cx="6678771" cy="3162000"/>
            <a:chOff x="0" y="0"/>
            <a:chExt cx="1759018" cy="832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9018" cy="832790"/>
            </a:xfrm>
            <a:custGeom>
              <a:avLst/>
              <a:gdLst/>
              <a:ahLst/>
              <a:cxnLst/>
              <a:rect l="l" t="t" r="r" b="b"/>
              <a:pathLst>
                <a:path w="1759018" h="832790">
                  <a:moveTo>
                    <a:pt x="12751" y="0"/>
                  </a:moveTo>
                  <a:lnTo>
                    <a:pt x="1746267" y="0"/>
                  </a:lnTo>
                  <a:cubicBezTo>
                    <a:pt x="1749649" y="0"/>
                    <a:pt x="1752892" y="1343"/>
                    <a:pt x="1755283" y="3735"/>
                  </a:cubicBezTo>
                  <a:cubicBezTo>
                    <a:pt x="1757674" y="6126"/>
                    <a:pt x="1759018" y="9369"/>
                    <a:pt x="1759018" y="12751"/>
                  </a:cubicBezTo>
                  <a:lnTo>
                    <a:pt x="1759018" y="820039"/>
                  </a:lnTo>
                  <a:cubicBezTo>
                    <a:pt x="1759018" y="823421"/>
                    <a:pt x="1757674" y="826664"/>
                    <a:pt x="1755283" y="829056"/>
                  </a:cubicBezTo>
                  <a:cubicBezTo>
                    <a:pt x="1752892" y="831447"/>
                    <a:pt x="1749649" y="832790"/>
                    <a:pt x="1746267" y="832790"/>
                  </a:cubicBezTo>
                  <a:lnTo>
                    <a:pt x="12751" y="832790"/>
                  </a:lnTo>
                  <a:cubicBezTo>
                    <a:pt x="9369" y="832790"/>
                    <a:pt x="6126" y="831447"/>
                    <a:pt x="3735" y="829056"/>
                  </a:cubicBezTo>
                  <a:cubicBezTo>
                    <a:pt x="1343" y="826664"/>
                    <a:pt x="0" y="823421"/>
                    <a:pt x="0" y="820039"/>
                  </a:cubicBezTo>
                  <a:lnTo>
                    <a:pt x="0" y="12751"/>
                  </a:lnTo>
                  <a:cubicBezTo>
                    <a:pt x="0" y="9369"/>
                    <a:pt x="1343" y="6126"/>
                    <a:pt x="3735" y="3735"/>
                  </a:cubicBezTo>
                  <a:cubicBezTo>
                    <a:pt x="6126" y="1343"/>
                    <a:pt x="9369" y="0"/>
                    <a:pt x="127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59018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226318" y="885067"/>
            <a:ext cx="1988095" cy="1772055"/>
          </a:xfrm>
          <a:custGeom>
            <a:avLst/>
            <a:gdLst/>
            <a:ahLst/>
            <a:cxnLst/>
            <a:rect l="l" t="t" r="r" b="b"/>
            <a:pathLst>
              <a:path w="1988095" h="1772055">
                <a:moveTo>
                  <a:pt x="0" y="0"/>
                </a:moveTo>
                <a:lnTo>
                  <a:pt x="1988095" y="0"/>
                </a:lnTo>
                <a:lnTo>
                  <a:pt x="1988095" y="1772056"/>
                </a:lnTo>
                <a:lnTo>
                  <a:pt x="0" y="177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-814083">
            <a:off x="-1318032" y="5079821"/>
            <a:ext cx="3274969" cy="3363255"/>
          </a:xfrm>
          <a:custGeom>
            <a:avLst/>
            <a:gdLst/>
            <a:ahLst/>
            <a:cxnLst/>
            <a:rect l="l" t="t" r="r" b="b"/>
            <a:pathLst>
              <a:path w="3274969" h="3363255">
                <a:moveTo>
                  <a:pt x="0" y="0"/>
                </a:moveTo>
                <a:lnTo>
                  <a:pt x="3274969" y="0"/>
                </a:lnTo>
                <a:lnTo>
                  <a:pt x="3274969" y="3363255"/>
                </a:lnTo>
                <a:lnTo>
                  <a:pt x="0" y="3363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8" name="Group 8"/>
          <p:cNvGrpSpPr/>
          <p:nvPr/>
        </p:nvGrpSpPr>
        <p:grpSpPr>
          <a:xfrm>
            <a:off x="2001757" y="2261285"/>
            <a:ext cx="6691612" cy="3162000"/>
            <a:chOff x="0" y="0"/>
            <a:chExt cx="1762400" cy="8327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2400" cy="832790"/>
            </a:xfrm>
            <a:custGeom>
              <a:avLst/>
              <a:gdLst/>
              <a:ahLst/>
              <a:cxnLst/>
              <a:rect l="l" t="t" r="r" b="b"/>
              <a:pathLst>
                <a:path w="1762400" h="832790">
                  <a:moveTo>
                    <a:pt x="12727" y="0"/>
                  </a:moveTo>
                  <a:lnTo>
                    <a:pt x="1749673" y="0"/>
                  </a:lnTo>
                  <a:cubicBezTo>
                    <a:pt x="1756702" y="0"/>
                    <a:pt x="1762400" y="5698"/>
                    <a:pt x="1762400" y="12727"/>
                  </a:cubicBezTo>
                  <a:lnTo>
                    <a:pt x="1762400" y="820064"/>
                  </a:lnTo>
                  <a:cubicBezTo>
                    <a:pt x="1762400" y="827092"/>
                    <a:pt x="1756702" y="832790"/>
                    <a:pt x="1749673" y="832790"/>
                  </a:cubicBezTo>
                  <a:lnTo>
                    <a:pt x="12727" y="832790"/>
                  </a:lnTo>
                  <a:cubicBezTo>
                    <a:pt x="9351" y="832790"/>
                    <a:pt x="6114" y="831449"/>
                    <a:pt x="3728" y="829063"/>
                  </a:cubicBezTo>
                  <a:cubicBezTo>
                    <a:pt x="1341" y="826676"/>
                    <a:pt x="0" y="823439"/>
                    <a:pt x="0" y="820064"/>
                  </a:cubicBezTo>
                  <a:lnTo>
                    <a:pt x="0" y="12727"/>
                  </a:lnTo>
                  <a:cubicBezTo>
                    <a:pt x="0" y="9351"/>
                    <a:pt x="1341" y="6114"/>
                    <a:pt x="3728" y="3728"/>
                  </a:cubicBezTo>
                  <a:cubicBezTo>
                    <a:pt x="6114" y="1341"/>
                    <a:pt x="9351" y="0"/>
                    <a:pt x="12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762400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76952" y="2750085"/>
            <a:ext cx="5741222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'Privacy by design', elakkan pengambilan data tanpa persetujuan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0132" y="3102510"/>
            <a:ext cx="5718311" cy="139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Kenalpasti dan kurangkan bias algoritma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4800" y="571500"/>
            <a:ext cx="172212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🛠️ CONTOH Reka </a:t>
            </a:r>
            <a:r>
              <a:rPr lang="en-US" sz="5600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Bentuk</a:t>
            </a:r>
            <a:r>
              <a:rPr lang="en-US" sz="5600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AI </a:t>
            </a:r>
            <a:r>
              <a:rPr lang="en-US" sz="5600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Bertanggungjawab</a:t>
            </a:r>
            <a:r>
              <a:rPr lang="en-US" sz="5600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(</a:t>
            </a:r>
            <a:r>
              <a:rPr lang="en-US" sz="3000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tidak</a:t>
            </a:r>
            <a:r>
              <a:rPr lang="en-US" sz="3000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terhad</a:t>
            </a:r>
            <a:r>
              <a:rPr lang="en-US" sz="5600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..)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03481" y="6096300"/>
            <a:ext cx="6691612" cy="3162000"/>
            <a:chOff x="0" y="0"/>
            <a:chExt cx="1762400" cy="8327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62400" cy="832790"/>
            </a:xfrm>
            <a:custGeom>
              <a:avLst/>
              <a:gdLst/>
              <a:ahLst/>
              <a:cxnLst/>
              <a:rect l="l" t="t" r="r" b="b"/>
              <a:pathLst>
                <a:path w="1762400" h="832790">
                  <a:moveTo>
                    <a:pt x="12727" y="0"/>
                  </a:moveTo>
                  <a:lnTo>
                    <a:pt x="1749673" y="0"/>
                  </a:lnTo>
                  <a:cubicBezTo>
                    <a:pt x="1756702" y="0"/>
                    <a:pt x="1762400" y="5698"/>
                    <a:pt x="1762400" y="12727"/>
                  </a:cubicBezTo>
                  <a:lnTo>
                    <a:pt x="1762400" y="820064"/>
                  </a:lnTo>
                  <a:cubicBezTo>
                    <a:pt x="1762400" y="827092"/>
                    <a:pt x="1756702" y="832790"/>
                    <a:pt x="1749673" y="832790"/>
                  </a:cubicBezTo>
                  <a:lnTo>
                    <a:pt x="12727" y="832790"/>
                  </a:lnTo>
                  <a:cubicBezTo>
                    <a:pt x="9351" y="832790"/>
                    <a:pt x="6114" y="831449"/>
                    <a:pt x="3728" y="829063"/>
                  </a:cubicBezTo>
                  <a:cubicBezTo>
                    <a:pt x="1341" y="826676"/>
                    <a:pt x="0" y="823439"/>
                    <a:pt x="0" y="820064"/>
                  </a:cubicBezTo>
                  <a:lnTo>
                    <a:pt x="0" y="12727"/>
                  </a:lnTo>
                  <a:cubicBezTo>
                    <a:pt x="0" y="9351"/>
                    <a:pt x="1341" y="6114"/>
                    <a:pt x="3728" y="3728"/>
                  </a:cubicBezTo>
                  <a:cubicBezTo>
                    <a:pt x="6114" y="1341"/>
                    <a:pt x="9351" y="0"/>
                    <a:pt x="12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762400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90132" y="6585099"/>
            <a:ext cx="5872068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Letakkan manusia sebagai pengawal utama sistem AI kritikal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001757" y="6096300"/>
            <a:ext cx="6844012" cy="3162000"/>
            <a:chOff x="0" y="0"/>
            <a:chExt cx="1802538" cy="8327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02538" cy="832790"/>
            </a:xfrm>
            <a:custGeom>
              <a:avLst/>
              <a:gdLst/>
              <a:ahLst/>
              <a:cxnLst/>
              <a:rect l="l" t="t" r="r" b="b"/>
              <a:pathLst>
                <a:path w="1802538" h="832790">
                  <a:moveTo>
                    <a:pt x="12443" y="0"/>
                  </a:moveTo>
                  <a:lnTo>
                    <a:pt x="1790095" y="0"/>
                  </a:lnTo>
                  <a:cubicBezTo>
                    <a:pt x="1793395" y="0"/>
                    <a:pt x="1796560" y="1311"/>
                    <a:pt x="1798894" y="3645"/>
                  </a:cubicBezTo>
                  <a:cubicBezTo>
                    <a:pt x="1801227" y="5978"/>
                    <a:pt x="1802538" y="9143"/>
                    <a:pt x="1802538" y="12443"/>
                  </a:cubicBezTo>
                  <a:lnTo>
                    <a:pt x="1802538" y="820347"/>
                  </a:lnTo>
                  <a:cubicBezTo>
                    <a:pt x="1802538" y="823647"/>
                    <a:pt x="1801227" y="826812"/>
                    <a:pt x="1798894" y="829146"/>
                  </a:cubicBezTo>
                  <a:cubicBezTo>
                    <a:pt x="1796560" y="831479"/>
                    <a:pt x="1793395" y="832790"/>
                    <a:pt x="1790095" y="832790"/>
                  </a:cubicBezTo>
                  <a:lnTo>
                    <a:pt x="12443" y="832790"/>
                  </a:lnTo>
                  <a:cubicBezTo>
                    <a:pt x="9143" y="832790"/>
                    <a:pt x="5978" y="831479"/>
                    <a:pt x="3645" y="829146"/>
                  </a:cubicBezTo>
                  <a:cubicBezTo>
                    <a:pt x="1311" y="826812"/>
                    <a:pt x="0" y="823647"/>
                    <a:pt x="0" y="820347"/>
                  </a:cubicBezTo>
                  <a:lnTo>
                    <a:pt x="0" y="12443"/>
                  </a:lnTo>
                  <a:cubicBezTo>
                    <a:pt x="0" y="9143"/>
                    <a:pt x="1311" y="5978"/>
                    <a:pt x="3645" y="3645"/>
                  </a:cubicBezTo>
                  <a:cubicBezTo>
                    <a:pt x="5978" y="1311"/>
                    <a:pt x="9143" y="0"/>
                    <a:pt x="124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3B3B">
                    <a:alpha val="48000"/>
                  </a:srgbClr>
                </a:gs>
                <a:gs pos="100000">
                  <a:srgbClr val="BDBDBD">
                    <a:alpha val="48000"/>
                  </a:srgbClr>
                </a:gs>
              </a:gsLst>
              <a:lin ang="2700000"/>
            </a:gradFill>
            <a:ln w="28575" cap="sq">
              <a:solidFill>
                <a:srgbClr val="FAFAFA">
                  <a:alpha val="4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802538" cy="861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79163" y="6585099"/>
            <a:ext cx="5489199" cy="20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Pastikan pengguna tahu bila berinteraksi dengan sistem AI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AutoShape 3"/>
          <p:cNvSpPr/>
          <p:nvPr/>
        </p:nvSpPr>
        <p:spPr>
          <a:xfrm flipV="1">
            <a:off x="584494" y="823978"/>
            <a:ext cx="1646158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rot="-5282160">
            <a:off x="16937214" y="514479"/>
            <a:ext cx="360144" cy="618998"/>
          </a:xfrm>
          <a:custGeom>
            <a:avLst/>
            <a:gdLst/>
            <a:ahLst/>
            <a:cxnLst/>
            <a:rect l="l" t="t" r="r" b="b"/>
            <a:pathLst>
              <a:path w="360144" h="618998">
                <a:moveTo>
                  <a:pt x="0" y="0"/>
                </a:moveTo>
                <a:lnTo>
                  <a:pt x="360144" y="0"/>
                </a:lnTo>
                <a:lnTo>
                  <a:pt x="360144" y="618998"/>
                </a:lnTo>
                <a:lnTo>
                  <a:pt x="0" y="618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6861819" y="1598152"/>
            <a:ext cx="4564361" cy="3418449"/>
            <a:chOff x="0" y="0"/>
            <a:chExt cx="4638992" cy="34743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38992" cy="3474343"/>
            </a:xfrm>
            <a:custGeom>
              <a:avLst/>
              <a:gdLst/>
              <a:ahLst/>
              <a:cxnLst/>
              <a:rect l="l" t="t" r="r" b="b"/>
              <a:pathLst>
                <a:path w="4638992" h="3474343">
                  <a:moveTo>
                    <a:pt x="447897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23"/>
                  </a:lnTo>
                  <a:lnTo>
                    <a:pt x="160020" y="3474343"/>
                  </a:lnTo>
                  <a:lnTo>
                    <a:pt x="4478972" y="3474343"/>
                  </a:lnTo>
                  <a:lnTo>
                    <a:pt x="4638992" y="3314323"/>
                  </a:lnTo>
                  <a:lnTo>
                    <a:pt x="4638992" y="160020"/>
                  </a:lnTo>
                  <a:lnTo>
                    <a:pt x="44789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34925"/>
              <a:ext cx="4511992" cy="337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61819" y="5256251"/>
            <a:ext cx="4976950" cy="3418449"/>
            <a:chOff x="0" y="0"/>
            <a:chExt cx="5058327" cy="34743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8328" cy="3474343"/>
            </a:xfrm>
            <a:custGeom>
              <a:avLst/>
              <a:gdLst/>
              <a:ahLst/>
              <a:cxnLst/>
              <a:rect l="l" t="t" r="r" b="b"/>
              <a:pathLst>
                <a:path w="5058328" h="3474343">
                  <a:moveTo>
                    <a:pt x="489830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23"/>
                  </a:lnTo>
                  <a:lnTo>
                    <a:pt x="160020" y="3474343"/>
                  </a:lnTo>
                  <a:lnTo>
                    <a:pt x="4898308" y="3474343"/>
                  </a:lnTo>
                  <a:lnTo>
                    <a:pt x="5058328" y="3314323"/>
                  </a:lnTo>
                  <a:lnTo>
                    <a:pt x="5058328" y="160020"/>
                  </a:lnTo>
                  <a:lnTo>
                    <a:pt x="489830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34925"/>
              <a:ext cx="4931327" cy="337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90098" y="1598152"/>
            <a:ext cx="4564361" cy="3418449"/>
            <a:chOff x="0" y="0"/>
            <a:chExt cx="4638992" cy="34743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38992" cy="3474343"/>
            </a:xfrm>
            <a:custGeom>
              <a:avLst/>
              <a:gdLst/>
              <a:ahLst/>
              <a:cxnLst/>
              <a:rect l="l" t="t" r="r" b="b"/>
              <a:pathLst>
                <a:path w="4638992" h="3474343">
                  <a:moveTo>
                    <a:pt x="447897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23"/>
                  </a:lnTo>
                  <a:lnTo>
                    <a:pt x="160020" y="3474343"/>
                  </a:lnTo>
                  <a:lnTo>
                    <a:pt x="4478972" y="3474343"/>
                  </a:lnTo>
                  <a:lnTo>
                    <a:pt x="4638992" y="3314323"/>
                  </a:lnTo>
                  <a:lnTo>
                    <a:pt x="4638992" y="160020"/>
                  </a:lnTo>
                  <a:lnTo>
                    <a:pt x="44789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34925"/>
              <a:ext cx="4511992" cy="337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769011" y="5946944"/>
            <a:ext cx="2278056" cy="2566824"/>
          </a:xfrm>
          <a:custGeom>
            <a:avLst/>
            <a:gdLst/>
            <a:ahLst/>
            <a:cxnLst/>
            <a:rect l="l" t="t" r="r" b="b"/>
            <a:pathLst>
              <a:path w="2278056" h="2566824">
                <a:moveTo>
                  <a:pt x="0" y="0"/>
                </a:moveTo>
                <a:lnTo>
                  <a:pt x="2278056" y="0"/>
                </a:lnTo>
                <a:lnTo>
                  <a:pt x="2278056" y="2566824"/>
                </a:lnTo>
                <a:lnTo>
                  <a:pt x="0" y="2566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5" name="Freeform 15"/>
          <p:cNvSpPr/>
          <p:nvPr/>
        </p:nvSpPr>
        <p:spPr>
          <a:xfrm>
            <a:off x="1852027" y="4491088"/>
            <a:ext cx="3076218" cy="3268226"/>
          </a:xfrm>
          <a:custGeom>
            <a:avLst/>
            <a:gdLst/>
            <a:ahLst/>
            <a:cxnLst/>
            <a:rect l="l" t="t" r="r" b="b"/>
            <a:pathLst>
              <a:path w="3076218" h="3268226">
                <a:moveTo>
                  <a:pt x="0" y="0"/>
                </a:moveTo>
                <a:lnTo>
                  <a:pt x="3076217" y="0"/>
                </a:lnTo>
                <a:lnTo>
                  <a:pt x="3076217" y="3268226"/>
                </a:lnTo>
                <a:lnTo>
                  <a:pt x="0" y="32682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1202222" y="1560052"/>
            <a:ext cx="4886915" cy="1464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39"/>
              </a:lnSpc>
            </a:pPr>
            <a:r>
              <a:rPr lang="en-US" sz="4598" spc="257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🕌 INSPIRASI NILAI AGAMA &amp; SOSIAL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1117" y="2944277"/>
            <a:ext cx="3758249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132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INOVASI MESTI MENJAGA MAQASID SYARIAH DAN NILAI SEJAGAT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1117" y="6602376"/>
            <a:ext cx="4378981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13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HINDARI MENCIPTA TEKNOLOGI YANG MANIPULATIF ATAU EKSPLOITATIF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39395" y="2944277"/>
            <a:ext cx="3758249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13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GUNAKAN PRINSIP KEADILAN, AMANAH DAN IHSAN DALAM SETIAP INOVASI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82542" y="1932844"/>
            <a:ext cx="2083527" cy="9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82542" y="5590943"/>
            <a:ext cx="2083527" cy="9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0820" y="1932844"/>
            <a:ext cx="2083527" cy="9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93999">
            <a:off x="-6583213" y="2608318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6894000" flipH="1">
            <a:off x="17186824" y="2608318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3225959" y="600108"/>
            <a:ext cx="1168934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📦 AMALAN BAIK DALAM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24130" y="1546784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EKOSISTEM INOVASI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79925" y="3568769"/>
            <a:ext cx="12826044" cy="1400423"/>
            <a:chOff x="0" y="0"/>
            <a:chExt cx="7811746" cy="852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11746" cy="852932"/>
            </a:xfrm>
            <a:custGeom>
              <a:avLst/>
              <a:gdLst/>
              <a:ahLst/>
              <a:cxnLst/>
              <a:rect l="l" t="t" r="r" b="b"/>
              <a:pathLst>
                <a:path w="7811746" h="852932">
                  <a:moveTo>
                    <a:pt x="7608546" y="0"/>
                  </a:moveTo>
                  <a:cubicBezTo>
                    <a:pt x="7720770" y="0"/>
                    <a:pt x="7811746" y="190935"/>
                    <a:pt x="7811746" y="426466"/>
                  </a:cubicBezTo>
                  <a:cubicBezTo>
                    <a:pt x="7811746" y="661997"/>
                    <a:pt x="7720770" y="852932"/>
                    <a:pt x="7608546" y="852932"/>
                  </a:cubicBezTo>
                  <a:lnTo>
                    <a:pt x="203200" y="852932"/>
                  </a:lnTo>
                  <a:cubicBezTo>
                    <a:pt x="90976" y="852932"/>
                    <a:pt x="0" y="661997"/>
                    <a:pt x="0" y="426466"/>
                  </a:cubicBezTo>
                  <a:cubicBezTo>
                    <a:pt x="0" y="1909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811746" cy="881507"/>
            </a:xfrm>
            <a:prstGeom prst="rect">
              <a:avLst/>
            </a:prstGeom>
          </p:spPr>
          <p:txBody>
            <a:bodyPr lIns="53500" tIns="53500" rIns="53500" bIns="535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26455" y="3759181"/>
            <a:ext cx="12252558" cy="893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  <a:spcBef>
                <a:spcPct val="0"/>
              </a:spcBef>
            </a:pPr>
            <a:r>
              <a:rPr lang="en-US" sz="2565" b="1" dirty="0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PATUHI GARIS PANDUAN SEPERTI IEEE CERTIFAIED™, OECD AI, DAN AI GOVERNANCE &amp; ETHICS MALAYSIA (AIGE)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52400" y="495300"/>
            <a:ext cx="17785439" cy="9184094"/>
            <a:chOff x="0" y="-38100"/>
            <a:chExt cx="2073946" cy="1070950"/>
          </a:xfrm>
        </p:grpSpPr>
        <p:sp>
          <p:nvSpPr>
            <p:cNvPr id="11" name="Freeform 11"/>
            <p:cNvSpPr/>
            <p:nvPr/>
          </p:nvSpPr>
          <p:spPr>
            <a:xfrm>
              <a:off x="185641" y="283395"/>
              <a:ext cx="1888305" cy="749455"/>
            </a:xfrm>
            <a:custGeom>
              <a:avLst/>
              <a:gdLst/>
              <a:ahLst/>
              <a:cxnLst/>
              <a:rect l="l" t="t" r="r" b="b"/>
              <a:pathLst>
                <a:path w="1888305" h="749455">
                  <a:moveTo>
                    <a:pt x="20558" y="0"/>
                  </a:moveTo>
                  <a:lnTo>
                    <a:pt x="1867747" y="0"/>
                  </a:lnTo>
                  <a:cubicBezTo>
                    <a:pt x="1879101" y="0"/>
                    <a:pt x="1888305" y="9204"/>
                    <a:pt x="1888305" y="20558"/>
                  </a:cubicBezTo>
                  <a:lnTo>
                    <a:pt x="1888305" y="728897"/>
                  </a:lnTo>
                  <a:cubicBezTo>
                    <a:pt x="1888305" y="734349"/>
                    <a:pt x="1886139" y="739578"/>
                    <a:pt x="1882284" y="743434"/>
                  </a:cubicBezTo>
                  <a:cubicBezTo>
                    <a:pt x="1878429" y="747289"/>
                    <a:pt x="1873199" y="749455"/>
                    <a:pt x="1867747" y="749455"/>
                  </a:cubicBezTo>
                  <a:lnTo>
                    <a:pt x="20558" y="749455"/>
                  </a:lnTo>
                  <a:cubicBezTo>
                    <a:pt x="15106" y="749455"/>
                    <a:pt x="9877" y="747289"/>
                    <a:pt x="6021" y="743434"/>
                  </a:cubicBezTo>
                  <a:cubicBezTo>
                    <a:pt x="2166" y="739578"/>
                    <a:pt x="0" y="734349"/>
                    <a:pt x="0" y="728897"/>
                  </a:cubicBezTo>
                  <a:lnTo>
                    <a:pt x="0" y="20558"/>
                  </a:lnTo>
                  <a:cubicBezTo>
                    <a:pt x="0" y="15106"/>
                    <a:pt x="2166" y="9877"/>
                    <a:pt x="6021" y="6021"/>
                  </a:cubicBezTo>
                  <a:cubicBezTo>
                    <a:pt x="9877" y="2166"/>
                    <a:pt x="15106" y="0"/>
                    <a:pt x="205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88305" cy="787555"/>
            </a:xfrm>
            <a:prstGeom prst="rect">
              <a:avLst/>
            </a:prstGeom>
          </p:spPr>
          <p:txBody>
            <a:bodyPr lIns="53500" tIns="53500" rIns="53500" bIns="535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79925" y="5221514"/>
            <a:ext cx="12826044" cy="1200665"/>
            <a:chOff x="0" y="0"/>
            <a:chExt cx="7811746" cy="7312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11746" cy="731269"/>
            </a:xfrm>
            <a:custGeom>
              <a:avLst/>
              <a:gdLst/>
              <a:ahLst/>
              <a:cxnLst/>
              <a:rect l="l" t="t" r="r" b="b"/>
              <a:pathLst>
                <a:path w="7811746" h="731269">
                  <a:moveTo>
                    <a:pt x="7608546" y="0"/>
                  </a:moveTo>
                  <a:cubicBezTo>
                    <a:pt x="7720770" y="0"/>
                    <a:pt x="7811746" y="163700"/>
                    <a:pt x="7811746" y="365635"/>
                  </a:cubicBezTo>
                  <a:cubicBezTo>
                    <a:pt x="7811746" y="567569"/>
                    <a:pt x="7720770" y="731269"/>
                    <a:pt x="7608546" y="731269"/>
                  </a:cubicBezTo>
                  <a:lnTo>
                    <a:pt x="203200" y="731269"/>
                  </a:lnTo>
                  <a:cubicBezTo>
                    <a:pt x="90976" y="731269"/>
                    <a:pt x="0" y="567569"/>
                    <a:pt x="0" y="365635"/>
                  </a:cubicBezTo>
                  <a:cubicBezTo>
                    <a:pt x="0" y="1637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7811746" cy="759844"/>
            </a:xfrm>
            <a:prstGeom prst="rect">
              <a:avLst/>
            </a:prstGeom>
          </p:spPr>
          <p:txBody>
            <a:bodyPr lIns="53500" tIns="53500" rIns="53500" bIns="535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26455" y="5533473"/>
            <a:ext cx="11485341" cy="481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  <a:spcBef>
                <a:spcPct val="0"/>
              </a:spcBef>
            </a:pPr>
            <a:r>
              <a:rPr lang="en-US" sz="2565" b="1" dirty="0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WUJUDKAN ETIKA BERSAMA PASUKAN R&amp;D DAN PELABUR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979925" y="6619262"/>
            <a:ext cx="12826044" cy="1263917"/>
            <a:chOff x="0" y="0"/>
            <a:chExt cx="7811746" cy="7697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11746" cy="769793"/>
            </a:xfrm>
            <a:custGeom>
              <a:avLst/>
              <a:gdLst/>
              <a:ahLst/>
              <a:cxnLst/>
              <a:rect l="l" t="t" r="r" b="b"/>
              <a:pathLst>
                <a:path w="7811746" h="769793">
                  <a:moveTo>
                    <a:pt x="7608546" y="0"/>
                  </a:moveTo>
                  <a:cubicBezTo>
                    <a:pt x="7720770" y="0"/>
                    <a:pt x="7811746" y="172324"/>
                    <a:pt x="7811746" y="384896"/>
                  </a:cubicBezTo>
                  <a:cubicBezTo>
                    <a:pt x="7811746" y="597469"/>
                    <a:pt x="7720770" y="769793"/>
                    <a:pt x="7608546" y="769793"/>
                  </a:cubicBezTo>
                  <a:lnTo>
                    <a:pt x="203200" y="769793"/>
                  </a:lnTo>
                  <a:cubicBezTo>
                    <a:pt x="90976" y="769793"/>
                    <a:pt x="0" y="597469"/>
                    <a:pt x="0" y="384896"/>
                  </a:cubicBezTo>
                  <a:cubicBezTo>
                    <a:pt x="0" y="17232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811746" cy="798368"/>
            </a:xfrm>
            <a:prstGeom prst="rect">
              <a:avLst/>
            </a:prstGeom>
          </p:spPr>
          <p:txBody>
            <a:bodyPr lIns="53500" tIns="53500" rIns="53500" bIns="535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426455" y="6673409"/>
            <a:ext cx="11485341" cy="9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  <a:spcBef>
                <a:spcPct val="0"/>
              </a:spcBef>
            </a:pPr>
            <a:r>
              <a:rPr lang="en-US" sz="2565" b="1" dirty="0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SEDIAKAN DASAR 'AI ETHICAL CHECKLIST' SEBELUM PELANCARAN PRODUK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979925" y="8080261"/>
            <a:ext cx="12826044" cy="1354601"/>
            <a:chOff x="0" y="0"/>
            <a:chExt cx="7811746" cy="8250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11746" cy="825024"/>
            </a:xfrm>
            <a:custGeom>
              <a:avLst/>
              <a:gdLst/>
              <a:ahLst/>
              <a:cxnLst/>
              <a:rect l="l" t="t" r="r" b="b"/>
              <a:pathLst>
                <a:path w="7811746" h="825024">
                  <a:moveTo>
                    <a:pt x="7608546" y="0"/>
                  </a:moveTo>
                  <a:cubicBezTo>
                    <a:pt x="7720770" y="0"/>
                    <a:pt x="7811746" y="184688"/>
                    <a:pt x="7811746" y="412512"/>
                  </a:cubicBezTo>
                  <a:cubicBezTo>
                    <a:pt x="7811746" y="640336"/>
                    <a:pt x="7720770" y="825024"/>
                    <a:pt x="7608546" y="825024"/>
                  </a:cubicBezTo>
                  <a:lnTo>
                    <a:pt x="203200" y="825024"/>
                  </a:lnTo>
                  <a:cubicBezTo>
                    <a:pt x="90976" y="825024"/>
                    <a:pt x="0" y="640336"/>
                    <a:pt x="0" y="412512"/>
                  </a:cubicBezTo>
                  <a:cubicBezTo>
                    <a:pt x="0" y="18468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811746" cy="853599"/>
            </a:xfrm>
            <a:prstGeom prst="rect">
              <a:avLst/>
            </a:prstGeom>
          </p:spPr>
          <p:txBody>
            <a:bodyPr lIns="53500" tIns="53500" rIns="53500" bIns="535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426455" y="8243482"/>
            <a:ext cx="11485341" cy="9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  <a:spcBef>
                <a:spcPct val="0"/>
              </a:spcBef>
            </a:pPr>
            <a:r>
              <a:rPr lang="en-US" sz="2565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SERTAI HACKATHON, INKUBATOR ATAU PAMERAN DENGAN TEMA ETIKA TEKNOLOGI</a:t>
            </a:r>
          </a:p>
        </p:txBody>
      </p:sp>
      <p:grpSp>
        <p:nvGrpSpPr>
          <p:cNvPr id="25" name="Group 25"/>
          <p:cNvGrpSpPr/>
          <p:nvPr/>
        </p:nvGrpSpPr>
        <p:grpSpPr>
          <a:xfrm rot="-2862000">
            <a:off x="16495762" y="-1724517"/>
            <a:ext cx="2307298" cy="4896900"/>
            <a:chOff x="0" y="0"/>
            <a:chExt cx="607683" cy="12897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2862000">
            <a:off x="-515060" y="-1724517"/>
            <a:ext cx="2307298" cy="4896900"/>
            <a:chOff x="0" y="0"/>
            <a:chExt cx="607683" cy="12897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07683" cy="1289718"/>
            </a:xfrm>
            <a:custGeom>
              <a:avLst/>
              <a:gdLst/>
              <a:ahLst/>
              <a:cxnLst/>
              <a:rect l="l" t="t" r="r" b="b"/>
              <a:pathLst>
                <a:path w="607683" h="1289718">
                  <a:moveTo>
                    <a:pt x="0" y="0"/>
                  </a:moveTo>
                  <a:lnTo>
                    <a:pt x="607683" y="0"/>
                  </a:lnTo>
                  <a:lnTo>
                    <a:pt x="607683" y="1289718"/>
                  </a:lnTo>
                  <a:lnTo>
                    <a:pt x="0" y="12897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07683" cy="132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9384208" cy="9451154"/>
          </a:xfrm>
          <a:custGeom>
            <a:avLst/>
            <a:gdLst/>
            <a:ahLst/>
            <a:cxnLst/>
            <a:rect l="l" t="t" r="r" b="b"/>
            <a:pathLst>
              <a:path w="9384208" h="9451154">
                <a:moveTo>
                  <a:pt x="0" y="0"/>
                </a:moveTo>
                <a:lnTo>
                  <a:pt x="9384208" y="0"/>
                </a:lnTo>
                <a:lnTo>
                  <a:pt x="9384208" y="9451154"/>
                </a:lnTo>
                <a:lnTo>
                  <a:pt x="0" y="9451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3889741" y="6984168"/>
            <a:ext cx="2963183" cy="3097404"/>
          </a:xfrm>
          <a:custGeom>
            <a:avLst/>
            <a:gdLst/>
            <a:ahLst/>
            <a:cxnLst/>
            <a:rect l="l" t="t" r="r" b="b"/>
            <a:pathLst>
              <a:path w="2963183" h="3097404">
                <a:moveTo>
                  <a:pt x="0" y="0"/>
                </a:moveTo>
                <a:lnTo>
                  <a:pt x="2963183" y="0"/>
                </a:lnTo>
                <a:lnTo>
                  <a:pt x="2963183" y="3097404"/>
                </a:lnTo>
                <a:lnTo>
                  <a:pt x="0" y="3097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5371333" y="2877410"/>
            <a:ext cx="7967314" cy="385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Adab dan AI dalam Perniagaan</a:t>
            </a:r>
          </a:p>
          <a:p>
            <a:pPr marL="0" lvl="0" indent="0"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/Keusahawanan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2438933" y="2802727"/>
            <a:ext cx="1341013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5038426">
            <a:off x="16217631" y="34170"/>
            <a:ext cx="3872328" cy="4226279"/>
          </a:xfrm>
          <a:custGeom>
            <a:avLst/>
            <a:gdLst/>
            <a:ahLst/>
            <a:cxnLst/>
            <a:rect l="l" t="t" r="r" b="b"/>
            <a:pathLst>
              <a:path w="3872328" h="4226279">
                <a:moveTo>
                  <a:pt x="0" y="0"/>
                </a:moveTo>
                <a:lnTo>
                  <a:pt x="3872328" y="0"/>
                </a:lnTo>
                <a:lnTo>
                  <a:pt x="3872328" y="4226279"/>
                </a:lnTo>
                <a:lnTo>
                  <a:pt x="0" y="4226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438437" y="8034614"/>
            <a:ext cx="744864" cy="1067905"/>
          </a:xfrm>
          <a:custGeom>
            <a:avLst/>
            <a:gdLst/>
            <a:ahLst/>
            <a:cxnLst/>
            <a:rect l="l" t="t" r="r" b="b"/>
            <a:pathLst>
              <a:path w="744864" h="1067905">
                <a:moveTo>
                  <a:pt x="0" y="0"/>
                </a:moveTo>
                <a:lnTo>
                  <a:pt x="744864" y="0"/>
                </a:lnTo>
                <a:lnTo>
                  <a:pt x="744864" y="1067906"/>
                </a:lnTo>
                <a:lnTo>
                  <a:pt x="0" y="1067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AutoShape 9"/>
          <p:cNvSpPr/>
          <p:nvPr/>
        </p:nvSpPr>
        <p:spPr>
          <a:xfrm>
            <a:off x="2261020" y="4038852"/>
            <a:ext cx="4540789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10" name="Group 10"/>
          <p:cNvGrpSpPr/>
          <p:nvPr/>
        </p:nvGrpSpPr>
        <p:grpSpPr>
          <a:xfrm>
            <a:off x="7170659" y="3540914"/>
            <a:ext cx="1306825" cy="13068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200" tIns="60200" rIns="60200" bIns="602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965582" y="5238346"/>
            <a:ext cx="49254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14" name="Group 14"/>
          <p:cNvGrpSpPr/>
          <p:nvPr/>
        </p:nvGrpSpPr>
        <p:grpSpPr>
          <a:xfrm>
            <a:off x="9144000" y="4740409"/>
            <a:ext cx="1417538" cy="1306825"/>
            <a:chOff x="0" y="0"/>
            <a:chExt cx="881659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1659" cy="812800"/>
            </a:xfrm>
            <a:custGeom>
              <a:avLst/>
              <a:gdLst/>
              <a:ahLst/>
              <a:cxnLst/>
              <a:rect l="l" t="t" r="r" b="b"/>
              <a:pathLst>
                <a:path w="881659" h="812800">
                  <a:moveTo>
                    <a:pt x="440830" y="0"/>
                  </a:moveTo>
                  <a:cubicBezTo>
                    <a:pt x="197366" y="0"/>
                    <a:pt x="0" y="181951"/>
                    <a:pt x="0" y="406400"/>
                  </a:cubicBezTo>
                  <a:cubicBezTo>
                    <a:pt x="0" y="630849"/>
                    <a:pt x="197366" y="812800"/>
                    <a:pt x="440830" y="812800"/>
                  </a:cubicBezTo>
                  <a:cubicBezTo>
                    <a:pt x="684293" y="812800"/>
                    <a:pt x="881659" y="630849"/>
                    <a:pt x="881659" y="406400"/>
                  </a:cubicBezTo>
                  <a:cubicBezTo>
                    <a:pt x="881659" y="181951"/>
                    <a:pt x="684293" y="0"/>
                    <a:pt x="4408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56" y="76200"/>
              <a:ext cx="716348" cy="660400"/>
            </a:xfrm>
            <a:prstGeom prst="rect">
              <a:avLst/>
            </a:prstGeom>
          </p:spPr>
          <p:txBody>
            <a:bodyPr lIns="60200" tIns="60200" rIns="60200" bIns="602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261020" y="6206579"/>
            <a:ext cx="4540789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18" name="Group 18"/>
          <p:cNvGrpSpPr/>
          <p:nvPr/>
        </p:nvGrpSpPr>
        <p:grpSpPr>
          <a:xfrm>
            <a:off x="7170659" y="5708641"/>
            <a:ext cx="1306825" cy="130682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200" tIns="60200" rIns="60200" bIns="602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2261020" y="8242067"/>
            <a:ext cx="4540789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22" name="Group 22"/>
          <p:cNvGrpSpPr/>
          <p:nvPr/>
        </p:nvGrpSpPr>
        <p:grpSpPr>
          <a:xfrm>
            <a:off x="7170659" y="7744129"/>
            <a:ext cx="1306825" cy="130682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200" tIns="60200" rIns="60200" bIns="602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0965582" y="7526661"/>
            <a:ext cx="49254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26" name="Group 26"/>
          <p:cNvGrpSpPr/>
          <p:nvPr/>
        </p:nvGrpSpPr>
        <p:grpSpPr>
          <a:xfrm>
            <a:off x="9144000" y="7028724"/>
            <a:ext cx="1417538" cy="1306825"/>
            <a:chOff x="0" y="0"/>
            <a:chExt cx="881659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1659" cy="812800"/>
            </a:xfrm>
            <a:custGeom>
              <a:avLst/>
              <a:gdLst/>
              <a:ahLst/>
              <a:cxnLst/>
              <a:rect l="l" t="t" r="r" b="b"/>
              <a:pathLst>
                <a:path w="881659" h="812800">
                  <a:moveTo>
                    <a:pt x="440830" y="0"/>
                  </a:moveTo>
                  <a:cubicBezTo>
                    <a:pt x="197366" y="0"/>
                    <a:pt x="0" y="181951"/>
                    <a:pt x="0" y="406400"/>
                  </a:cubicBezTo>
                  <a:cubicBezTo>
                    <a:pt x="0" y="630849"/>
                    <a:pt x="197366" y="812800"/>
                    <a:pt x="440830" y="812800"/>
                  </a:cubicBezTo>
                  <a:cubicBezTo>
                    <a:pt x="684293" y="812800"/>
                    <a:pt x="881659" y="630849"/>
                    <a:pt x="881659" y="406400"/>
                  </a:cubicBezTo>
                  <a:cubicBezTo>
                    <a:pt x="881659" y="181951"/>
                    <a:pt x="684293" y="0"/>
                    <a:pt x="4408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56" y="76200"/>
              <a:ext cx="716348" cy="660400"/>
            </a:xfrm>
            <a:prstGeom prst="rect">
              <a:avLst/>
            </a:prstGeom>
          </p:spPr>
          <p:txBody>
            <a:bodyPr lIns="60200" tIns="60200" rIns="60200" bIns="60200" rtlCol="0" anchor="ctr"/>
            <a:lstStyle/>
            <a:p>
              <a:pPr algn="ctr">
                <a:lnSpc>
                  <a:spcPts val="2191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5975765" y="5481234"/>
            <a:ext cx="2094074" cy="1761640"/>
          </a:xfrm>
          <a:custGeom>
            <a:avLst/>
            <a:gdLst/>
            <a:ahLst/>
            <a:cxnLst/>
            <a:rect l="l" t="t" r="r" b="b"/>
            <a:pathLst>
              <a:path w="2094074" h="1761640">
                <a:moveTo>
                  <a:pt x="0" y="0"/>
                </a:moveTo>
                <a:lnTo>
                  <a:pt x="2094074" y="0"/>
                </a:lnTo>
                <a:lnTo>
                  <a:pt x="2094074" y="1761640"/>
                </a:lnTo>
                <a:lnTo>
                  <a:pt x="0" y="1761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0" name="TextBox 30"/>
          <p:cNvSpPr txBox="1"/>
          <p:nvPr/>
        </p:nvSpPr>
        <p:spPr>
          <a:xfrm>
            <a:off x="2809592" y="1517487"/>
            <a:ext cx="12668817" cy="81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2"/>
              </a:lnSpc>
            </a:pPr>
            <a:r>
              <a:rPr lang="en-US" sz="5227" spc="5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💼 Prinsip Adab dalam Bisnes AI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61020" y="4192771"/>
            <a:ext cx="4746990" cy="9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296" b="1" spc="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Nyatakan bila AI digunakan dalam khidmat pelanggan atau iklan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78417" y="3221827"/>
            <a:ext cx="2123392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 spc="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kejujuran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19991" y="3789015"/>
            <a:ext cx="1208160" cy="75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sz="4418" spc="4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65582" y="5398553"/>
            <a:ext cx="4638708" cy="9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296" b="1" spc="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Jangan manipulasi pengguna untuk jualan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65582" y="4411796"/>
            <a:ext cx="19366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empati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7512" y="4988509"/>
            <a:ext cx="1310514" cy="7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sz="4418" spc="4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61020" y="6366786"/>
            <a:ext cx="4540789" cy="9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8"/>
              </a:lnSpc>
            </a:pPr>
            <a:r>
              <a:rPr lang="en-US" sz="2296" b="1" spc="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Jaga data pelanggan &amp; pekerja dengan integriti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78417" y="5380029"/>
            <a:ext cx="21233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amanah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19991" y="5956742"/>
            <a:ext cx="1208160" cy="75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sz="4418" spc="4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61020" y="8402274"/>
            <a:ext cx="4540789" cy="9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8"/>
              </a:lnSpc>
            </a:pPr>
            <a:r>
              <a:rPr lang="en-US" sz="2296" b="1" spc="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Elak diskriminasi algoritma terhadap kaum/jantina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78417" y="7415517"/>
            <a:ext cx="21233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adil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19991" y="7992230"/>
            <a:ext cx="1208160" cy="7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sz="4418" spc="4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65582" y="7686868"/>
            <a:ext cx="4638708" cy="9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296" b="1" spc="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Pemilik bertanggungjawab atas hasil AI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65582" y="6700112"/>
            <a:ext cx="280048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tanggungjawab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97512" y="7276825"/>
            <a:ext cx="1310514" cy="7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sz="4418" spc="4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3497392" y="4365656"/>
            <a:ext cx="0" cy="3529763"/>
          </a:xfrm>
          <a:prstGeom prst="line">
            <a:avLst/>
          </a:prstGeom>
          <a:ln w="28575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14127122" y="5913732"/>
            <a:ext cx="433611" cy="43361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84632" y="5913732"/>
            <a:ext cx="433611" cy="4336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50989" y="2738680"/>
            <a:ext cx="8846403" cy="3253951"/>
            <a:chOff x="0" y="0"/>
            <a:chExt cx="1275627" cy="4692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5627" cy="469211"/>
            </a:xfrm>
            <a:custGeom>
              <a:avLst/>
              <a:gdLst/>
              <a:ahLst/>
              <a:cxnLst/>
              <a:rect l="l" t="t" r="r" b="b"/>
              <a:pathLst>
                <a:path w="1275627" h="469211">
                  <a:moveTo>
                    <a:pt x="58635" y="0"/>
                  </a:moveTo>
                  <a:lnTo>
                    <a:pt x="1216992" y="0"/>
                  </a:lnTo>
                  <a:cubicBezTo>
                    <a:pt x="1249375" y="0"/>
                    <a:pt x="1275627" y="26252"/>
                    <a:pt x="1275627" y="58635"/>
                  </a:cubicBezTo>
                  <a:lnTo>
                    <a:pt x="1275627" y="410576"/>
                  </a:lnTo>
                  <a:cubicBezTo>
                    <a:pt x="1275627" y="442959"/>
                    <a:pt x="1249375" y="469211"/>
                    <a:pt x="1216992" y="469211"/>
                  </a:cubicBezTo>
                  <a:lnTo>
                    <a:pt x="58635" y="469211"/>
                  </a:lnTo>
                  <a:cubicBezTo>
                    <a:pt x="26252" y="469211"/>
                    <a:pt x="0" y="442959"/>
                    <a:pt x="0" y="410576"/>
                  </a:cubicBezTo>
                  <a:lnTo>
                    <a:pt x="0" y="58635"/>
                  </a:lnTo>
                  <a:cubicBezTo>
                    <a:pt x="0" y="26252"/>
                    <a:pt x="26252" y="0"/>
                    <a:pt x="58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5627" cy="507311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50989" y="6268443"/>
            <a:ext cx="8846403" cy="3253951"/>
            <a:chOff x="0" y="0"/>
            <a:chExt cx="1275627" cy="4692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5627" cy="469211"/>
            </a:xfrm>
            <a:custGeom>
              <a:avLst/>
              <a:gdLst/>
              <a:ahLst/>
              <a:cxnLst/>
              <a:rect l="l" t="t" r="r" b="b"/>
              <a:pathLst>
                <a:path w="1275627" h="469211">
                  <a:moveTo>
                    <a:pt x="58635" y="0"/>
                  </a:moveTo>
                  <a:lnTo>
                    <a:pt x="1216992" y="0"/>
                  </a:lnTo>
                  <a:cubicBezTo>
                    <a:pt x="1249375" y="0"/>
                    <a:pt x="1275627" y="26252"/>
                    <a:pt x="1275627" y="58635"/>
                  </a:cubicBezTo>
                  <a:lnTo>
                    <a:pt x="1275627" y="410576"/>
                  </a:lnTo>
                  <a:cubicBezTo>
                    <a:pt x="1275627" y="442959"/>
                    <a:pt x="1249375" y="469211"/>
                    <a:pt x="1216992" y="469211"/>
                  </a:cubicBezTo>
                  <a:lnTo>
                    <a:pt x="58635" y="469211"/>
                  </a:lnTo>
                  <a:cubicBezTo>
                    <a:pt x="26252" y="469211"/>
                    <a:pt x="0" y="442959"/>
                    <a:pt x="0" y="410576"/>
                  </a:cubicBezTo>
                  <a:lnTo>
                    <a:pt x="0" y="58635"/>
                  </a:lnTo>
                  <a:cubicBezTo>
                    <a:pt x="0" y="26252"/>
                    <a:pt x="26252" y="0"/>
                    <a:pt x="58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5627" cy="507311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48927" y="3087647"/>
            <a:ext cx="7850526" cy="574711"/>
            <a:chOff x="0" y="0"/>
            <a:chExt cx="5551403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51403" cy="406400"/>
            </a:xfrm>
            <a:custGeom>
              <a:avLst/>
              <a:gdLst/>
              <a:ahLst/>
              <a:cxnLst/>
              <a:rect l="l" t="t" r="r" b="b"/>
              <a:pathLst>
                <a:path w="5551403" h="406400">
                  <a:moveTo>
                    <a:pt x="5348203" y="0"/>
                  </a:moveTo>
                  <a:cubicBezTo>
                    <a:pt x="5460427" y="0"/>
                    <a:pt x="5551403" y="90976"/>
                    <a:pt x="5551403" y="203200"/>
                  </a:cubicBezTo>
                  <a:cubicBezTo>
                    <a:pt x="5551403" y="315424"/>
                    <a:pt x="5460427" y="406400"/>
                    <a:pt x="534820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551403" cy="444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8927" y="6617410"/>
            <a:ext cx="7850526" cy="574711"/>
            <a:chOff x="0" y="0"/>
            <a:chExt cx="5551403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51403" cy="406400"/>
            </a:xfrm>
            <a:custGeom>
              <a:avLst/>
              <a:gdLst/>
              <a:ahLst/>
              <a:cxnLst/>
              <a:rect l="l" t="t" r="r" b="b"/>
              <a:pathLst>
                <a:path w="5551403" h="406400">
                  <a:moveTo>
                    <a:pt x="5348203" y="0"/>
                  </a:moveTo>
                  <a:cubicBezTo>
                    <a:pt x="5460427" y="0"/>
                    <a:pt x="5551403" y="90976"/>
                    <a:pt x="5551403" y="203200"/>
                  </a:cubicBezTo>
                  <a:cubicBezTo>
                    <a:pt x="5551403" y="315424"/>
                    <a:pt x="5460427" y="406400"/>
                    <a:pt x="534820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551403" cy="444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4650989" y="4365656"/>
            <a:ext cx="0" cy="3529763"/>
          </a:xfrm>
          <a:prstGeom prst="line">
            <a:avLst/>
          </a:prstGeom>
          <a:ln w="28575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22" name="Freeform 22"/>
          <p:cNvSpPr/>
          <p:nvPr/>
        </p:nvSpPr>
        <p:spPr>
          <a:xfrm rot="-6895540">
            <a:off x="-5608353" y="444153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 rot="2860052">
            <a:off x="16790369" y="5790440"/>
            <a:ext cx="1848369" cy="7708591"/>
            <a:chOff x="0" y="0"/>
            <a:chExt cx="486813" cy="203024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6813" cy="2030246"/>
            </a:xfrm>
            <a:custGeom>
              <a:avLst/>
              <a:gdLst/>
              <a:ahLst/>
              <a:cxnLst/>
              <a:rect l="l" t="t" r="r" b="b"/>
              <a:pathLst>
                <a:path w="486813" h="2030246">
                  <a:moveTo>
                    <a:pt x="0" y="0"/>
                  </a:moveTo>
                  <a:lnTo>
                    <a:pt x="486813" y="0"/>
                  </a:lnTo>
                  <a:lnTo>
                    <a:pt x="486813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6813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2860052">
            <a:off x="-350738" y="-3212032"/>
            <a:ext cx="1848369" cy="7708591"/>
            <a:chOff x="0" y="0"/>
            <a:chExt cx="486813" cy="203024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6813" cy="2030246"/>
            </a:xfrm>
            <a:custGeom>
              <a:avLst/>
              <a:gdLst/>
              <a:ahLst/>
              <a:cxnLst/>
              <a:rect l="l" t="t" r="r" b="b"/>
              <a:pathLst>
                <a:path w="486813" h="2030246">
                  <a:moveTo>
                    <a:pt x="0" y="0"/>
                  </a:moveTo>
                  <a:lnTo>
                    <a:pt x="486813" y="0"/>
                  </a:lnTo>
                  <a:lnTo>
                    <a:pt x="486813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6813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-6895540" flipH="1" flipV="1">
            <a:off x="16069329" y="-261152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0" name="Group 30"/>
          <p:cNvGrpSpPr/>
          <p:nvPr/>
        </p:nvGrpSpPr>
        <p:grpSpPr>
          <a:xfrm rot="2860052">
            <a:off x="15885627" y="5136693"/>
            <a:ext cx="576381" cy="7708591"/>
            <a:chOff x="0" y="0"/>
            <a:chExt cx="151804" cy="203024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1804" cy="2030246"/>
            </a:xfrm>
            <a:custGeom>
              <a:avLst/>
              <a:gdLst/>
              <a:ahLst/>
              <a:cxnLst/>
              <a:rect l="l" t="t" r="r" b="b"/>
              <a:pathLst>
                <a:path w="151804" h="2030246">
                  <a:moveTo>
                    <a:pt x="0" y="0"/>
                  </a:moveTo>
                  <a:lnTo>
                    <a:pt x="151804" y="0"/>
                  </a:lnTo>
                  <a:lnTo>
                    <a:pt x="151804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51804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2860052">
            <a:off x="1825992" y="-2558284"/>
            <a:ext cx="576381" cy="7708591"/>
            <a:chOff x="0" y="0"/>
            <a:chExt cx="151804" cy="203024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1804" cy="2030246"/>
            </a:xfrm>
            <a:custGeom>
              <a:avLst/>
              <a:gdLst/>
              <a:ahLst/>
              <a:cxnLst/>
              <a:rect l="l" t="t" r="r" b="b"/>
              <a:pathLst>
                <a:path w="151804" h="2030246">
                  <a:moveTo>
                    <a:pt x="0" y="0"/>
                  </a:moveTo>
                  <a:lnTo>
                    <a:pt x="151804" y="0"/>
                  </a:lnTo>
                  <a:lnTo>
                    <a:pt x="151804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51804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4560732" y="2617285"/>
            <a:ext cx="3666066" cy="2034667"/>
          </a:xfrm>
          <a:custGeom>
            <a:avLst/>
            <a:gdLst/>
            <a:ahLst/>
            <a:cxnLst/>
            <a:rect l="l" t="t" r="r" b="b"/>
            <a:pathLst>
              <a:path w="3666066" h="2034667">
                <a:moveTo>
                  <a:pt x="0" y="0"/>
                </a:moveTo>
                <a:lnTo>
                  <a:pt x="3666067" y="0"/>
                </a:lnTo>
                <a:lnTo>
                  <a:pt x="3666067" y="2034667"/>
                </a:lnTo>
                <a:lnTo>
                  <a:pt x="0" y="2034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7" name="Freeform 37"/>
          <p:cNvSpPr/>
          <p:nvPr/>
        </p:nvSpPr>
        <p:spPr>
          <a:xfrm>
            <a:off x="861434" y="4365656"/>
            <a:ext cx="1980248" cy="2057400"/>
          </a:xfrm>
          <a:custGeom>
            <a:avLst/>
            <a:gdLst/>
            <a:ahLst/>
            <a:cxnLst/>
            <a:rect l="l" t="t" r="r" b="b"/>
            <a:pathLst>
              <a:path w="1980248" h="2057400">
                <a:moveTo>
                  <a:pt x="0" y="0"/>
                </a:moveTo>
                <a:lnTo>
                  <a:pt x="1980248" y="0"/>
                </a:lnTo>
                <a:lnTo>
                  <a:pt x="19802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8" name="TextBox 38"/>
          <p:cNvSpPr txBox="1"/>
          <p:nvPr/>
        </p:nvSpPr>
        <p:spPr>
          <a:xfrm>
            <a:off x="5148927" y="3854481"/>
            <a:ext cx="785052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Gunakan AI untuk memahami keperluan pelanggan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48927" y="7311843"/>
            <a:ext cx="7850526" cy="203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Elakkan AI untuk manipulasi harga atau iklan palsu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Sediakan penafian jika AI digunakan dalam servis pelanggan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Sediakan laluan untuk berhubung dengan manusia bila perlu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10694" y="3158490"/>
            <a:ext cx="7126992" cy="4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DISARANKAN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10694" y="6688254"/>
            <a:ext cx="7126992" cy="4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ELAKKAN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28010" y="600108"/>
            <a:ext cx="11689345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🧠AI DALAM STRATEGI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24130" y="1546784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BISNES BERETIKA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2430003" y="1188064"/>
            <a:ext cx="13159633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7798FF"/>
                </a:solidFill>
                <a:latin typeface="Organic"/>
                <a:ea typeface="Organic"/>
                <a:cs typeface="Organic"/>
                <a:sym typeface="Organic"/>
              </a:rPr>
              <a:t>⚖️ Adab terhadap Pekerja &amp; Staf</a:t>
            </a:r>
          </a:p>
        </p:txBody>
      </p:sp>
      <p:sp>
        <p:nvSpPr>
          <p:cNvPr id="4" name="Freeform 4"/>
          <p:cNvSpPr/>
          <p:nvPr/>
        </p:nvSpPr>
        <p:spPr>
          <a:xfrm rot="2060066">
            <a:off x="-462567" y="6475842"/>
            <a:ext cx="1589414" cy="2758201"/>
          </a:xfrm>
          <a:custGeom>
            <a:avLst/>
            <a:gdLst/>
            <a:ahLst/>
            <a:cxnLst/>
            <a:rect l="l" t="t" r="r" b="b"/>
            <a:pathLst>
              <a:path w="1589414" h="2758201">
                <a:moveTo>
                  <a:pt x="0" y="0"/>
                </a:moveTo>
                <a:lnTo>
                  <a:pt x="1589414" y="0"/>
                </a:lnTo>
                <a:lnTo>
                  <a:pt x="1589414" y="2758201"/>
                </a:lnTo>
                <a:lnTo>
                  <a:pt x="0" y="2758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 rot="-5244104">
            <a:off x="15904201" y="1075348"/>
            <a:ext cx="2031517" cy="2039164"/>
          </a:xfrm>
          <a:custGeom>
            <a:avLst/>
            <a:gdLst/>
            <a:ahLst/>
            <a:cxnLst/>
            <a:rect l="l" t="t" r="r" b="b"/>
            <a:pathLst>
              <a:path w="2031517" h="2039164">
                <a:moveTo>
                  <a:pt x="0" y="0"/>
                </a:moveTo>
                <a:lnTo>
                  <a:pt x="2031517" y="0"/>
                </a:lnTo>
                <a:lnTo>
                  <a:pt x="2031517" y="2039164"/>
                </a:lnTo>
                <a:lnTo>
                  <a:pt x="0" y="203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2430003" y="4247553"/>
            <a:ext cx="5932651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Beri tahu jika AI digunakan dalam pemantauan prestasi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0003" y="3460153"/>
            <a:ext cx="1665849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6272" y="4272954"/>
            <a:ext cx="5932651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Gunakan AI untuk bantu latihan dan kebajikan staf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6272" y="3450628"/>
            <a:ext cx="166584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0003" y="6619867"/>
            <a:ext cx="5932651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Jangan gunakan AI untuk kawal pekerja secara ekstrem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30003" y="5908373"/>
            <a:ext cx="166584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6272" y="6619867"/>
            <a:ext cx="5932651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Kekalkan sentuhan manusia dalam keputusan utama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26272" y="5841992"/>
            <a:ext cx="166584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73999" y="3943029"/>
            <a:ext cx="9817684" cy="1200471"/>
            <a:chOff x="0" y="0"/>
            <a:chExt cx="5912659" cy="7229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12659" cy="722979"/>
            </a:xfrm>
            <a:custGeom>
              <a:avLst/>
              <a:gdLst/>
              <a:ahLst/>
              <a:cxnLst/>
              <a:rect l="l" t="t" r="r" b="b"/>
              <a:pathLst>
                <a:path w="5912659" h="722979">
                  <a:moveTo>
                    <a:pt x="5709459" y="0"/>
                  </a:moveTo>
                  <a:cubicBezTo>
                    <a:pt x="5821683" y="0"/>
                    <a:pt x="5912659" y="161844"/>
                    <a:pt x="5912659" y="361489"/>
                  </a:cubicBezTo>
                  <a:cubicBezTo>
                    <a:pt x="5912659" y="561134"/>
                    <a:pt x="5821683" y="722979"/>
                    <a:pt x="5709459" y="722979"/>
                  </a:cubicBezTo>
                  <a:lnTo>
                    <a:pt x="203200" y="722979"/>
                  </a:lnTo>
                  <a:cubicBezTo>
                    <a:pt x="90976" y="722979"/>
                    <a:pt x="0" y="561134"/>
                    <a:pt x="0" y="361489"/>
                  </a:cubicBezTo>
                  <a:cubicBezTo>
                    <a:pt x="0" y="1618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12659" cy="761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73999" y="5454326"/>
            <a:ext cx="9817684" cy="1044569"/>
            <a:chOff x="0" y="0"/>
            <a:chExt cx="5912659" cy="6290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12659" cy="629087"/>
            </a:xfrm>
            <a:custGeom>
              <a:avLst/>
              <a:gdLst/>
              <a:ahLst/>
              <a:cxnLst/>
              <a:rect l="l" t="t" r="r" b="b"/>
              <a:pathLst>
                <a:path w="5912659" h="629087">
                  <a:moveTo>
                    <a:pt x="5709459" y="0"/>
                  </a:moveTo>
                  <a:cubicBezTo>
                    <a:pt x="5821683" y="0"/>
                    <a:pt x="5912659" y="140826"/>
                    <a:pt x="5912659" y="314544"/>
                  </a:cubicBezTo>
                  <a:cubicBezTo>
                    <a:pt x="5912659" y="488261"/>
                    <a:pt x="5821683" y="629087"/>
                    <a:pt x="5709459" y="629087"/>
                  </a:cubicBezTo>
                  <a:lnTo>
                    <a:pt x="203200" y="629087"/>
                  </a:lnTo>
                  <a:cubicBezTo>
                    <a:pt x="90976" y="629087"/>
                    <a:pt x="0" y="488261"/>
                    <a:pt x="0" y="314544"/>
                  </a:cubicBezTo>
                  <a:cubicBezTo>
                    <a:pt x="0" y="1408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12659" cy="667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73999" y="6927520"/>
            <a:ext cx="9817684" cy="1062142"/>
            <a:chOff x="0" y="0"/>
            <a:chExt cx="5912659" cy="6396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12659" cy="639671"/>
            </a:xfrm>
            <a:custGeom>
              <a:avLst/>
              <a:gdLst/>
              <a:ahLst/>
              <a:cxnLst/>
              <a:rect l="l" t="t" r="r" b="b"/>
              <a:pathLst>
                <a:path w="5912659" h="639671">
                  <a:moveTo>
                    <a:pt x="5709459" y="0"/>
                  </a:moveTo>
                  <a:cubicBezTo>
                    <a:pt x="5821683" y="0"/>
                    <a:pt x="5912659" y="143195"/>
                    <a:pt x="5912659" y="319835"/>
                  </a:cubicBezTo>
                  <a:cubicBezTo>
                    <a:pt x="5912659" y="496476"/>
                    <a:pt x="5821683" y="639671"/>
                    <a:pt x="5709459" y="639671"/>
                  </a:cubicBezTo>
                  <a:lnTo>
                    <a:pt x="203200" y="639671"/>
                  </a:lnTo>
                  <a:cubicBezTo>
                    <a:pt x="90976" y="639671"/>
                    <a:pt x="0" y="496476"/>
                    <a:pt x="0" y="319835"/>
                  </a:cubicBezTo>
                  <a:cubicBezTo>
                    <a:pt x="0" y="1431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912659" cy="677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73999" y="8456060"/>
            <a:ext cx="9817684" cy="1005938"/>
            <a:chOff x="0" y="0"/>
            <a:chExt cx="5912659" cy="6058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12659" cy="605822"/>
            </a:xfrm>
            <a:custGeom>
              <a:avLst/>
              <a:gdLst/>
              <a:ahLst/>
              <a:cxnLst/>
              <a:rect l="l" t="t" r="r" b="b"/>
              <a:pathLst>
                <a:path w="5912659" h="605822">
                  <a:moveTo>
                    <a:pt x="5709459" y="0"/>
                  </a:moveTo>
                  <a:cubicBezTo>
                    <a:pt x="5821683" y="0"/>
                    <a:pt x="5912659" y="135618"/>
                    <a:pt x="5912659" y="302911"/>
                  </a:cubicBezTo>
                  <a:cubicBezTo>
                    <a:pt x="5912659" y="470204"/>
                    <a:pt x="5821683" y="605822"/>
                    <a:pt x="5709459" y="605822"/>
                  </a:cubicBezTo>
                  <a:lnTo>
                    <a:pt x="203200" y="605822"/>
                  </a:lnTo>
                  <a:cubicBezTo>
                    <a:pt x="90976" y="605822"/>
                    <a:pt x="0" y="470204"/>
                    <a:pt x="0" y="302911"/>
                  </a:cubicBezTo>
                  <a:cubicBezTo>
                    <a:pt x="0" y="13561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9D6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912659" cy="643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5400000" flipH="1" flipV="1">
            <a:off x="12847432" y="-3676562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5" name="Group 15"/>
          <p:cNvGrpSpPr/>
          <p:nvPr/>
        </p:nvGrpSpPr>
        <p:grpSpPr>
          <a:xfrm rot="-2862000">
            <a:off x="1740633" y="1703509"/>
            <a:ext cx="2403184" cy="12572306"/>
            <a:chOff x="0" y="0"/>
            <a:chExt cx="632937" cy="3311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2937" cy="3311225"/>
            </a:xfrm>
            <a:custGeom>
              <a:avLst/>
              <a:gdLst/>
              <a:ahLst/>
              <a:cxnLst/>
              <a:rect l="l" t="t" r="r" b="b"/>
              <a:pathLst>
                <a:path w="632937" h="3311225">
                  <a:moveTo>
                    <a:pt x="0" y="0"/>
                  </a:moveTo>
                  <a:lnTo>
                    <a:pt x="632937" y="0"/>
                  </a:lnTo>
                  <a:lnTo>
                    <a:pt x="632937" y="3311225"/>
                  </a:lnTo>
                  <a:lnTo>
                    <a:pt x="0" y="3311225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32937" cy="334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862000">
            <a:off x="-494139" y="-2266073"/>
            <a:ext cx="2307298" cy="8209292"/>
            <a:chOff x="0" y="0"/>
            <a:chExt cx="607683" cy="21621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7683" cy="2162118"/>
            </a:xfrm>
            <a:custGeom>
              <a:avLst/>
              <a:gdLst/>
              <a:ahLst/>
              <a:cxnLst/>
              <a:rect l="l" t="t" r="r" b="b"/>
              <a:pathLst>
                <a:path w="607683" h="2162118">
                  <a:moveTo>
                    <a:pt x="0" y="0"/>
                  </a:moveTo>
                  <a:lnTo>
                    <a:pt x="607683" y="0"/>
                  </a:lnTo>
                  <a:lnTo>
                    <a:pt x="607683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07683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862000">
            <a:off x="2243936" y="-3123111"/>
            <a:ext cx="593345" cy="8209292"/>
            <a:chOff x="0" y="0"/>
            <a:chExt cx="156272" cy="21621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6272" cy="2162118"/>
            </a:xfrm>
            <a:custGeom>
              <a:avLst/>
              <a:gdLst/>
              <a:ahLst/>
              <a:cxnLst/>
              <a:rect l="l" t="t" r="r" b="b"/>
              <a:pathLst>
                <a:path w="156272" h="2162118">
                  <a:moveTo>
                    <a:pt x="0" y="0"/>
                  </a:moveTo>
                  <a:lnTo>
                    <a:pt x="156272" y="0"/>
                  </a:lnTo>
                  <a:lnTo>
                    <a:pt x="156272" y="2162118"/>
                  </a:lnTo>
                  <a:lnTo>
                    <a:pt x="0" y="2162118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56272" cy="2200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-1764817" y="1028700"/>
            <a:ext cx="8229600" cy="82296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3C7A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flipH="1">
            <a:off x="-1548572" y="1244945"/>
            <a:ext cx="7797110" cy="7797110"/>
          </a:xfrm>
          <a:custGeom>
            <a:avLst/>
            <a:gdLst/>
            <a:ahLst/>
            <a:cxnLst/>
            <a:rect l="l" t="t" r="r" b="b"/>
            <a:pathLst>
              <a:path w="7797110" h="7797110">
                <a:moveTo>
                  <a:pt x="7797110" y="0"/>
                </a:moveTo>
                <a:lnTo>
                  <a:pt x="0" y="0"/>
                </a:lnTo>
                <a:lnTo>
                  <a:pt x="0" y="7797110"/>
                </a:lnTo>
                <a:lnTo>
                  <a:pt x="7797110" y="7797110"/>
                </a:lnTo>
                <a:lnTo>
                  <a:pt x="77971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8" name="Group 28"/>
          <p:cNvGrpSpPr/>
          <p:nvPr/>
        </p:nvGrpSpPr>
        <p:grpSpPr>
          <a:xfrm>
            <a:off x="-798581" y="1994935"/>
            <a:ext cx="6297129" cy="6297129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073999" y="1242799"/>
            <a:ext cx="11214001" cy="106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📜DASAR DAN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67391" y="2178256"/>
            <a:ext cx="6619560" cy="106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ETIKA ISLAM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1546" y="4049233"/>
            <a:ext cx="8912849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OECD, IEEE, MALAYSIA AI ROADMAP – TEKANKAN AI BERETIKA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26416" y="5484486"/>
            <a:ext cx="8912849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ISLAM: "ALLAH CINTAKAN ORANG BERAKHLAK BAIK DALAM JUAL BELI" – HR BUKHARI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26416" y="6987533"/>
            <a:ext cx="8912849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LARANGAN MENIPU, MENZALIMI, ATAU MANIPULASI PELANGGAN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26416" y="8475438"/>
            <a:ext cx="8912849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172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INOVASI PERNIAGAAN MESTI SELARAS MAQASID SYARIAH &amp; NILAI SEJAGAT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607B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022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790" y="-4462290"/>
            <a:ext cx="19211580" cy="19211580"/>
          </a:xfrm>
          <a:custGeom>
            <a:avLst/>
            <a:gdLst/>
            <a:ahLst/>
            <a:cxnLst/>
            <a:rect l="l" t="t" r="r" b="b"/>
            <a:pathLst>
              <a:path w="19211580" h="19211580">
                <a:moveTo>
                  <a:pt x="0" y="0"/>
                </a:moveTo>
                <a:lnTo>
                  <a:pt x="19211580" y="0"/>
                </a:lnTo>
                <a:lnTo>
                  <a:pt x="19211580" y="19211580"/>
                </a:lnTo>
                <a:lnTo>
                  <a:pt x="0" y="19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2254557" y="731152"/>
            <a:ext cx="15004743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🛍️ Aktiviti &amp; Panduan Etika AI Bisnes</a:t>
            </a:r>
          </a:p>
        </p:txBody>
      </p:sp>
      <p:sp>
        <p:nvSpPr>
          <p:cNvPr id="4" name="Freeform 4"/>
          <p:cNvSpPr/>
          <p:nvPr/>
        </p:nvSpPr>
        <p:spPr>
          <a:xfrm>
            <a:off x="2254557" y="2590263"/>
            <a:ext cx="6214608" cy="3216172"/>
          </a:xfrm>
          <a:custGeom>
            <a:avLst/>
            <a:gdLst/>
            <a:ahLst/>
            <a:cxnLst/>
            <a:rect l="l" t="t" r="r" b="b"/>
            <a:pathLst>
              <a:path w="6214608" h="3216172">
                <a:moveTo>
                  <a:pt x="0" y="0"/>
                </a:moveTo>
                <a:lnTo>
                  <a:pt x="6214608" y="0"/>
                </a:lnTo>
                <a:lnTo>
                  <a:pt x="6214608" y="3216172"/>
                </a:lnTo>
                <a:lnTo>
                  <a:pt x="0" y="321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2628535" y="3756326"/>
            <a:ext cx="5466653" cy="442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Audit Etika AI Perniagaan</a:t>
            </a:r>
          </a:p>
        </p:txBody>
      </p:sp>
      <p:sp>
        <p:nvSpPr>
          <p:cNvPr id="6" name="Freeform 6"/>
          <p:cNvSpPr/>
          <p:nvPr/>
        </p:nvSpPr>
        <p:spPr>
          <a:xfrm>
            <a:off x="9577521" y="2590263"/>
            <a:ext cx="6214825" cy="3216172"/>
          </a:xfrm>
          <a:custGeom>
            <a:avLst/>
            <a:gdLst/>
            <a:ahLst/>
            <a:cxnLst/>
            <a:rect l="l" t="t" r="r" b="b"/>
            <a:pathLst>
              <a:path w="6214825" h="3216172">
                <a:moveTo>
                  <a:pt x="0" y="0"/>
                </a:moveTo>
                <a:lnTo>
                  <a:pt x="6214825" y="0"/>
                </a:lnTo>
                <a:lnTo>
                  <a:pt x="6214825" y="3216172"/>
                </a:lnTo>
                <a:lnTo>
                  <a:pt x="0" y="321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9951511" y="3638764"/>
            <a:ext cx="5466844" cy="90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Kempen Pengguna: 'AI Kami Bertanggungjawab'</a:t>
            </a:r>
          </a:p>
        </p:txBody>
      </p:sp>
      <p:sp>
        <p:nvSpPr>
          <p:cNvPr id="8" name="Freeform 8"/>
          <p:cNvSpPr/>
          <p:nvPr/>
        </p:nvSpPr>
        <p:spPr>
          <a:xfrm>
            <a:off x="2254557" y="6041874"/>
            <a:ext cx="6214608" cy="3216172"/>
          </a:xfrm>
          <a:custGeom>
            <a:avLst/>
            <a:gdLst/>
            <a:ahLst/>
            <a:cxnLst/>
            <a:rect l="l" t="t" r="r" b="b"/>
            <a:pathLst>
              <a:path w="6214608" h="3216172">
                <a:moveTo>
                  <a:pt x="0" y="0"/>
                </a:moveTo>
                <a:lnTo>
                  <a:pt x="6214608" y="0"/>
                </a:lnTo>
                <a:lnTo>
                  <a:pt x="6214608" y="3216172"/>
                </a:lnTo>
                <a:lnTo>
                  <a:pt x="0" y="321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2628535" y="7044830"/>
            <a:ext cx="5466653" cy="90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Latihan staf: 'Batas AI dalam Iklan dan Servis'</a:t>
            </a:r>
          </a:p>
        </p:txBody>
      </p:sp>
      <p:sp>
        <p:nvSpPr>
          <p:cNvPr id="10" name="Freeform 10"/>
          <p:cNvSpPr/>
          <p:nvPr/>
        </p:nvSpPr>
        <p:spPr>
          <a:xfrm>
            <a:off x="9577521" y="6041874"/>
            <a:ext cx="6215098" cy="3216426"/>
          </a:xfrm>
          <a:custGeom>
            <a:avLst/>
            <a:gdLst/>
            <a:ahLst/>
            <a:cxnLst/>
            <a:rect l="l" t="t" r="r" b="b"/>
            <a:pathLst>
              <a:path w="6215098" h="3216426">
                <a:moveTo>
                  <a:pt x="0" y="0"/>
                </a:moveTo>
                <a:lnTo>
                  <a:pt x="6215098" y="0"/>
                </a:lnTo>
                <a:lnTo>
                  <a:pt x="6215098" y="3216426"/>
                </a:lnTo>
                <a:lnTo>
                  <a:pt x="0" y="3216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9951528" y="7044913"/>
            <a:ext cx="5467084" cy="9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Sijil Amanah Digital – untuk bina kepercayaan pelanggan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24">
                <a:alpha val="100000"/>
              </a:srgbClr>
            </a:gs>
            <a:gs pos="50000">
              <a:srgbClr val="010219">
                <a:alpha val="100000"/>
              </a:srgbClr>
            </a:gs>
            <a:gs pos="100000">
              <a:srgbClr val="00688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1234" y="-162257"/>
            <a:ext cx="20550468" cy="10611514"/>
          </a:xfrm>
          <a:custGeom>
            <a:avLst/>
            <a:gdLst/>
            <a:ahLst/>
            <a:cxnLst/>
            <a:rect l="l" t="t" r="r" b="b"/>
            <a:pathLst>
              <a:path w="20550468" h="10611514">
                <a:moveTo>
                  <a:pt x="0" y="0"/>
                </a:moveTo>
                <a:lnTo>
                  <a:pt x="20550468" y="0"/>
                </a:lnTo>
                <a:lnTo>
                  <a:pt x="20550468" y="10611514"/>
                </a:lnTo>
                <a:lnTo>
                  <a:pt x="0" y="106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>
            <a:off x="4662886" y="630418"/>
            <a:ext cx="8962228" cy="9026164"/>
          </a:xfrm>
          <a:custGeom>
            <a:avLst/>
            <a:gdLst/>
            <a:ahLst/>
            <a:cxnLst/>
            <a:rect l="l" t="t" r="r" b="b"/>
            <a:pathLst>
              <a:path w="8962228" h="9026164">
                <a:moveTo>
                  <a:pt x="0" y="0"/>
                </a:moveTo>
                <a:lnTo>
                  <a:pt x="8962228" y="0"/>
                </a:lnTo>
                <a:lnTo>
                  <a:pt x="8962228" y="9026164"/>
                </a:lnTo>
                <a:lnTo>
                  <a:pt x="0" y="90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5458188" y="2585487"/>
            <a:ext cx="7371623" cy="482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Adab dan Penggunaan AI di Institusi Universiti</a:t>
            </a:r>
          </a:p>
        </p:txBody>
      </p:sp>
      <p:sp>
        <p:nvSpPr>
          <p:cNvPr id="5" name="Freeform 5"/>
          <p:cNvSpPr/>
          <p:nvPr/>
        </p:nvSpPr>
        <p:spPr>
          <a:xfrm rot="491808">
            <a:off x="13001332" y="5087203"/>
            <a:ext cx="5010445" cy="4233826"/>
          </a:xfrm>
          <a:custGeom>
            <a:avLst/>
            <a:gdLst/>
            <a:ahLst/>
            <a:cxnLst/>
            <a:rect l="l" t="t" r="r" b="b"/>
            <a:pathLst>
              <a:path w="5010445" h="4233826">
                <a:moveTo>
                  <a:pt x="0" y="0"/>
                </a:moveTo>
                <a:lnTo>
                  <a:pt x="5010445" y="0"/>
                </a:lnTo>
                <a:lnTo>
                  <a:pt x="5010445" y="4233826"/>
                </a:lnTo>
                <a:lnTo>
                  <a:pt x="0" y="4233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3497392" y="4365656"/>
            <a:ext cx="0" cy="3529763"/>
          </a:xfrm>
          <a:prstGeom prst="line">
            <a:avLst/>
          </a:prstGeom>
          <a:ln w="28575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14127122" y="5913732"/>
            <a:ext cx="433611" cy="43361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84632" y="5913732"/>
            <a:ext cx="433611" cy="4336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50989" y="2738680"/>
            <a:ext cx="8846403" cy="3253951"/>
            <a:chOff x="0" y="0"/>
            <a:chExt cx="1275627" cy="4692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5627" cy="469211"/>
            </a:xfrm>
            <a:custGeom>
              <a:avLst/>
              <a:gdLst/>
              <a:ahLst/>
              <a:cxnLst/>
              <a:rect l="l" t="t" r="r" b="b"/>
              <a:pathLst>
                <a:path w="1275627" h="469211">
                  <a:moveTo>
                    <a:pt x="58635" y="0"/>
                  </a:moveTo>
                  <a:lnTo>
                    <a:pt x="1216992" y="0"/>
                  </a:lnTo>
                  <a:cubicBezTo>
                    <a:pt x="1249375" y="0"/>
                    <a:pt x="1275627" y="26252"/>
                    <a:pt x="1275627" y="58635"/>
                  </a:cubicBezTo>
                  <a:lnTo>
                    <a:pt x="1275627" y="410576"/>
                  </a:lnTo>
                  <a:cubicBezTo>
                    <a:pt x="1275627" y="442959"/>
                    <a:pt x="1249375" y="469211"/>
                    <a:pt x="1216992" y="469211"/>
                  </a:cubicBezTo>
                  <a:lnTo>
                    <a:pt x="58635" y="469211"/>
                  </a:lnTo>
                  <a:cubicBezTo>
                    <a:pt x="26252" y="469211"/>
                    <a:pt x="0" y="442959"/>
                    <a:pt x="0" y="410576"/>
                  </a:cubicBezTo>
                  <a:lnTo>
                    <a:pt x="0" y="58635"/>
                  </a:lnTo>
                  <a:cubicBezTo>
                    <a:pt x="0" y="26252"/>
                    <a:pt x="26252" y="0"/>
                    <a:pt x="58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5627" cy="507311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50989" y="6268443"/>
            <a:ext cx="8846403" cy="3253951"/>
            <a:chOff x="0" y="0"/>
            <a:chExt cx="1275627" cy="4692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5627" cy="469211"/>
            </a:xfrm>
            <a:custGeom>
              <a:avLst/>
              <a:gdLst/>
              <a:ahLst/>
              <a:cxnLst/>
              <a:rect l="l" t="t" r="r" b="b"/>
              <a:pathLst>
                <a:path w="1275627" h="469211">
                  <a:moveTo>
                    <a:pt x="58635" y="0"/>
                  </a:moveTo>
                  <a:lnTo>
                    <a:pt x="1216992" y="0"/>
                  </a:lnTo>
                  <a:cubicBezTo>
                    <a:pt x="1249375" y="0"/>
                    <a:pt x="1275627" y="26252"/>
                    <a:pt x="1275627" y="58635"/>
                  </a:cubicBezTo>
                  <a:lnTo>
                    <a:pt x="1275627" y="410576"/>
                  </a:lnTo>
                  <a:cubicBezTo>
                    <a:pt x="1275627" y="442959"/>
                    <a:pt x="1249375" y="469211"/>
                    <a:pt x="1216992" y="469211"/>
                  </a:cubicBezTo>
                  <a:lnTo>
                    <a:pt x="58635" y="469211"/>
                  </a:lnTo>
                  <a:cubicBezTo>
                    <a:pt x="26252" y="469211"/>
                    <a:pt x="0" y="442959"/>
                    <a:pt x="0" y="410576"/>
                  </a:cubicBezTo>
                  <a:lnTo>
                    <a:pt x="0" y="58635"/>
                  </a:lnTo>
                  <a:cubicBezTo>
                    <a:pt x="0" y="26252"/>
                    <a:pt x="26252" y="0"/>
                    <a:pt x="58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5627" cy="507311"/>
            </a:xfrm>
            <a:prstGeom prst="rect">
              <a:avLst/>
            </a:prstGeom>
          </p:spPr>
          <p:txBody>
            <a:bodyPr lIns="43265" tIns="43265" rIns="43265" bIns="4326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4650989" y="4365656"/>
            <a:ext cx="0" cy="3529763"/>
          </a:xfrm>
          <a:prstGeom prst="line">
            <a:avLst/>
          </a:prstGeom>
          <a:ln w="28575" cap="flat">
            <a:solidFill>
              <a:srgbClr val="69D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5148927" y="3854481"/>
            <a:ext cx="785052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Universiti perlu memandu penggunaan AI dengan nilai ilmu, bukan hanya efisiensi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48927" y="7230881"/>
            <a:ext cx="785052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Teknologi mesti tunduk pada adab keilmuan dan prinsip etika akademik</a:t>
            </a:r>
          </a:p>
        </p:txBody>
      </p:sp>
      <p:sp>
        <p:nvSpPr>
          <p:cNvPr id="18" name="Freeform 18"/>
          <p:cNvSpPr/>
          <p:nvPr/>
        </p:nvSpPr>
        <p:spPr>
          <a:xfrm rot="-6895540">
            <a:off x="-5608353" y="444153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0"/>
                </a:moveTo>
                <a:lnTo>
                  <a:pt x="7684389" y="0"/>
                </a:lnTo>
                <a:lnTo>
                  <a:pt x="7684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9" name="Group 19"/>
          <p:cNvGrpSpPr/>
          <p:nvPr/>
        </p:nvGrpSpPr>
        <p:grpSpPr>
          <a:xfrm rot="2860052">
            <a:off x="16790369" y="5790440"/>
            <a:ext cx="1848369" cy="7708591"/>
            <a:chOff x="0" y="0"/>
            <a:chExt cx="486813" cy="20302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6813" cy="2030246"/>
            </a:xfrm>
            <a:custGeom>
              <a:avLst/>
              <a:gdLst/>
              <a:ahLst/>
              <a:cxnLst/>
              <a:rect l="l" t="t" r="r" b="b"/>
              <a:pathLst>
                <a:path w="486813" h="2030246">
                  <a:moveTo>
                    <a:pt x="0" y="0"/>
                  </a:moveTo>
                  <a:lnTo>
                    <a:pt x="486813" y="0"/>
                  </a:lnTo>
                  <a:lnTo>
                    <a:pt x="486813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86813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2860052">
            <a:off x="-350738" y="-3212032"/>
            <a:ext cx="1848369" cy="7708591"/>
            <a:chOff x="0" y="0"/>
            <a:chExt cx="486813" cy="20302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6813" cy="2030246"/>
            </a:xfrm>
            <a:custGeom>
              <a:avLst/>
              <a:gdLst/>
              <a:ahLst/>
              <a:cxnLst/>
              <a:rect l="l" t="t" r="r" b="b"/>
              <a:pathLst>
                <a:path w="486813" h="2030246">
                  <a:moveTo>
                    <a:pt x="0" y="0"/>
                  </a:moveTo>
                  <a:lnTo>
                    <a:pt x="486813" y="0"/>
                  </a:lnTo>
                  <a:lnTo>
                    <a:pt x="486813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6813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-6895540" flipH="1" flipV="1">
            <a:off x="16069329" y="-2611521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6" name="Group 26"/>
          <p:cNvGrpSpPr/>
          <p:nvPr/>
        </p:nvGrpSpPr>
        <p:grpSpPr>
          <a:xfrm rot="2860052">
            <a:off x="15885627" y="5136693"/>
            <a:ext cx="576381" cy="7708591"/>
            <a:chOff x="0" y="0"/>
            <a:chExt cx="151804" cy="203024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1804" cy="2030246"/>
            </a:xfrm>
            <a:custGeom>
              <a:avLst/>
              <a:gdLst/>
              <a:ahLst/>
              <a:cxnLst/>
              <a:rect l="l" t="t" r="r" b="b"/>
              <a:pathLst>
                <a:path w="151804" h="2030246">
                  <a:moveTo>
                    <a:pt x="0" y="0"/>
                  </a:moveTo>
                  <a:lnTo>
                    <a:pt x="151804" y="0"/>
                  </a:lnTo>
                  <a:lnTo>
                    <a:pt x="151804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51804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2860052">
            <a:off x="1825992" y="-2558284"/>
            <a:ext cx="576381" cy="7708591"/>
            <a:chOff x="0" y="0"/>
            <a:chExt cx="151804" cy="203024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1804" cy="2030246"/>
            </a:xfrm>
            <a:custGeom>
              <a:avLst/>
              <a:gdLst/>
              <a:ahLst/>
              <a:cxnLst/>
              <a:rect l="l" t="t" r="r" b="b"/>
              <a:pathLst>
                <a:path w="151804" h="2030246">
                  <a:moveTo>
                    <a:pt x="0" y="0"/>
                  </a:moveTo>
                  <a:lnTo>
                    <a:pt x="151804" y="0"/>
                  </a:lnTo>
                  <a:lnTo>
                    <a:pt x="151804" y="2030246"/>
                  </a:lnTo>
                  <a:lnTo>
                    <a:pt x="0" y="2030246"/>
                  </a:lnTo>
                  <a:close/>
                </a:path>
              </a:pathLst>
            </a:custGeom>
            <a:solidFill>
              <a:srgbClr val="69D6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51804" cy="206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228010" y="600108"/>
            <a:ext cx="12186042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🌱AI ADALAH ALAT, BUKAN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24130" y="1546784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PENGGANTI HIKMAH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94076" y="-5207925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015760" y="5659287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0"/>
                </a:moveTo>
                <a:lnTo>
                  <a:pt x="0" y="0"/>
                </a:lnTo>
                <a:lnTo>
                  <a:pt x="0" y="8229600"/>
                </a:lnTo>
                <a:lnTo>
                  <a:pt x="7684389" y="8229600"/>
                </a:lnTo>
                <a:lnTo>
                  <a:pt x="76843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4" name="Group 4"/>
          <p:cNvGrpSpPr/>
          <p:nvPr/>
        </p:nvGrpSpPr>
        <p:grpSpPr>
          <a:xfrm>
            <a:off x="1028700" y="3079401"/>
            <a:ext cx="7331456" cy="2026861"/>
            <a:chOff x="0" y="0"/>
            <a:chExt cx="9775275" cy="270248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426102"/>
              <a:ext cx="9775275" cy="2276378"/>
              <a:chOff x="0" y="0"/>
              <a:chExt cx="903963" cy="21050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03963" cy="210507"/>
              </a:xfrm>
              <a:custGeom>
                <a:avLst/>
                <a:gdLst/>
                <a:ahLst/>
                <a:cxnLst/>
                <a:rect l="l" t="t" r="r" b="b"/>
                <a:pathLst>
                  <a:path w="903963" h="210507">
                    <a:moveTo>
                      <a:pt x="52799" y="0"/>
                    </a:moveTo>
                    <a:lnTo>
                      <a:pt x="851163" y="0"/>
                    </a:lnTo>
                    <a:cubicBezTo>
                      <a:pt x="865167" y="0"/>
                      <a:pt x="878596" y="5563"/>
                      <a:pt x="888498" y="15465"/>
                    </a:cubicBezTo>
                    <a:cubicBezTo>
                      <a:pt x="898400" y="25366"/>
                      <a:pt x="903963" y="38796"/>
                      <a:pt x="903963" y="52799"/>
                    </a:cubicBezTo>
                    <a:lnTo>
                      <a:pt x="903963" y="157707"/>
                    </a:lnTo>
                    <a:cubicBezTo>
                      <a:pt x="903963" y="171711"/>
                      <a:pt x="898400" y="185140"/>
                      <a:pt x="888498" y="195042"/>
                    </a:cubicBezTo>
                    <a:cubicBezTo>
                      <a:pt x="878596" y="204944"/>
                      <a:pt x="865167" y="210507"/>
                      <a:pt x="851163" y="210507"/>
                    </a:cubicBezTo>
                    <a:lnTo>
                      <a:pt x="52799" y="210507"/>
                    </a:lnTo>
                    <a:cubicBezTo>
                      <a:pt x="38796" y="210507"/>
                      <a:pt x="25366" y="204944"/>
                      <a:pt x="15465" y="195042"/>
                    </a:cubicBezTo>
                    <a:cubicBezTo>
                      <a:pt x="5563" y="185140"/>
                      <a:pt x="0" y="171711"/>
                      <a:pt x="0" y="157707"/>
                    </a:cubicBezTo>
                    <a:lnTo>
                      <a:pt x="0" y="52799"/>
                    </a:lnTo>
                    <a:cubicBezTo>
                      <a:pt x="0" y="38796"/>
                      <a:pt x="5563" y="25366"/>
                      <a:pt x="15465" y="15465"/>
                    </a:cubicBezTo>
                    <a:cubicBezTo>
                      <a:pt x="25366" y="5563"/>
                      <a:pt x="38796" y="0"/>
                      <a:pt x="527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903963" cy="2486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869199" y="0"/>
              <a:ext cx="8036877" cy="852205"/>
              <a:chOff x="0" y="0"/>
              <a:chExt cx="3832631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83263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832631" h="406400">
                    <a:moveTo>
                      <a:pt x="3629431" y="0"/>
                    </a:moveTo>
                    <a:cubicBezTo>
                      <a:pt x="3741655" y="0"/>
                      <a:pt x="3832631" y="90976"/>
                      <a:pt x="3832631" y="203200"/>
                    </a:cubicBezTo>
                    <a:cubicBezTo>
                      <a:pt x="3832631" y="315424"/>
                      <a:pt x="3741655" y="406400"/>
                      <a:pt x="36294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3832631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77644" y="1133313"/>
              <a:ext cx="8819988" cy="535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8"/>
                </a:lnSpc>
                <a:spcBef>
                  <a:spcPct val="0"/>
                </a:spcBef>
              </a:pPr>
              <a:r>
                <a:rPr lang="en-US" sz="2227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Guna AI secara jujur, elak penipuan akademik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9554" y="92466"/>
              <a:ext cx="7296167" cy="689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PELAJAR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7844" y="3079401"/>
            <a:ext cx="7331456" cy="2026861"/>
            <a:chOff x="0" y="0"/>
            <a:chExt cx="9775275" cy="2702481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426102"/>
              <a:ext cx="9775275" cy="2276378"/>
              <a:chOff x="0" y="0"/>
              <a:chExt cx="903963" cy="21050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3963" cy="210507"/>
              </a:xfrm>
              <a:custGeom>
                <a:avLst/>
                <a:gdLst/>
                <a:ahLst/>
                <a:cxnLst/>
                <a:rect l="l" t="t" r="r" b="b"/>
                <a:pathLst>
                  <a:path w="903963" h="210507">
                    <a:moveTo>
                      <a:pt x="52799" y="0"/>
                    </a:moveTo>
                    <a:lnTo>
                      <a:pt x="851163" y="0"/>
                    </a:lnTo>
                    <a:cubicBezTo>
                      <a:pt x="865167" y="0"/>
                      <a:pt x="878596" y="5563"/>
                      <a:pt x="888498" y="15465"/>
                    </a:cubicBezTo>
                    <a:cubicBezTo>
                      <a:pt x="898400" y="25366"/>
                      <a:pt x="903963" y="38796"/>
                      <a:pt x="903963" y="52799"/>
                    </a:cubicBezTo>
                    <a:lnTo>
                      <a:pt x="903963" y="157707"/>
                    </a:lnTo>
                    <a:cubicBezTo>
                      <a:pt x="903963" y="171711"/>
                      <a:pt x="898400" y="185140"/>
                      <a:pt x="888498" y="195042"/>
                    </a:cubicBezTo>
                    <a:cubicBezTo>
                      <a:pt x="878596" y="204944"/>
                      <a:pt x="865167" y="210507"/>
                      <a:pt x="851163" y="210507"/>
                    </a:cubicBezTo>
                    <a:lnTo>
                      <a:pt x="52799" y="210507"/>
                    </a:lnTo>
                    <a:cubicBezTo>
                      <a:pt x="38796" y="210507"/>
                      <a:pt x="25366" y="204944"/>
                      <a:pt x="15465" y="195042"/>
                    </a:cubicBezTo>
                    <a:cubicBezTo>
                      <a:pt x="5563" y="185140"/>
                      <a:pt x="0" y="171711"/>
                      <a:pt x="0" y="157707"/>
                    </a:cubicBezTo>
                    <a:lnTo>
                      <a:pt x="0" y="52799"/>
                    </a:lnTo>
                    <a:cubicBezTo>
                      <a:pt x="0" y="38796"/>
                      <a:pt x="5563" y="25366"/>
                      <a:pt x="15465" y="15465"/>
                    </a:cubicBezTo>
                    <a:cubicBezTo>
                      <a:pt x="25366" y="5563"/>
                      <a:pt x="38796" y="0"/>
                      <a:pt x="527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903963" cy="2486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69199" y="0"/>
              <a:ext cx="8036877" cy="852205"/>
              <a:chOff x="0" y="0"/>
              <a:chExt cx="3832631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83263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832631" h="406400">
                    <a:moveTo>
                      <a:pt x="3629431" y="0"/>
                    </a:moveTo>
                    <a:cubicBezTo>
                      <a:pt x="3741655" y="0"/>
                      <a:pt x="3832631" y="90976"/>
                      <a:pt x="3832631" y="203200"/>
                    </a:cubicBezTo>
                    <a:cubicBezTo>
                      <a:pt x="3832631" y="315424"/>
                      <a:pt x="3741655" y="406400"/>
                      <a:pt x="36294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3832631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77644" y="1133313"/>
              <a:ext cx="8819988" cy="535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8"/>
                </a:lnSpc>
                <a:spcBef>
                  <a:spcPct val="0"/>
                </a:spcBef>
              </a:pPr>
              <a:r>
                <a:rPr lang="en-US" sz="2227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Pastikan AI tidak bias dan jaga data sensitif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9554" y="92466"/>
              <a:ext cx="7296167" cy="689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PENYELIDIK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5430111"/>
            <a:ext cx="7331456" cy="2026861"/>
            <a:chOff x="0" y="0"/>
            <a:chExt cx="9775275" cy="270248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426102"/>
              <a:ext cx="9775275" cy="2276378"/>
              <a:chOff x="0" y="0"/>
              <a:chExt cx="903963" cy="21050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03963" cy="210507"/>
              </a:xfrm>
              <a:custGeom>
                <a:avLst/>
                <a:gdLst/>
                <a:ahLst/>
                <a:cxnLst/>
                <a:rect l="l" t="t" r="r" b="b"/>
                <a:pathLst>
                  <a:path w="903963" h="210507">
                    <a:moveTo>
                      <a:pt x="52799" y="0"/>
                    </a:moveTo>
                    <a:lnTo>
                      <a:pt x="851163" y="0"/>
                    </a:lnTo>
                    <a:cubicBezTo>
                      <a:pt x="865167" y="0"/>
                      <a:pt x="878596" y="5563"/>
                      <a:pt x="888498" y="15465"/>
                    </a:cubicBezTo>
                    <a:cubicBezTo>
                      <a:pt x="898400" y="25366"/>
                      <a:pt x="903963" y="38796"/>
                      <a:pt x="903963" y="52799"/>
                    </a:cubicBezTo>
                    <a:lnTo>
                      <a:pt x="903963" y="157707"/>
                    </a:lnTo>
                    <a:cubicBezTo>
                      <a:pt x="903963" y="171711"/>
                      <a:pt x="898400" y="185140"/>
                      <a:pt x="888498" y="195042"/>
                    </a:cubicBezTo>
                    <a:cubicBezTo>
                      <a:pt x="878596" y="204944"/>
                      <a:pt x="865167" y="210507"/>
                      <a:pt x="851163" y="210507"/>
                    </a:cubicBezTo>
                    <a:lnTo>
                      <a:pt x="52799" y="210507"/>
                    </a:lnTo>
                    <a:cubicBezTo>
                      <a:pt x="38796" y="210507"/>
                      <a:pt x="25366" y="204944"/>
                      <a:pt x="15465" y="195042"/>
                    </a:cubicBezTo>
                    <a:cubicBezTo>
                      <a:pt x="5563" y="185140"/>
                      <a:pt x="0" y="171711"/>
                      <a:pt x="0" y="157707"/>
                    </a:cubicBezTo>
                    <a:lnTo>
                      <a:pt x="0" y="52799"/>
                    </a:lnTo>
                    <a:cubicBezTo>
                      <a:pt x="0" y="38796"/>
                      <a:pt x="5563" y="25366"/>
                      <a:pt x="15465" y="15465"/>
                    </a:cubicBezTo>
                    <a:cubicBezTo>
                      <a:pt x="25366" y="5563"/>
                      <a:pt x="38796" y="0"/>
                      <a:pt x="527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903963" cy="2486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69199" y="0"/>
              <a:ext cx="8036877" cy="852205"/>
              <a:chOff x="0" y="0"/>
              <a:chExt cx="3832631" cy="406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83263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832631" h="406400">
                    <a:moveTo>
                      <a:pt x="3629431" y="0"/>
                    </a:moveTo>
                    <a:cubicBezTo>
                      <a:pt x="3741655" y="0"/>
                      <a:pt x="3832631" y="90976"/>
                      <a:pt x="3832631" y="203200"/>
                    </a:cubicBezTo>
                    <a:cubicBezTo>
                      <a:pt x="3832631" y="315424"/>
                      <a:pt x="3741655" y="406400"/>
                      <a:pt x="36294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3832631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77644" y="1133313"/>
              <a:ext cx="8819988" cy="535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8"/>
                </a:lnSpc>
                <a:spcBef>
                  <a:spcPct val="0"/>
                </a:spcBef>
              </a:pPr>
              <a:r>
                <a:rPr lang="en-US" sz="2227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Bimbing batas etika penggunaan 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9554" y="92466"/>
              <a:ext cx="7296167" cy="689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PENSYARAH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8272" y="7780022"/>
            <a:ext cx="7331456" cy="2037094"/>
            <a:chOff x="0" y="0"/>
            <a:chExt cx="9775275" cy="2716125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426102"/>
              <a:ext cx="9775275" cy="2290022"/>
              <a:chOff x="0" y="0"/>
              <a:chExt cx="903963" cy="21176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03963" cy="211768"/>
              </a:xfrm>
              <a:custGeom>
                <a:avLst/>
                <a:gdLst/>
                <a:ahLst/>
                <a:cxnLst/>
                <a:rect l="l" t="t" r="r" b="b"/>
                <a:pathLst>
                  <a:path w="903963" h="211768">
                    <a:moveTo>
                      <a:pt x="52799" y="0"/>
                    </a:moveTo>
                    <a:lnTo>
                      <a:pt x="851163" y="0"/>
                    </a:lnTo>
                    <a:cubicBezTo>
                      <a:pt x="865167" y="0"/>
                      <a:pt x="878596" y="5563"/>
                      <a:pt x="888498" y="15465"/>
                    </a:cubicBezTo>
                    <a:cubicBezTo>
                      <a:pt x="898400" y="25366"/>
                      <a:pt x="903963" y="38796"/>
                      <a:pt x="903963" y="52799"/>
                    </a:cubicBezTo>
                    <a:lnTo>
                      <a:pt x="903963" y="158969"/>
                    </a:lnTo>
                    <a:cubicBezTo>
                      <a:pt x="903963" y="172972"/>
                      <a:pt x="898400" y="186402"/>
                      <a:pt x="888498" y="196304"/>
                    </a:cubicBezTo>
                    <a:cubicBezTo>
                      <a:pt x="878596" y="206206"/>
                      <a:pt x="865167" y="211768"/>
                      <a:pt x="851163" y="211768"/>
                    </a:cubicBezTo>
                    <a:lnTo>
                      <a:pt x="52799" y="211768"/>
                    </a:lnTo>
                    <a:cubicBezTo>
                      <a:pt x="38796" y="211768"/>
                      <a:pt x="25366" y="206206"/>
                      <a:pt x="15465" y="196304"/>
                    </a:cubicBezTo>
                    <a:cubicBezTo>
                      <a:pt x="5563" y="186402"/>
                      <a:pt x="0" y="172972"/>
                      <a:pt x="0" y="158969"/>
                    </a:cubicBezTo>
                    <a:lnTo>
                      <a:pt x="0" y="52799"/>
                    </a:lnTo>
                    <a:cubicBezTo>
                      <a:pt x="0" y="38796"/>
                      <a:pt x="5563" y="25366"/>
                      <a:pt x="15465" y="15465"/>
                    </a:cubicBezTo>
                    <a:cubicBezTo>
                      <a:pt x="25366" y="5563"/>
                      <a:pt x="38796" y="0"/>
                      <a:pt x="527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903963" cy="2498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69199" y="0"/>
              <a:ext cx="8036877" cy="852205"/>
              <a:chOff x="0" y="0"/>
              <a:chExt cx="3832631" cy="406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83263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832631" h="406400">
                    <a:moveTo>
                      <a:pt x="3629431" y="0"/>
                    </a:moveTo>
                    <a:cubicBezTo>
                      <a:pt x="3741655" y="0"/>
                      <a:pt x="3832631" y="90976"/>
                      <a:pt x="3832631" y="203200"/>
                    </a:cubicBezTo>
                    <a:cubicBezTo>
                      <a:pt x="3832631" y="315424"/>
                      <a:pt x="3741655" y="406400"/>
                      <a:pt x="36294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3832631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477644" y="1133313"/>
              <a:ext cx="8819988" cy="1061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8"/>
                </a:lnSpc>
                <a:spcBef>
                  <a:spcPct val="0"/>
                </a:spcBef>
              </a:pPr>
              <a:r>
                <a:rPr lang="en-US" sz="2227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Guna AI secara bertanggungjawab dalam model bisnes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39554" y="92466"/>
              <a:ext cx="7296167" cy="689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USAHAWAN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927844" y="5430111"/>
            <a:ext cx="7331456" cy="2026861"/>
            <a:chOff x="0" y="0"/>
            <a:chExt cx="9775275" cy="2702481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426102"/>
              <a:ext cx="9775275" cy="2276378"/>
              <a:chOff x="0" y="0"/>
              <a:chExt cx="903963" cy="21050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03963" cy="210507"/>
              </a:xfrm>
              <a:custGeom>
                <a:avLst/>
                <a:gdLst/>
                <a:ahLst/>
                <a:cxnLst/>
                <a:rect l="l" t="t" r="r" b="b"/>
                <a:pathLst>
                  <a:path w="903963" h="210507">
                    <a:moveTo>
                      <a:pt x="52799" y="0"/>
                    </a:moveTo>
                    <a:lnTo>
                      <a:pt x="851163" y="0"/>
                    </a:lnTo>
                    <a:cubicBezTo>
                      <a:pt x="865167" y="0"/>
                      <a:pt x="878596" y="5563"/>
                      <a:pt x="888498" y="15465"/>
                    </a:cubicBezTo>
                    <a:cubicBezTo>
                      <a:pt x="898400" y="25366"/>
                      <a:pt x="903963" y="38796"/>
                      <a:pt x="903963" y="52799"/>
                    </a:cubicBezTo>
                    <a:lnTo>
                      <a:pt x="903963" y="157707"/>
                    </a:lnTo>
                    <a:cubicBezTo>
                      <a:pt x="903963" y="171711"/>
                      <a:pt x="898400" y="185140"/>
                      <a:pt x="888498" y="195042"/>
                    </a:cubicBezTo>
                    <a:cubicBezTo>
                      <a:pt x="878596" y="204944"/>
                      <a:pt x="865167" y="210507"/>
                      <a:pt x="851163" y="210507"/>
                    </a:cubicBezTo>
                    <a:lnTo>
                      <a:pt x="52799" y="210507"/>
                    </a:lnTo>
                    <a:cubicBezTo>
                      <a:pt x="38796" y="210507"/>
                      <a:pt x="25366" y="204944"/>
                      <a:pt x="15465" y="195042"/>
                    </a:cubicBezTo>
                    <a:cubicBezTo>
                      <a:pt x="5563" y="185140"/>
                      <a:pt x="0" y="171711"/>
                      <a:pt x="0" y="157707"/>
                    </a:cubicBezTo>
                    <a:lnTo>
                      <a:pt x="0" y="52799"/>
                    </a:lnTo>
                    <a:cubicBezTo>
                      <a:pt x="0" y="38796"/>
                      <a:pt x="5563" y="25366"/>
                      <a:pt x="15465" y="15465"/>
                    </a:cubicBezTo>
                    <a:cubicBezTo>
                      <a:pt x="25366" y="5563"/>
                      <a:pt x="38796" y="0"/>
                      <a:pt x="5279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9D6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903963" cy="2486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69199" y="0"/>
              <a:ext cx="8036877" cy="852205"/>
              <a:chOff x="0" y="0"/>
              <a:chExt cx="3832631" cy="406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383263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832631" h="406400">
                    <a:moveTo>
                      <a:pt x="3629431" y="0"/>
                    </a:moveTo>
                    <a:cubicBezTo>
                      <a:pt x="3741655" y="0"/>
                      <a:pt x="3832631" y="90976"/>
                      <a:pt x="3832631" y="203200"/>
                    </a:cubicBezTo>
                    <a:cubicBezTo>
                      <a:pt x="3832631" y="315424"/>
                      <a:pt x="3741655" y="406400"/>
                      <a:pt x="36294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9D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28575"/>
                <a:ext cx="3832631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477644" y="1133313"/>
              <a:ext cx="8819988" cy="1061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8"/>
                </a:lnSpc>
                <a:spcBef>
                  <a:spcPct val="0"/>
                </a:spcBef>
              </a:pPr>
              <a:r>
                <a:rPr lang="en-US" sz="2227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Reka AI yang adil, telus dan menghormati manusia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39554" y="92466"/>
              <a:ext cx="7296167" cy="689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00172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INOVATOR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2503661" y="600108"/>
            <a:ext cx="14586741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🛡️ TANGGUNGJAWAB KOLEKTIF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24130" y="1546784"/>
            <a:ext cx="10039739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DI UNIVERSITI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AutoShape 3"/>
          <p:cNvSpPr/>
          <p:nvPr/>
        </p:nvSpPr>
        <p:spPr>
          <a:xfrm flipV="1">
            <a:off x="584494" y="823978"/>
            <a:ext cx="1646158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rot="-5282160">
            <a:off x="16937214" y="514479"/>
            <a:ext cx="360144" cy="618998"/>
          </a:xfrm>
          <a:custGeom>
            <a:avLst/>
            <a:gdLst/>
            <a:ahLst/>
            <a:cxnLst/>
            <a:rect l="l" t="t" r="r" b="b"/>
            <a:pathLst>
              <a:path w="360144" h="618998">
                <a:moveTo>
                  <a:pt x="0" y="0"/>
                </a:moveTo>
                <a:lnTo>
                  <a:pt x="360144" y="0"/>
                </a:lnTo>
                <a:lnTo>
                  <a:pt x="360144" y="618998"/>
                </a:lnTo>
                <a:lnTo>
                  <a:pt x="0" y="618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6861819" y="5256251"/>
            <a:ext cx="4976950" cy="3418449"/>
            <a:chOff x="0" y="0"/>
            <a:chExt cx="5058327" cy="34743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58328" cy="3474343"/>
            </a:xfrm>
            <a:custGeom>
              <a:avLst/>
              <a:gdLst/>
              <a:ahLst/>
              <a:cxnLst/>
              <a:rect l="l" t="t" r="r" b="b"/>
              <a:pathLst>
                <a:path w="5058328" h="3474343">
                  <a:moveTo>
                    <a:pt x="489830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23"/>
                  </a:lnTo>
                  <a:lnTo>
                    <a:pt x="160020" y="3474343"/>
                  </a:lnTo>
                  <a:lnTo>
                    <a:pt x="4898308" y="3474343"/>
                  </a:lnTo>
                  <a:lnTo>
                    <a:pt x="5058328" y="3314323"/>
                  </a:lnTo>
                  <a:lnTo>
                    <a:pt x="5058328" y="160020"/>
                  </a:lnTo>
                  <a:lnTo>
                    <a:pt x="489830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34925"/>
              <a:ext cx="4931327" cy="337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90098" y="1598152"/>
            <a:ext cx="4564361" cy="3418449"/>
            <a:chOff x="0" y="0"/>
            <a:chExt cx="4638992" cy="34743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38992" cy="3474343"/>
            </a:xfrm>
            <a:custGeom>
              <a:avLst/>
              <a:gdLst/>
              <a:ahLst/>
              <a:cxnLst/>
              <a:rect l="l" t="t" r="r" b="b"/>
              <a:pathLst>
                <a:path w="4638992" h="3474343">
                  <a:moveTo>
                    <a:pt x="447897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23"/>
                  </a:lnTo>
                  <a:lnTo>
                    <a:pt x="160020" y="3474343"/>
                  </a:lnTo>
                  <a:lnTo>
                    <a:pt x="4478972" y="3474343"/>
                  </a:lnTo>
                  <a:lnTo>
                    <a:pt x="4638992" y="3314323"/>
                  </a:lnTo>
                  <a:lnTo>
                    <a:pt x="4638992" y="160020"/>
                  </a:lnTo>
                  <a:lnTo>
                    <a:pt x="44789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34925"/>
              <a:ext cx="4511992" cy="337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73563" y="5393132"/>
            <a:ext cx="1108923" cy="1249491"/>
          </a:xfrm>
          <a:custGeom>
            <a:avLst/>
            <a:gdLst/>
            <a:ahLst/>
            <a:cxnLst/>
            <a:rect l="l" t="t" r="r" b="b"/>
            <a:pathLst>
              <a:path w="1108923" h="1249491">
                <a:moveTo>
                  <a:pt x="0" y="0"/>
                </a:moveTo>
                <a:lnTo>
                  <a:pt x="1108923" y="0"/>
                </a:lnTo>
                <a:lnTo>
                  <a:pt x="1108923" y="1249491"/>
                </a:lnTo>
                <a:lnTo>
                  <a:pt x="0" y="1249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2" name="Group 12"/>
          <p:cNvGrpSpPr/>
          <p:nvPr/>
        </p:nvGrpSpPr>
        <p:grpSpPr>
          <a:xfrm>
            <a:off x="6861819" y="1598152"/>
            <a:ext cx="4564361" cy="3418449"/>
            <a:chOff x="0" y="0"/>
            <a:chExt cx="6085815" cy="455793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085815" cy="4557931"/>
              <a:chOff x="0" y="0"/>
              <a:chExt cx="4638992" cy="347434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638992" cy="3474343"/>
              </a:xfrm>
              <a:custGeom>
                <a:avLst/>
                <a:gdLst/>
                <a:ahLst/>
                <a:cxnLst/>
                <a:rect l="l" t="t" r="r" b="b"/>
                <a:pathLst>
                  <a:path w="4638992" h="3474343">
                    <a:moveTo>
                      <a:pt x="447897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3314323"/>
                    </a:lnTo>
                    <a:lnTo>
                      <a:pt x="160020" y="3474343"/>
                    </a:lnTo>
                    <a:lnTo>
                      <a:pt x="4478972" y="3474343"/>
                    </a:lnTo>
                    <a:lnTo>
                      <a:pt x="4638992" y="3314323"/>
                    </a:lnTo>
                    <a:lnTo>
                      <a:pt x="4638992" y="160020"/>
                    </a:lnTo>
                    <a:lnTo>
                      <a:pt x="4478972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500" y="34925"/>
                <a:ext cx="4511992" cy="33759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62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99063" y="1823408"/>
              <a:ext cx="5010999" cy="1715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spc="12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DASAR AI UNIVERSITI – GARIS PANDUAN PENGGUNAAN AI DI KAMPUS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0963" y="484356"/>
              <a:ext cx="2778036" cy="1234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777"/>
                </a:lnSpc>
              </a:pPr>
              <a:r>
                <a:rPr lang="en-US" sz="5555" spc="272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28736" y="5256251"/>
            <a:ext cx="4754327" cy="3418498"/>
            <a:chOff x="0" y="0"/>
            <a:chExt cx="4832065" cy="34743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32065" cy="3474393"/>
            </a:xfrm>
            <a:custGeom>
              <a:avLst/>
              <a:gdLst/>
              <a:ahLst/>
              <a:cxnLst/>
              <a:rect l="l" t="t" r="r" b="b"/>
              <a:pathLst>
                <a:path w="4832065" h="3474393">
                  <a:moveTo>
                    <a:pt x="467204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314374"/>
                  </a:lnTo>
                  <a:lnTo>
                    <a:pt x="160020" y="3474393"/>
                  </a:lnTo>
                  <a:lnTo>
                    <a:pt x="4672045" y="3474393"/>
                  </a:lnTo>
                  <a:lnTo>
                    <a:pt x="4832065" y="3314374"/>
                  </a:lnTo>
                  <a:lnTo>
                    <a:pt x="4832065" y="160020"/>
                  </a:lnTo>
                  <a:lnTo>
                    <a:pt x="467204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00" y="34925"/>
              <a:ext cx="4705065" cy="3375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2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530295" y="4908075"/>
            <a:ext cx="3795903" cy="4114800"/>
          </a:xfrm>
          <a:custGeom>
            <a:avLst/>
            <a:gdLst/>
            <a:ahLst/>
            <a:cxnLst/>
            <a:rect l="l" t="t" r="r" b="b"/>
            <a:pathLst>
              <a:path w="3795903" h="4114800">
                <a:moveTo>
                  <a:pt x="0" y="0"/>
                </a:moveTo>
                <a:lnTo>
                  <a:pt x="3795903" y="0"/>
                </a:lnTo>
                <a:lnTo>
                  <a:pt x="37959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2" name="TextBox 22"/>
          <p:cNvSpPr txBox="1"/>
          <p:nvPr/>
        </p:nvSpPr>
        <p:spPr>
          <a:xfrm>
            <a:off x="1202222" y="1560052"/>
            <a:ext cx="4886915" cy="2197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39"/>
              </a:lnSpc>
            </a:pPr>
            <a:r>
              <a:rPr lang="en-US" sz="4598" spc="257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🧭 CADANGAN TINDAKAN INSTITUSI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1117" y="6611901"/>
            <a:ext cx="4115064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KOMITI ADAB &amp; ETIKA AI – PANTAU DAN SEMAK ADUAN SERTA AMALAN 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39395" y="2953802"/>
            <a:ext cx="375824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KURSUS ETIKA AI – WAJIB BAGI PELAJAR, PENYELIDIK &amp; INOVATOR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82542" y="5590943"/>
            <a:ext cx="2083527" cy="9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10820" y="1932844"/>
            <a:ext cx="2083527" cy="9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49458" y="6497584"/>
            <a:ext cx="4115064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AUDIT AI AKADEMIK &amp; BISNES – SEMAK SISTEM AI DALAM PENTADBIRAN, PENGAJARAN DAN PERNIAGAAN KAMPUS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49458" y="5590943"/>
            <a:ext cx="2083527" cy="95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5555" spc="27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166804" y="975690"/>
            <a:ext cx="13342633" cy="89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68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🕌 Menjunjung Adab, Menjaga Kemanusiaan</a:t>
            </a:r>
          </a:p>
        </p:txBody>
      </p:sp>
      <p:sp>
        <p:nvSpPr>
          <p:cNvPr id="4" name="Freeform 4"/>
          <p:cNvSpPr/>
          <p:nvPr/>
        </p:nvSpPr>
        <p:spPr>
          <a:xfrm rot="-4992678">
            <a:off x="14416703" y="24766"/>
            <a:ext cx="2567041" cy="2834582"/>
          </a:xfrm>
          <a:custGeom>
            <a:avLst/>
            <a:gdLst/>
            <a:ahLst/>
            <a:cxnLst/>
            <a:rect l="l" t="t" r="r" b="b"/>
            <a:pathLst>
              <a:path w="2567041" h="2834582">
                <a:moveTo>
                  <a:pt x="0" y="0"/>
                </a:moveTo>
                <a:lnTo>
                  <a:pt x="2567041" y="0"/>
                </a:lnTo>
                <a:lnTo>
                  <a:pt x="2567041" y="2834581"/>
                </a:lnTo>
                <a:lnTo>
                  <a:pt x="0" y="2834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1166804" y="2783464"/>
            <a:ext cx="7749580" cy="2817196"/>
            <a:chOff x="0" y="0"/>
            <a:chExt cx="2041042" cy="7419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1042" cy="741977"/>
            </a:xfrm>
            <a:custGeom>
              <a:avLst/>
              <a:gdLst/>
              <a:ahLst/>
              <a:cxnLst/>
              <a:rect l="l" t="t" r="r" b="b"/>
              <a:pathLst>
                <a:path w="2041042" h="741977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725993"/>
                  </a:lnTo>
                  <a:cubicBezTo>
                    <a:pt x="2041042" y="734821"/>
                    <a:pt x="2033885" y="741977"/>
                    <a:pt x="2025057" y="741977"/>
                  </a:cubicBezTo>
                  <a:lnTo>
                    <a:pt x="15984" y="741977"/>
                  </a:lnTo>
                  <a:cubicBezTo>
                    <a:pt x="11745" y="741977"/>
                    <a:pt x="7679" y="740293"/>
                    <a:pt x="4682" y="737296"/>
                  </a:cubicBezTo>
                  <a:cubicBezTo>
                    <a:pt x="1684" y="734298"/>
                    <a:pt x="0" y="730233"/>
                    <a:pt x="0" y="725993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41042" cy="780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88256" y="2953447"/>
            <a:ext cx="6906677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"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Ilmu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tanpa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adab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akan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membawa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kepada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kerosakan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.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Teknologi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tanpa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nilai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hanya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mempercepatkan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 </a:t>
            </a:r>
            <a:r>
              <a:rPr lang="en-US" sz="3499" spc="3" dirty="0" err="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kejatuhan</a:t>
            </a:r>
            <a:r>
              <a: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."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22040" y="2783464"/>
            <a:ext cx="7749580" cy="2817196"/>
            <a:chOff x="0" y="0"/>
            <a:chExt cx="2041042" cy="7419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1042" cy="741977"/>
            </a:xfrm>
            <a:custGeom>
              <a:avLst/>
              <a:gdLst/>
              <a:ahLst/>
              <a:cxnLst/>
              <a:rect l="l" t="t" r="r" b="b"/>
              <a:pathLst>
                <a:path w="2041042" h="741977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725993"/>
                  </a:lnTo>
                  <a:cubicBezTo>
                    <a:pt x="2041042" y="734821"/>
                    <a:pt x="2033885" y="741977"/>
                    <a:pt x="2025057" y="741977"/>
                  </a:cubicBezTo>
                  <a:lnTo>
                    <a:pt x="15984" y="741977"/>
                  </a:lnTo>
                  <a:cubicBezTo>
                    <a:pt x="11745" y="741977"/>
                    <a:pt x="7679" y="740293"/>
                    <a:pt x="4682" y="737296"/>
                  </a:cubicBezTo>
                  <a:cubicBezTo>
                    <a:pt x="1684" y="734298"/>
                    <a:pt x="0" y="730233"/>
                    <a:pt x="0" y="725993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41042" cy="780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13866" y="3454243"/>
            <a:ext cx="576592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— Gagasan Imam Al-Ghazali dan tokoh pendidikan Islam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447250" y="6072623"/>
            <a:ext cx="7749580" cy="2690906"/>
            <a:chOff x="0" y="0"/>
            <a:chExt cx="10332773" cy="358787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332773" cy="3587875"/>
              <a:chOff x="0" y="0"/>
              <a:chExt cx="2041042" cy="70871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41042" cy="708716"/>
              </a:xfrm>
              <a:custGeom>
                <a:avLst/>
                <a:gdLst/>
                <a:ahLst/>
                <a:cxnLst/>
                <a:rect l="l" t="t" r="r" b="b"/>
                <a:pathLst>
                  <a:path w="2041042" h="708716">
                    <a:moveTo>
                      <a:pt x="15984" y="0"/>
                    </a:moveTo>
                    <a:lnTo>
                      <a:pt x="2025057" y="0"/>
                    </a:lnTo>
                    <a:cubicBezTo>
                      <a:pt x="2033885" y="0"/>
                      <a:pt x="2041042" y="7156"/>
                      <a:pt x="2041042" y="15984"/>
                    </a:cubicBezTo>
                    <a:lnTo>
                      <a:pt x="2041042" y="692732"/>
                    </a:lnTo>
                    <a:cubicBezTo>
                      <a:pt x="2041042" y="701560"/>
                      <a:pt x="2033885" y="708716"/>
                      <a:pt x="2025057" y="708716"/>
                    </a:cubicBezTo>
                    <a:lnTo>
                      <a:pt x="15984" y="708716"/>
                    </a:lnTo>
                    <a:cubicBezTo>
                      <a:pt x="11745" y="708716"/>
                      <a:pt x="7679" y="707032"/>
                      <a:pt x="4682" y="704034"/>
                    </a:cubicBezTo>
                    <a:cubicBezTo>
                      <a:pt x="1684" y="701037"/>
                      <a:pt x="0" y="696971"/>
                      <a:pt x="0" y="692732"/>
                    </a:cubicBezTo>
                    <a:lnTo>
                      <a:pt x="0" y="15984"/>
                    </a:lnTo>
                    <a:cubicBezTo>
                      <a:pt x="0" y="7156"/>
                      <a:pt x="7156" y="0"/>
                      <a:pt x="15984" y="0"/>
                    </a:cubicBezTo>
                    <a:close/>
                  </a:path>
                </a:pathLst>
              </a:custGeom>
              <a:solidFill>
                <a:srgbClr val="3F4A5A"/>
              </a:solidFill>
              <a:ln w="38100" cap="sq">
                <a:solidFill>
                  <a:srgbClr val="F7F7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041042" cy="7468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8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206378" y="1066863"/>
              <a:ext cx="8146129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AI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mesti</a:t>
              </a: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selaras</a:t>
              </a: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dengan</a:t>
              </a: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maqasid</a:t>
              </a: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 syariah dan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nilai</a:t>
              </a:r>
              <a:r>
                <a:rPr lang="en-US" sz="3499" spc="3" dirty="0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 </a:t>
              </a:r>
              <a:r>
                <a:rPr lang="en-US" sz="3499" spc="3" dirty="0" err="1">
                  <a:solidFill>
                    <a:srgbClr val="FFFFFF"/>
                  </a:solidFill>
                  <a:latin typeface="Organic"/>
                  <a:ea typeface="Organic"/>
                  <a:cs typeface="Organic"/>
                  <a:sym typeface="Organic"/>
                </a:rPr>
                <a:t>sejagat</a:t>
              </a:r>
              <a:endParaRPr lang="en-US" sz="3499" spc="3" dirty="0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061">
                <a:alpha val="100000"/>
              </a:srgbClr>
            </a:gs>
            <a:gs pos="100000">
              <a:srgbClr val="03003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3933" y="-4747093"/>
            <a:ext cx="8837595" cy="88375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CD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156603"/>
            <a:ext cx="18288000" cy="6616931"/>
          </a:xfrm>
          <a:custGeom>
            <a:avLst/>
            <a:gdLst/>
            <a:ahLst/>
            <a:cxnLst/>
            <a:rect l="l" t="t" r="r" b="b"/>
            <a:pathLst>
              <a:path w="18288000" h="6616931">
                <a:moveTo>
                  <a:pt x="0" y="0"/>
                </a:moveTo>
                <a:lnTo>
                  <a:pt x="18288000" y="0"/>
                </a:lnTo>
                <a:lnTo>
                  <a:pt x="18288000" y="6616931"/>
                </a:lnTo>
                <a:lnTo>
                  <a:pt x="0" y="6616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0" y="462122"/>
            <a:ext cx="8461676" cy="9824878"/>
          </a:xfrm>
          <a:custGeom>
            <a:avLst/>
            <a:gdLst/>
            <a:ahLst/>
            <a:cxnLst/>
            <a:rect l="l" t="t" r="r" b="b"/>
            <a:pathLst>
              <a:path w="8461676" h="9824878">
                <a:moveTo>
                  <a:pt x="0" y="0"/>
                </a:moveTo>
                <a:lnTo>
                  <a:pt x="8461676" y="0"/>
                </a:lnTo>
                <a:lnTo>
                  <a:pt x="8461676" y="9824878"/>
                </a:lnTo>
                <a:lnTo>
                  <a:pt x="0" y="9824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1180773" y="2165932"/>
            <a:ext cx="6188183" cy="61881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06" r="-24906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1676" y="414497"/>
            <a:ext cx="9269777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Universiti yang Beradab Digital?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997403" y="3487177"/>
            <a:ext cx="10047242" cy="1324706"/>
            <a:chOff x="0" y="0"/>
            <a:chExt cx="13396323" cy="1766274"/>
          </a:xfrm>
        </p:grpSpPr>
        <p:grpSp>
          <p:nvGrpSpPr>
            <p:cNvPr id="11" name="Group 11"/>
            <p:cNvGrpSpPr/>
            <p:nvPr/>
          </p:nvGrpSpPr>
          <p:grpSpPr>
            <a:xfrm>
              <a:off x="1177005" y="0"/>
              <a:ext cx="12219318" cy="1766038"/>
              <a:chOff x="0" y="0"/>
              <a:chExt cx="1784335" cy="2578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84335" cy="257887"/>
              </a:xfrm>
              <a:custGeom>
                <a:avLst/>
                <a:gdLst/>
                <a:ahLst/>
                <a:cxnLst/>
                <a:rect l="l" t="t" r="r" b="b"/>
                <a:pathLst>
                  <a:path w="1784335" h="257887">
                    <a:moveTo>
                      <a:pt x="0" y="0"/>
                    </a:moveTo>
                    <a:lnTo>
                      <a:pt x="1784335" y="0"/>
                    </a:lnTo>
                    <a:lnTo>
                      <a:pt x="1784335" y="257887"/>
                    </a:lnTo>
                    <a:lnTo>
                      <a:pt x="0" y="257887"/>
                    </a:lnTo>
                    <a:close/>
                  </a:path>
                </a:pathLst>
              </a:custGeom>
              <a:solidFill>
                <a:srgbClr val="004AAC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784335" cy="315037"/>
              </a:xfrm>
              <a:prstGeom prst="rect">
                <a:avLst/>
              </a:prstGeom>
            </p:spPr>
            <p:txBody>
              <a:bodyPr lIns="68718" tIns="68718" rIns="68718" bIns="68718" rtlCol="0" anchor="ctr"/>
              <a:lstStyle/>
              <a:p>
                <a:pPr algn="ctr">
                  <a:lnSpc>
                    <a:spcPts val="2846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0" y="0"/>
              <a:ext cx="1766274" cy="1766274"/>
            </a:xfrm>
            <a:custGeom>
              <a:avLst/>
              <a:gdLst/>
              <a:ahLst/>
              <a:cxnLst/>
              <a:rect l="l" t="t" r="r" b="b"/>
              <a:pathLst>
                <a:path w="1766274" h="1766274">
                  <a:moveTo>
                    <a:pt x="0" y="0"/>
                  </a:moveTo>
                  <a:lnTo>
                    <a:pt x="1766274" y="0"/>
                  </a:lnTo>
                  <a:lnTo>
                    <a:pt x="1766274" y="1766274"/>
                  </a:lnTo>
                  <a:lnTo>
                    <a:pt x="0" y="17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78665" y="225667"/>
              <a:ext cx="10820400" cy="123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Teknologi AI perlu diiringi dengan hikmah, empati dan akauntabiliti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80156" y="5260024"/>
            <a:ext cx="9164489" cy="1324529"/>
            <a:chOff x="0" y="0"/>
            <a:chExt cx="1784335" cy="2578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84335" cy="257887"/>
            </a:xfrm>
            <a:custGeom>
              <a:avLst/>
              <a:gdLst/>
              <a:ahLst/>
              <a:cxnLst/>
              <a:rect l="l" t="t" r="r" b="b"/>
              <a:pathLst>
                <a:path w="1784335" h="257887">
                  <a:moveTo>
                    <a:pt x="0" y="0"/>
                  </a:moveTo>
                  <a:lnTo>
                    <a:pt x="1784335" y="0"/>
                  </a:lnTo>
                  <a:lnTo>
                    <a:pt x="1784335" y="257887"/>
                  </a:lnTo>
                  <a:lnTo>
                    <a:pt x="0" y="25788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784335" cy="315037"/>
            </a:xfrm>
            <a:prstGeom prst="rect">
              <a:avLst/>
            </a:prstGeom>
          </p:spPr>
          <p:txBody>
            <a:bodyPr lIns="68718" tIns="68718" rIns="68718" bIns="68718" rtlCol="0" anchor="ctr"/>
            <a:lstStyle/>
            <a:p>
              <a:pPr algn="ctr">
                <a:lnSpc>
                  <a:spcPts val="2846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997403" y="5260024"/>
            <a:ext cx="1324706" cy="1324706"/>
          </a:xfrm>
          <a:custGeom>
            <a:avLst/>
            <a:gdLst/>
            <a:ahLst/>
            <a:cxnLst/>
            <a:rect l="l" t="t" r="r" b="b"/>
            <a:pathLst>
              <a:path w="1324706" h="1324706">
                <a:moveTo>
                  <a:pt x="0" y="0"/>
                </a:moveTo>
                <a:lnTo>
                  <a:pt x="1324705" y="0"/>
                </a:lnTo>
                <a:lnTo>
                  <a:pt x="1324705" y="1324705"/>
                </a:lnTo>
                <a:lnTo>
                  <a:pt x="0" y="1324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TextBox 20"/>
          <p:cNvSpPr txBox="1"/>
          <p:nvPr/>
        </p:nvSpPr>
        <p:spPr>
          <a:xfrm>
            <a:off x="9616152" y="5643586"/>
            <a:ext cx="8115300" cy="48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Universiti harus menjadi pemimpin etika digital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80156" y="7140363"/>
            <a:ext cx="9164489" cy="1324529"/>
            <a:chOff x="0" y="0"/>
            <a:chExt cx="1784335" cy="2578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84335" cy="257887"/>
            </a:xfrm>
            <a:custGeom>
              <a:avLst/>
              <a:gdLst/>
              <a:ahLst/>
              <a:cxnLst/>
              <a:rect l="l" t="t" r="r" b="b"/>
              <a:pathLst>
                <a:path w="1784335" h="257887">
                  <a:moveTo>
                    <a:pt x="0" y="0"/>
                  </a:moveTo>
                  <a:lnTo>
                    <a:pt x="1784335" y="0"/>
                  </a:lnTo>
                  <a:lnTo>
                    <a:pt x="1784335" y="257887"/>
                  </a:lnTo>
                  <a:lnTo>
                    <a:pt x="0" y="25788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784335" cy="315037"/>
            </a:xfrm>
            <a:prstGeom prst="rect">
              <a:avLst/>
            </a:prstGeom>
          </p:spPr>
          <p:txBody>
            <a:bodyPr lIns="68718" tIns="68718" rIns="68718" bIns="68718" rtlCol="0" anchor="ctr"/>
            <a:lstStyle/>
            <a:p>
              <a:pPr algn="ctr">
                <a:lnSpc>
                  <a:spcPts val="2846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997403" y="7140363"/>
            <a:ext cx="1324706" cy="1324706"/>
          </a:xfrm>
          <a:custGeom>
            <a:avLst/>
            <a:gdLst/>
            <a:ahLst/>
            <a:cxnLst/>
            <a:rect l="l" t="t" r="r" b="b"/>
            <a:pathLst>
              <a:path w="1324706" h="1324706">
                <a:moveTo>
                  <a:pt x="0" y="0"/>
                </a:moveTo>
                <a:lnTo>
                  <a:pt x="1324705" y="0"/>
                </a:lnTo>
                <a:lnTo>
                  <a:pt x="1324705" y="1324706"/>
                </a:lnTo>
                <a:lnTo>
                  <a:pt x="0" y="1324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5" name="TextBox 25"/>
          <p:cNvSpPr txBox="1"/>
          <p:nvPr/>
        </p:nvSpPr>
        <p:spPr>
          <a:xfrm>
            <a:off x="9616152" y="7524014"/>
            <a:ext cx="8115300" cy="48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untuk kemajuan manusiawi dan insani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94000" flipV="1">
            <a:off x="-4699980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0" y="8229600"/>
                </a:moveTo>
                <a:lnTo>
                  <a:pt x="7684389" y="8229600"/>
                </a:lnTo>
                <a:lnTo>
                  <a:pt x="768438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6893999" flipH="1" flipV="1">
            <a:off x="15303591" y="-2542926"/>
            <a:ext cx="7684389" cy="8229600"/>
          </a:xfrm>
          <a:custGeom>
            <a:avLst/>
            <a:gdLst/>
            <a:ahLst/>
            <a:cxnLst/>
            <a:rect l="l" t="t" r="r" b="b"/>
            <a:pathLst>
              <a:path w="7684389" h="8229600">
                <a:moveTo>
                  <a:pt x="76843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684389" y="0"/>
                </a:lnTo>
                <a:lnTo>
                  <a:pt x="7684389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TextBox 4"/>
          <p:cNvSpPr txBox="1"/>
          <p:nvPr/>
        </p:nvSpPr>
        <p:spPr>
          <a:xfrm>
            <a:off x="3525330" y="974711"/>
            <a:ext cx="10760613" cy="107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9" b="1">
                <a:solidFill>
                  <a:srgbClr val="69D6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PRAKTIK TERBAIK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1990" y="3086977"/>
            <a:ext cx="7248152" cy="2239812"/>
            <a:chOff x="0" y="0"/>
            <a:chExt cx="890131" cy="275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0131" cy="275067"/>
            </a:xfrm>
            <a:custGeom>
              <a:avLst/>
              <a:gdLst/>
              <a:ahLst/>
              <a:cxnLst/>
              <a:rect l="l" t="t" r="r" b="b"/>
              <a:pathLst>
                <a:path w="890131" h="275067">
                  <a:moveTo>
                    <a:pt x="71564" y="0"/>
                  </a:moveTo>
                  <a:lnTo>
                    <a:pt x="818567" y="0"/>
                  </a:lnTo>
                  <a:cubicBezTo>
                    <a:pt x="837547" y="0"/>
                    <a:pt x="855750" y="7540"/>
                    <a:pt x="869171" y="20961"/>
                  </a:cubicBezTo>
                  <a:cubicBezTo>
                    <a:pt x="882591" y="34382"/>
                    <a:pt x="890131" y="52584"/>
                    <a:pt x="890131" y="71564"/>
                  </a:cubicBezTo>
                  <a:lnTo>
                    <a:pt x="890131" y="203503"/>
                  </a:lnTo>
                  <a:cubicBezTo>
                    <a:pt x="890131" y="222483"/>
                    <a:pt x="882591" y="240685"/>
                    <a:pt x="869171" y="254106"/>
                  </a:cubicBezTo>
                  <a:cubicBezTo>
                    <a:pt x="855750" y="267527"/>
                    <a:pt x="837547" y="275067"/>
                    <a:pt x="818567" y="275067"/>
                  </a:cubicBezTo>
                  <a:lnTo>
                    <a:pt x="71564" y="275067"/>
                  </a:lnTo>
                  <a:cubicBezTo>
                    <a:pt x="52584" y="275067"/>
                    <a:pt x="34382" y="267527"/>
                    <a:pt x="20961" y="254106"/>
                  </a:cubicBezTo>
                  <a:cubicBezTo>
                    <a:pt x="7540" y="240685"/>
                    <a:pt x="0" y="222483"/>
                    <a:pt x="0" y="203503"/>
                  </a:cubicBezTo>
                  <a:lnTo>
                    <a:pt x="0" y="71564"/>
                  </a:lnTo>
                  <a:cubicBezTo>
                    <a:pt x="0" y="52584"/>
                    <a:pt x="7540" y="34382"/>
                    <a:pt x="20961" y="20961"/>
                  </a:cubicBezTo>
                  <a:cubicBezTo>
                    <a:pt x="34382" y="7540"/>
                    <a:pt x="52584" y="0"/>
                    <a:pt x="715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90131" cy="32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Organisasi antarabangsa seperti Google, Microsoft mengguna prinsip ‘responsible AI’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990" y="5926865"/>
            <a:ext cx="7248152" cy="2239812"/>
            <a:chOff x="0" y="0"/>
            <a:chExt cx="890131" cy="2750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0131" cy="275067"/>
            </a:xfrm>
            <a:custGeom>
              <a:avLst/>
              <a:gdLst/>
              <a:ahLst/>
              <a:cxnLst/>
              <a:rect l="l" t="t" r="r" b="b"/>
              <a:pathLst>
                <a:path w="890131" h="275067">
                  <a:moveTo>
                    <a:pt x="71564" y="0"/>
                  </a:moveTo>
                  <a:lnTo>
                    <a:pt x="818567" y="0"/>
                  </a:lnTo>
                  <a:cubicBezTo>
                    <a:pt x="837547" y="0"/>
                    <a:pt x="855750" y="7540"/>
                    <a:pt x="869171" y="20961"/>
                  </a:cubicBezTo>
                  <a:cubicBezTo>
                    <a:pt x="882591" y="34382"/>
                    <a:pt x="890131" y="52584"/>
                    <a:pt x="890131" y="71564"/>
                  </a:cubicBezTo>
                  <a:lnTo>
                    <a:pt x="890131" y="203503"/>
                  </a:lnTo>
                  <a:cubicBezTo>
                    <a:pt x="890131" y="222483"/>
                    <a:pt x="882591" y="240685"/>
                    <a:pt x="869171" y="254106"/>
                  </a:cubicBezTo>
                  <a:cubicBezTo>
                    <a:pt x="855750" y="267527"/>
                    <a:pt x="837547" y="275067"/>
                    <a:pt x="818567" y="275067"/>
                  </a:cubicBezTo>
                  <a:lnTo>
                    <a:pt x="71564" y="275067"/>
                  </a:lnTo>
                  <a:cubicBezTo>
                    <a:pt x="52584" y="275067"/>
                    <a:pt x="34382" y="267527"/>
                    <a:pt x="20961" y="254106"/>
                  </a:cubicBezTo>
                  <a:cubicBezTo>
                    <a:pt x="7540" y="240685"/>
                    <a:pt x="0" y="222483"/>
                    <a:pt x="0" y="203503"/>
                  </a:cubicBezTo>
                  <a:lnTo>
                    <a:pt x="0" y="71564"/>
                  </a:lnTo>
                  <a:cubicBezTo>
                    <a:pt x="0" y="52584"/>
                    <a:pt x="7540" y="34382"/>
                    <a:pt x="20961" y="20961"/>
                  </a:cubicBezTo>
                  <a:cubicBezTo>
                    <a:pt x="34382" y="7540"/>
                    <a:pt x="52584" y="0"/>
                    <a:pt x="715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90131" cy="32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UTM membangunkan sistem AI – dengan audit bias &amp; privasi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37484" y="3086977"/>
            <a:ext cx="7179418" cy="2239812"/>
            <a:chOff x="0" y="0"/>
            <a:chExt cx="881690" cy="2750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1690" cy="275067"/>
            </a:xfrm>
            <a:custGeom>
              <a:avLst/>
              <a:gdLst/>
              <a:ahLst/>
              <a:cxnLst/>
              <a:rect l="l" t="t" r="r" b="b"/>
              <a:pathLst>
                <a:path w="881690" h="275067">
                  <a:moveTo>
                    <a:pt x="72249" y="0"/>
                  </a:moveTo>
                  <a:lnTo>
                    <a:pt x="809441" y="0"/>
                  </a:lnTo>
                  <a:cubicBezTo>
                    <a:pt x="828603" y="0"/>
                    <a:pt x="846980" y="7612"/>
                    <a:pt x="860529" y="21161"/>
                  </a:cubicBezTo>
                  <a:cubicBezTo>
                    <a:pt x="874078" y="34711"/>
                    <a:pt x="881690" y="53088"/>
                    <a:pt x="881690" y="72249"/>
                  </a:cubicBezTo>
                  <a:lnTo>
                    <a:pt x="881690" y="202818"/>
                  </a:lnTo>
                  <a:cubicBezTo>
                    <a:pt x="881690" y="242720"/>
                    <a:pt x="849343" y="275067"/>
                    <a:pt x="809441" y="275067"/>
                  </a:cubicBezTo>
                  <a:lnTo>
                    <a:pt x="72249" y="275067"/>
                  </a:lnTo>
                  <a:cubicBezTo>
                    <a:pt x="32347" y="275067"/>
                    <a:pt x="0" y="242720"/>
                    <a:pt x="0" y="202818"/>
                  </a:cubicBezTo>
                  <a:lnTo>
                    <a:pt x="0" y="72249"/>
                  </a:lnTo>
                  <a:cubicBezTo>
                    <a:pt x="0" y="32347"/>
                    <a:pt x="32347" y="0"/>
                    <a:pt x="72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81690" cy="32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IEEE CertifAIEd™ digunakan dalam pembangunan standard penilaian global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37484" y="5926865"/>
            <a:ext cx="7179418" cy="2239812"/>
            <a:chOff x="0" y="0"/>
            <a:chExt cx="881690" cy="2750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1690" cy="275067"/>
            </a:xfrm>
            <a:custGeom>
              <a:avLst/>
              <a:gdLst/>
              <a:ahLst/>
              <a:cxnLst/>
              <a:rect l="l" t="t" r="r" b="b"/>
              <a:pathLst>
                <a:path w="881690" h="275067">
                  <a:moveTo>
                    <a:pt x="72249" y="0"/>
                  </a:moveTo>
                  <a:lnTo>
                    <a:pt x="809441" y="0"/>
                  </a:lnTo>
                  <a:cubicBezTo>
                    <a:pt x="828603" y="0"/>
                    <a:pt x="846980" y="7612"/>
                    <a:pt x="860529" y="21161"/>
                  </a:cubicBezTo>
                  <a:cubicBezTo>
                    <a:pt x="874078" y="34711"/>
                    <a:pt x="881690" y="53088"/>
                    <a:pt x="881690" y="72249"/>
                  </a:cubicBezTo>
                  <a:lnTo>
                    <a:pt x="881690" y="202818"/>
                  </a:lnTo>
                  <a:cubicBezTo>
                    <a:pt x="881690" y="242720"/>
                    <a:pt x="849343" y="275067"/>
                    <a:pt x="809441" y="275067"/>
                  </a:cubicBezTo>
                  <a:lnTo>
                    <a:pt x="72249" y="275067"/>
                  </a:lnTo>
                  <a:cubicBezTo>
                    <a:pt x="32347" y="275067"/>
                    <a:pt x="0" y="242720"/>
                    <a:pt x="0" y="202818"/>
                  </a:cubicBezTo>
                  <a:lnTo>
                    <a:pt x="0" y="72249"/>
                  </a:lnTo>
                  <a:cubicBezTo>
                    <a:pt x="0" y="32347"/>
                    <a:pt x="32347" y="0"/>
                    <a:pt x="72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81690" cy="32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Peranan universiti dalam melatih pakar etika AI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4" b="-322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166804" y="990600"/>
            <a:ext cx="11003274" cy="89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681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Ayat al-Quran &amp; Hadis Berkaitan AI</a:t>
            </a:r>
          </a:p>
        </p:txBody>
      </p:sp>
      <p:sp>
        <p:nvSpPr>
          <p:cNvPr id="4" name="Freeform 4"/>
          <p:cNvSpPr/>
          <p:nvPr/>
        </p:nvSpPr>
        <p:spPr>
          <a:xfrm rot="-4992678">
            <a:off x="12588831" y="-216413"/>
            <a:ext cx="2567041" cy="2834582"/>
          </a:xfrm>
          <a:custGeom>
            <a:avLst/>
            <a:gdLst/>
            <a:ahLst/>
            <a:cxnLst/>
            <a:rect l="l" t="t" r="r" b="b"/>
            <a:pathLst>
              <a:path w="2567041" h="2834582">
                <a:moveTo>
                  <a:pt x="0" y="0"/>
                </a:moveTo>
                <a:lnTo>
                  <a:pt x="2567041" y="0"/>
                </a:lnTo>
                <a:lnTo>
                  <a:pt x="2567041" y="2834582"/>
                </a:lnTo>
                <a:lnTo>
                  <a:pt x="0" y="283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1166804" y="2783464"/>
            <a:ext cx="7749580" cy="2624259"/>
            <a:chOff x="0" y="0"/>
            <a:chExt cx="2041042" cy="6911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1042" cy="691163"/>
            </a:xfrm>
            <a:custGeom>
              <a:avLst/>
              <a:gdLst/>
              <a:ahLst/>
              <a:cxnLst/>
              <a:rect l="l" t="t" r="r" b="b"/>
              <a:pathLst>
                <a:path w="2041042" h="691163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675179"/>
                  </a:lnTo>
                  <a:cubicBezTo>
                    <a:pt x="2041042" y="684006"/>
                    <a:pt x="2033885" y="691163"/>
                    <a:pt x="2025057" y="691163"/>
                  </a:cubicBezTo>
                  <a:lnTo>
                    <a:pt x="15984" y="691163"/>
                  </a:lnTo>
                  <a:cubicBezTo>
                    <a:pt x="7156" y="691163"/>
                    <a:pt x="0" y="684006"/>
                    <a:pt x="0" y="675179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41042" cy="729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09707" y="3266918"/>
            <a:ext cx="6063774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Surah Al-Baqarah: 30 – Manusia sebagai khalifah memakmurkan dunia, bukan tunduk kepada teknologi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22040" y="2783464"/>
            <a:ext cx="7749580" cy="2624259"/>
            <a:chOff x="0" y="0"/>
            <a:chExt cx="2041042" cy="6911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1042" cy="691163"/>
            </a:xfrm>
            <a:custGeom>
              <a:avLst/>
              <a:gdLst/>
              <a:ahLst/>
              <a:cxnLst/>
              <a:rect l="l" t="t" r="r" b="b"/>
              <a:pathLst>
                <a:path w="2041042" h="691163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675179"/>
                  </a:lnTo>
                  <a:cubicBezTo>
                    <a:pt x="2041042" y="684006"/>
                    <a:pt x="2033885" y="691163"/>
                    <a:pt x="2025057" y="691163"/>
                  </a:cubicBezTo>
                  <a:lnTo>
                    <a:pt x="15984" y="691163"/>
                  </a:lnTo>
                  <a:cubicBezTo>
                    <a:pt x="7156" y="691163"/>
                    <a:pt x="0" y="684006"/>
                    <a:pt x="0" y="675179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41042" cy="729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13866" y="3276443"/>
            <a:ext cx="5765929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Hadis (Bukhari &amp; Muslim): “Setiap kamu adalah pemimpin...” – Tanggungjawab pembangun AI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66804" y="5879686"/>
            <a:ext cx="7749580" cy="2690906"/>
            <a:chOff x="0" y="0"/>
            <a:chExt cx="2041042" cy="7087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1042" cy="708716"/>
            </a:xfrm>
            <a:custGeom>
              <a:avLst/>
              <a:gdLst/>
              <a:ahLst/>
              <a:cxnLst/>
              <a:rect l="l" t="t" r="r" b="b"/>
              <a:pathLst>
                <a:path w="2041042" h="708716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692732"/>
                  </a:lnTo>
                  <a:cubicBezTo>
                    <a:pt x="2041042" y="701560"/>
                    <a:pt x="2033885" y="708716"/>
                    <a:pt x="2025057" y="708716"/>
                  </a:cubicBezTo>
                  <a:lnTo>
                    <a:pt x="15984" y="708716"/>
                  </a:lnTo>
                  <a:cubicBezTo>
                    <a:pt x="11745" y="708716"/>
                    <a:pt x="7679" y="707032"/>
                    <a:pt x="4682" y="704034"/>
                  </a:cubicBezTo>
                  <a:cubicBezTo>
                    <a:pt x="1684" y="701037"/>
                    <a:pt x="0" y="696971"/>
                    <a:pt x="0" y="692732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3F4A5A"/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41042" cy="746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71588" y="6663164"/>
            <a:ext cx="610959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Surah Al-Hujurat: 13 – Nilai taqwa lebih utama dari kemajuan teknikal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22040" y="5879686"/>
            <a:ext cx="7749580" cy="2690906"/>
            <a:chOff x="0" y="0"/>
            <a:chExt cx="2041042" cy="7087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41042" cy="708716"/>
            </a:xfrm>
            <a:custGeom>
              <a:avLst/>
              <a:gdLst/>
              <a:ahLst/>
              <a:cxnLst/>
              <a:rect l="l" t="t" r="r" b="b"/>
              <a:pathLst>
                <a:path w="2041042" h="708716">
                  <a:moveTo>
                    <a:pt x="15984" y="0"/>
                  </a:moveTo>
                  <a:lnTo>
                    <a:pt x="2025057" y="0"/>
                  </a:lnTo>
                  <a:cubicBezTo>
                    <a:pt x="2033885" y="0"/>
                    <a:pt x="2041042" y="7156"/>
                    <a:pt x="2041042" y="15984"/>
                  </a:cubicBezTo>
                  <a:lnTo>
                    <a:pt x="2041042" y="692732"/>
                  </a:lnTo>
                  <a:cubicBezTo>
                    <a:pt x="2041042" y="701560"/>
                    <a:pt x="2033885" y="708716"/>
                    <a:pt x="2025057" y="708716"/>
                  </a:cubicBezTo>
                  <a:lnTo>
                    <a:pt x="15984" y="708716"/>
                  </a:lnTo>
                  <a:cubicBezTo>
                    <a:pt x="11745" y="708716"/>
                    <a:pt x="7679" y="707032"/>
                    <a:pt x="4682" y="704034"/>
                  </a:cubicBezTo>
                  <a:cubicBezTo>
                    <a:pt x="1684" y="701037"/>
                    <a:pt x="0" y="696971"/>
                    <a:pt x="0" y="692732"/>
                  </a:cubicBezTo>
                  <a:lnTo>
                    <a:pt x="0" y="15984"/>
                  </a:lnTo>
                  <a:cubicBezTo>
                    <a:pt x="0" y="7156"/>
                    <a:pt x="7156" y="0"/>
                    <a:pt x="15984" y="0"/>
                  </a:cubicBezTo>
                  <a:close/>
                </a:path>
              </a:pathLst>
            </a:custGeom>
            <a:solidFill>
              <a:srgbClr val="3F4A5A"/>
            </a:solidFill>
            <a:ln w="38100" cap="sq">
              <a:solidFill>
                <a:srgbClr val="F7F7F8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41042" cy="746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8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313866" y="6672689"/>
            <a:ext cx="576592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">
                <a:solidFill>
                  <a:srgbClr val="FFFFFF"/>
                </a:solidFill>
                <a:latin typeface="Organic"/>
                <a:ea typeface="Organic"/>
                <a:cs typeface="Organic"/>
                <a:sym typeface="Organic"/>
              </a:rPr>
              <a:t>Prinsip ihsan dan adil sebagai panduan kawalan sistem pintar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3C7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5852" y="3218132"/>
            <a:ext cx="14253979" cy="5460370"/>
            <a:chOff x="0" y="0"/>
            <a:chExt cx="1854658" cy="7104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4658" cy="710477"/>
            </a:xfrm>
            <a:custGeom>
              <a:avLst/>
              <a:gdLst/>
              <a:ahLst/>
              <a:cxnLst/>
              <a:rect l="l" t="t" r="r" b="b"/>
              <a:pathLst>
                <a:path w="1854658" h="710477">
                  <a:moveTo>
                    <a:pt x="23355" y="0"/>
                  </a:moveTo>
                  <a:lnTo>
                    <a:pt x="1831303" y="0"/>
                  </a:lnTo>
                  <a:cubicBezTo>
                    <a:pt x="1837497" y="0"/>
                    <a:pt x="1843438" y="2461"/>
                    <a:pt x="1847818" y="6841"/>
                  </a:cubicBezTo>
                  <a:cubicBezTo>
                    <a:pt x="1852198" y="11220"/>
                    <a:pt x="1854658" y="17161"/>
                    <a:pt x="1854658" y="23355"/>
                  </a:cubicBezTo>
                  <a:lnTo>
                    <a:pt x="1854658" y="687122"/>
                  </a:lnTo>
                  <a:cubicBezTo>
                    <a:pt x="1854658" y="700020"/>
                    <a:pt x="1844202" y="710477"/>
                    <a:pt x="1831303" y="710477"/>
                  </a:cubicBezTo>
                  <a:lnTo>
                    <a:pt x="23355" y="710477"/>
                  </a:lnTo>
                  <a:cubicBezTo>
                    <a:pt x="10456" y="710477"/>
                    <a:pt x="0" y="700020"/>
                    <a:pt x="0" y="687122"/>
                  </a:cubicBezTo>
                  <a:lnTo>
                    <a:pt x="0" y="23355"/>
                  </a:lnTo>
                  <a:cubicBezTo>
                    <a:pt x="0" y="10456"/>
                    <a:pt x="10456" y="0"/>
                    <a:pt x="233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9D6FF"/>
              </a:soli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4658" cy="748577"/>
            </a:xfrm>
            <a:prstGeom prst="rect">
              <a:avLst/>
            </a:prstGeom>
          </p:spPr>
          <p:txBody>
            <a:bodyPr lIns="47947" tIns="47947" rIns="47947" bIns="4794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36291" y="3999291"/>
            <a:ext cx="13405901" cy="359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“Teknologi bukan sekadar soal keupayaan, tetapi soal tanggungjawab. Kita tidak takut AI menggantikan manusia, tetapi kita bimbang manusia lupa menjadi manusia.”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853147" y="-1777179"/>
            <a:ext cx="7383634" cy="6498332"/>
            <a:chOff x="0" y="0"/>
            <a:chExt cx="9844845" cy="8664442"/>
          </a:xfrm>
        </p:grpSpPr>
        <p:grpSp>
          <p:nvGrpSpPr>
            <p:cNvPr id="7" name="Group 7"/>
            <p:cNvGrpSpPr/>
            <p:nvPr/>
          </p:nvGrpSpPr>
          <p:grpSpPr>
            <a:xfrm rot="-2862000">
              <a:off x="4856820" y="70216"/>
              <a:ext cx="3076397" cy="6529200"/>
              <a:chOff x="0" y="0"/>
              <a:chExt cx="607683" cy="12897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07683" cy="1289718"/>
              </a:xfrm>
              <a:custGeom>
                <a:avLst/>
                <a:gdLst/>
                <a:ahLst/>
                <a:cxnLst/>
                <a:rect l="l" t="t" r="r" b="b"/>
                <a:pathLst>
                  <a:path w="607683" h="1289718">
                    <a:moveTo>
                      <a:pt x="0" y="0"/>
                    </a:moveTo>
                    <a:lnTo>
                      <a:pt x="607683" y="0"/>
                    </a:lnTo>
                    <a:lnTo>
                      <a:pt x="607683" y="1289718"/>
                    </a:lnTo>
                    <a:lnTo>
                      <a:pt x="0" y="1289718"/>
                    </a:lnTo>
                    <a:close/>
                  </a:path>
                </a:pathLst>
              </a:custGeom>
              <a:solidFill>
                <a:srgbClr val="69D6FF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07683" cy="1327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2862000">
              <a:off x="3918554" y="-784295"/>
              <a:ext cx="791127" cy="10945723"/>
              <a:chOff x="0" y="0"/>
              <a:chExt cx="156272" cy="216211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6272" cy="2162118"/>
              </a:xfrm>
              <a:custGeom>
                <a:avLst/>
                <a:gdLst/>
                <a:ahLst/>
                <a:cxnLst/>
                <a:rect l="l" t="t" r="r" b="b"/>
                <a:pathLst>
                  <a:path w="156272" h="2162118">
                    <a:moveTo>
                      <a:pt x="0" y="0"/>
                    </a:moveTo>
                    <a:lnTo>
                      <a:pt x="156272" y="0"/>
                    </a:lnTo>
                    <a:lnTo>
                      <a:pt x="156272" y="2162118"/>
                    </a:lnTo>
                    <a:lnTo>
                      <a:pt x="0" y="2162118"/>
                    </a:lnTo>
                    <a:close/>
                  </a:path>
                </a:pathLst>
              </a:custGeom>
              <a:solidFill>
                <a:srgbClr val="69D6FF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56272" cy="22002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5479832" y="7195345"/>
            <a:ext cx="2808168" cy="3073235"/>
          </a:xfrm>
          <a:custGeom>
            <a:avLst/>
            <a:gdLst/>
            <a:ahLst/>
            <a:cxnLst/>
            <a:rect l="l" t="t" r="r" b="b"/>
            <a:pathLst>
              <a:path w="2808168" h="3073235">
                <a:moveTo>
                  <a:pt x="0" y="0"/>
                </a:moveTo>
                <a:lnTo>
                  <a:pt x="2808168" y="0"/>
                </a:lnTo>
                <a:lnTo>
                  <a:pt x="2808168" y="3073235"/>
                </a:lnTo>
                <a:lnTo>
                  <a:pt x="0" y="3073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TextBox 14"/>
          <p:cNvSpPr txBox="1"/>
          <p:nvPr/>
        </p:nvSpPr>
        <p:spPr>
          <a:xfrm>
            <a:off x="1206802" y="1196976"/>
            <a:ext cx="10039739" cy="106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29" b="1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PENUTUP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2656</Words>
  <Application>Microsoft Office PowerPoint</Application>
  <PresentationFormat>Custom</PresentationFormat>
  <Paragraphs>385</Paragraphs>
  <Slides>59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7" baseType="lpstr">
      <vt:lpstr>Poppins</vt:lpstr>
      <vt:lpstr>HK Modular</vt:lpstr>
      <vt:lpstr>Cascadia Code</vt:lpstr>
      <vt:lpstr>Codec Pro Bold</vt:lpstr>
      <vt:lpstr>Exo 2 Bold</vt:lpstr>
      <vt:lpstr>Arial</vt:lpstr>
      <vt:lpstr>Tomorrow</vt:lpstr>
      <vt:lpstr>Montserrat</vt:lpstr>
      <vt:lpstr>Narkisim</vt:lpstr>
      <vt:lpstr>Poppins Bold</vt:lpstr>
      <vt:lpstr>Pattanakarn SemiCondensed Bold</vt:lpstr>
      <vt:lpstr>Organic</vt:lpstr>
      <vt:lpstr>Codec Pro Ultra-Bold</vt:lpstr>
      <vt:lpstr>Open Sans Bold</vt:lpstr>
      <vt:lpstr>Aptos</vt:lpstr>
      <vt:lpstr>Calibri</vt:lpstr>
      <vt:lpstr>Codec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SAIA 1013 Islamic values in AI</dc:title>
  <dc:creator>Ean Acer</dc:creator>
  <cp:lastModifiedBy>NURAZEAN BINTI MAAROP</cp:lastModifiedBy>
  <cp:revision>9</cp:revision>
  <dcterms:created xsi:type="dcterms:W3CDTF">2006-08-16T00:00:00Z</dcterms:created>
  <dcterms:modified xsi:type="dcterms:W3CDTF">2025-08-20T05:09:41Z</dcterms:modified>
  <dc:identifier>DAGvraLm6Tk</dc:identifier>
</cp:coreProperties>
</file>